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</a:rPr>
              <a:t>From Trodes recording to respiration H5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Trodes .rec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87752" y="1554480"/>
            <a:ext cx="402336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306324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trodesexport -analogio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05272" y="1554480"/>
            <a:ext cx="310896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98932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ECU_Ain1.dat + timestamps.dat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079992" y="1554480"/>
            <a:ext cx="310896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946404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H5 /resp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separate export step (not run by the converter)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FA8"/>
                </a:solidFill>
              </a:rPr>
              <a:t>20,000 Hz · signed int16 ADC counts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Aim1: wireless *_merged.rec · BLA pilot: tethered plain .rec</a:t>
            </a:r>
            <a:endParaRPr lang="en-US" sz="1100" dirty="0"/>
          </a:p>
        </p:txBody>
      </p:sp>
      <p:pic>
        <p:nvPicPr>
          <p:cNvPr id="13" name="Image 0" descr="C:\Users\thoma\Code\ResearchCode\respiratory_pilot\notebooks\thomas_notebooks\resp_classification\detector_validation\methods_deck\figures\s1_raw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31720"/>
            <a:ext cx="8595360" cy="41186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326880" y="2514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Aim1 valence: /resp (N,1), float64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3081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Aim1 rank: /resp (N,), float32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648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Cohort 2: /analog/…ECU_Ain1 + /timestamps</a:t>
            </a:r>
            <a:endParaRPr lang="en-US" sz="1200" dirty="0"/>
          </a:p>
        </p:txBody>
      </p:sp>
      <p:pic>
        <p:nvPicPr>
          <p:cNvPr id="17" name="Image 1" descr="C:\Users\thoma\Code\ResearchCode\respiratory_pilot\notebooks\thomas_notebooks\resp_classification\detector_validation\methods_deck\figures\s1_duplicate_ti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4343400"/>
            <a:ext cx="2377440" cy="155763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326880" y="5943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Aim1 merged: repeated-timestamp filler; index time ~+0.22%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</a:rPr>
              <a:t>20 kHz raw signal → 400 Hz respiration</a:t>
            </a:r>
            <a:endParaRPr lang="en-US" sz="3400" dirty="0"/>
          </a:p>
        </p:txBody>
      </p:sp>
      <p:pic>
        <p:nvPicPr>
          <p:cNvPr id="3" name="Image 0" descr="C:\Users\thoma\Code\ResearchCode\respiratory_pilot\notebooks\thomas_notebooks\resp_classification\detector_validation\methods_deck\figures\s2_preprocessing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8915400" cy="52849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46920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LP: Butterworth order 4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646920" y="25786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f_c = 200 Hz; filtfilt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46920" y="31455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20,000 / 400 = 50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46920" y="37124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resample_poly(1, 50)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46920" y="4279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BP: 0.1–20 Hz; zero phase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4846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t[n] = n / 400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509760" y="2651760"/>
            <a:ext cx="0" cy="822960"/>
          </a:xfrm>
          <a:prstGeom prst="line">
            <a:avLst/>
          </a:prstGeom>
          <a:noFill/>
          <a:ln w="1524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509760" y="4343400"/>
            <a:ext cx="0" cy="822960"/>
          </a:xfrm>
          <a:prstGeom prst="line">
            <a:avLst/>
          </a:prstGeom>
          <a:noFill/>
          <a:ln w="1524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646920" y="6172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cached: workbench_cache/*.npz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</a:rPr>
              <a:t>Which signal is excluded?  Frozen QC screen</a:t>
            </a:r>
            <a:endParaRPr lang="en-US" sz="3400" dirty="0"/>
          </a:p>
        </p:txBody>
      </p:sp>
      <p:pic>
        <p:nvPicPr>
          <p:cNvPr id="3" name="Image 0" descr="C:\Users\thoma\Code\ResearchCode\respiratory_pilot\notebooks\thomas_notebooks\resp_classification\detector_validation\methods_deck\figures\s3_qc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8915400" cy="2527562"/>
          </a:xfrm>
          <a:prstGeom prst="rect">
            <a:avLst/>
          </a:prstGeom>
        </p:spPr>
      </p:pic>
      <p:pic>
        <p:nvPicPr>
          <p:cNvPr id="4" name="Image 1" descr="C:\Users\thoma\Code\ResearchCode\respiratory_pilot\notebooks\thomas_notebooks\resp_classification\detector_validation\methods_deck\figures\s3_qc_zoo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11880"/>
            <a:ext cx="8915400" cy="234373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646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 s blocks · hop 0.25 s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964692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r_k = P95_k − P5_k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646920" y="2057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median_k(r_k)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64692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rel_k = r_k / 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646920" y="2971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full_k = (max_k − min_k) / m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64692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dead: rel &lt; 0.10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64692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artifact: rel &gt; 8 OR full &gt; 5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646920" y="4343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degraded: median₂₁(rel) &lt; 0.50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646920" y="4800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dead/artifact: ±10 s buffer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</a:rPr>
              <a:t>31.2 min excluded · 262.8 min retained · 22/30 recordings affected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9418320" y="6217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</a:rPr>
              <a:t>FROZEN QC ≠ DETECTOR VALIDITY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</a:rPr>
              <a:t>Detector validity: flat dropout or quiet breathing?</a:t>
            </a:r>
            <a:endParaRPr lang="en-US" sz="3400" dirty="0"/>
          </a:p>
        </p:txBody>
      </p:sp>
      <p:pic>
        <p:nvPicPr>
          <p:cNvPr id="3" name="Image 0" descr="C:\Users\thoma\Code\ResearchCode\respiratory_pilot\notebooks\thomas_notebooks\resp_classification\detector_validation\methods_deck\figures\s4_valid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9144000" cy="52647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9264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 s / 0.25 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rel &gt; 8 → artifact (±0.25 s)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24140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rel &lt; 0.03 → test periodicity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2980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 ρ(60–500 ms) &lt; 0.5 → dropout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3547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otherwise keep + low_amp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4114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rel &lt; 0.15 → low_amp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4681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valid run ≥ 1 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validity segmentation → peak detection per valid segment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</a:rPr>
              <a:t>Adaptive candidate peaks: prominence, not peak height</a:t>
            </a:r>
            <a:endParaRPr lang="en-US" sz="3000" dirty="0"/>
          </a:p>
        </p:txBody>
      </p:sp>
      <p:pic>
        <p:nvPicPr>
          <p:cNvPr id="3" name="Image 0" descr="C:\Users\thoma\Code\ResearchCode\respiratory_pilot\notebooks\thomas_notebooks\resp_classification\detector_validation\methods_deck\figures\s5_promin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8229600" cy="3900488"/>
          </a:xfrm>
          <a:prstGeom prst="rect">
            <a:avLst/>
          </a:prstGeom>
        </p:spPr>
      </p:pic>
      <p:pic>
        <p:nvPicPr>
          <p:cNvPr id="4" name="Image 1" descr="C:\Users\thoma\Code\ResearchCode\respiratory_pilot\notebooks\thomas_notebooks\resp_classification\detector_validation\methods_deck\figures\s5_peak_geome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892040"/>
            <a:ext cx="2926080" cy="155082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555480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5-point centered mean · 400 Hz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955548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12.5 ms effective window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555480" y="2194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LR(t) = P90 − P10 over 1 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555480" y="2697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LR every 0.1 s → interpolate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55548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need(t) = max(0.20 LR(t), 2N)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555480" y="3703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prominence ≥ need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555480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width ≥ 15 ms (6 samples)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555480" y="4709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spacing ≥ 60 ms (24 samples)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555480" y="5212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prominence horizon: ±0.5 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</a:rPr>
              <a:t>Two passes: provisional cycles → local baseline</a:t>
            </a:r>
            <a:endParaRPr lang="en-US" sz="3400" dirty="0"/>
          </a:p>
        </p:txBody>
      </p:sp>
      <p:pic>
        <p:nvPicPr>
          <p:cNvPr id="3" name="Image 0" descr="C:\Users\thoma\Code\ResearchCode\respiratory_pilot\notebooks\thomas_notebooks\resp_classification\detector_validation\methods_deck\figures\s6_two_p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8915400" cy="52849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0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hp = HP_1Hz(seg)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960120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pk_A = select_peaks(hp)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601200" y="2651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m_ab = [1/(b−a)] Σ_(i=a)^(b−1) seg[i]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center = (a+b)/2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3931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b(t) = linear interpolate(m_ab)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y(t) = seg(t) − b(t)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5212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pk_B = select_peaks(y; scale=hp)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</a:rPr>
              <a:t>Trough validation: which peaks survive?</a:t>
            </a:r>
            <a:endParaRPr lang="en-US" sz="3400" dirty="0"/>
          </a:p>
        </p:txBody>
      </p:sp>
      <p:pic>
        <p:nvPicPr>
          <p:cNvPr id="3" name="Image 0" descr="C:\Users\thoma\Code\ResearchCode\respiratory_pilot\notebooks\thomas_notebooks\resp_classification\detector_validation\methods_deck\figures\s7_trough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8915400" cy="2757340"/>
          </a:xfrm>
          <a:prstGeom prst="rect">
            <a:avLst/>
          </a:prstGeom>
        </p:spPr>
      </p:pic>
      <p:pic>
        <p:nvPicPr>
          <p:cNvPr id="4" name="Image 1" descr="C:\Users\thoma\Code\ResearchCode\respiratory_pilot\notebooks\thomas_notebooks\resp_classification\detector_validation\methods_deck\figures\s7_trough_pai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0"/>
            <a:ext cx="8915400" cy="2389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601200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t_i = argmin_(p_i &lt; t &lt; p_(i+1)) y[t]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960120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lower(p_i, p_(i+1))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601200" y="2651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Δ_i = y[L] − y[t_i]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60120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keep if Δ_i ≥ need(L)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601200" y="3931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otherwise remove L; repeat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60120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recompute baseline + troughs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</a:rPr>
              <a:t>peaks · troughs · baseline · valid mask · rejected reasons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</a:rPr>
              <a:t>OLD vs NEW: same signal, different peaks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OLD · BreathMetrics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NEW · adaptive detector</a:t>
            </a:r>
            <a:endParaRPr lang="en-US" sz="1700" dirty="0"/>
          </a:p>
        </p:txBody>
      </p:sp>
      <p:pic>
        <p:nvPicPr>
          <p:cNvPr id="5" name="Image 0" descr="C:\Users\thoma\Code\ResearchCode\respiratory_pilot\notebooks\thomas_notebooks\resp_classification\detector_validation\methods_deck\figures\s8_old_vs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1115568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7150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</a:rPr>
              <a:t>OLD: session-wide mean + SD/2 cutoff   vs   NEW: local prominence + noise floor   ·   11_3 OLD cutoff ≈714; local breath amplitudes ≈100–260; transient ≈35,600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BLA cohort 2 · 11_3, third window: OLD 0 → NEW 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6035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Aim1: 30 sessions | 262.8 min analyzed | 111,872 peaks | 7.10 Hz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Algorithm outputs; no hand-labeled accuracy claim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2026-10-13T16:58:46Z</dcterms:created>
  <dcterms:modified xsi:type="dcterms:W3CDTF">2026-10-13T16:58:46Z</dcterms:modified>
</cp:coreProperties>
</file>