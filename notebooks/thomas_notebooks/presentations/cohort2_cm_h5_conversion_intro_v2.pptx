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Experimental unit: one recorded (implanted) mouse interacting with one home-cage cagemate. File names give recorded mouse, its rank, CM, the cagemate and its rank, then date and start time. I'm assuming the first ID is the recorded mouse (consistent across files). Rank labels come from the file names (d/s).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BORIS behaviors read from the 5 CSVs: facial sniffing, body sniffing, anogenital sniffing, digging, self-grooming; all scored as STATE events (start/stop) for both the subject and the social agent. H5 files: UF Dropbox …\2026\BLA_ChR_resp_cohort2\BLA_ChR_resp_CM_hc\h5_outputs\ (made with src/file_conversion/ekg_resp_to_h5.py in biopipeline-env). SLEAP: the cohort 2 SLEAP_tracked folder is empty and the model used for the older cohorts hasn't been located (likely on the lab PC). Missing recordings: roster taken from mouse IDs in the cohort 2 RI1 and OFT h5 file names.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Processing: preprocess_resp_to_target_rate (low-pass, downsample to 400 Hz, 0.1–20 Hz Butterworth band-pass). Thresholds are relative to the whole cohort (median window SD 323 a.u., median 99th percentile 909 a.u.) so one bad session can't lower its own bar. The artifact example comes from 13_1_s, which is a Good session overall: artifacts happen in good recordings too; the QC flags those windows. Thresholds are proposed, not yet approved for exclusions.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Full-session processed respiration (400 Hz), ordered Good → Bad, same amplitude scale in every panel; shaded = flagged 10-s window. Amplitude is ADC counts (a.u.), not volts. Large artifacts are clipped at the panel 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Respiration: sensor → ECU analog input 1 → digitized → MCU → Trodes, every sample stamped with the MCU tick. Camera: every frame is stamped with the MCU tick when it arrives (.videoTimeStamps). BORIS works in mp4 time, so a BORIS time is converted to a frame number (t × mp4 fps), then to that frame's tick, then to the respiration sample with that tick. Some mp4 files report a frame rate different from what the camera captured (e.g. 13_2_d 11:10 is encoded at 16 fps vs 15 captured) — going through the frame number handles that.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Drift: during the wireless merge, Trodes keeps every headstage packet and pads the respiration (MCU/ECU) stream with copies of the previous sample to keep the two in step (documented SpikeGadgets behavior). In Aim1 this happened ~450 times per 10 s, regularly every 0.1 s: a steady clock-rate mismatch, far above the 'few dozen per 10 s' Trodes calls normal. Counting copies as time made the old time axis run late, linearly, reaching 1.37 s at the end of CM_s1_1. Verified: removing the copies reproduces the unmerged recording exactly. Offset: in CM_s2_4_sub2_3_1d, camera and unmerged respiration start on the same tick (975,650 vs 975,651) but merged respiration starts 1.094 s later. BORIS times are video times, so events were matched to respiration up to ~1.1 s late. The two errors push in opposite directions: the start offset makes the old code read respiration too late (constant), the copies make it read respiration too early (growing through the session). Measured on real BORIS events in 6 Aim1 baseline sessions: net error from +0.4 s early in a session to -1.3 s by the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Per-event error = Trodes tick of the respiration sample the old code used (BORIS Start (s) × 20,000 into the merged array) minus the Trodes tick of the BORIS frame (Image index start → .videoTimeStamps). Positive = respiration read too late. Events: subject-initiated facial/body/anogenital sniffing from the Aim1 baseline cagemate BORIS exports (cm_boris/baseline csv; CM_s4_8_sub4_7_20250623.csv excluded as in build_interaction_boris_catalog; CM_s3_6 file is empty). Breathing rate: preprocess_resp_to_target_rate to 400 Hz, inhalation peaks, instantaneous rate, averaged ±6 s around onsets (mean ± SEM, n = 185 each). CM_s3_5_d3_6_20250623_160001 has a truncated respiration export, so its events stop at ~5.7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Evidence: for Aim1 CM_s1_1_d1_2 the unmerged .rec export has 12,224,931 samples; the merged file has 12,252,312; removing the 27,381 repeats reproduces the unmerged timestamps and values exactly. The copies arrive every 0.1 s (~450 per 10 s), far above the 'few dozen per 10 s' Trodes calls normal — a steady clock-rate mismatch between headstage and MCU; worth asking SpikeGadgets. Start offset: for CM_s2_4_sub2_3_1d the camera and unmerged respiration start on the same tick (975,650 vs 975,651) but merged respiration starts 1.094 s later. Old Aim1 h5s still have both problems and need regenerating before BORIS-locked analyses. Other old issues fixed: sampling rate now read from the file header, units relabeled, tethered .rec files supported, IMU and video timing saved. Export docs: https://docs.spikegadgets.com/en/latest/basic/ExportFunctions.html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measured inputs, each with its own encoder. The model splits what it learns into a respiration-private part, a behavior-private part, and a shared part present in both. The shared part can switch between dynamical regimes over time; these may correspond to behavioral/social states, but that is something to test, not assume. Rank and valence are never inputs: we only test afterwards whether the learned representation carries them. Respiration: downsampled from 400 Hz to 50 Hz. SLEAP: 15 or 20 fps depending on the recording; cohort 2 has no SLEAP output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main goal is not maximum prediction accuracy but how important respiration is as an interpretable signal: how much unique information it contributes, whether it works alone, whether it needs pose or behavioral state, and which combinations are needed for statistically meaningful prediction. Rank labels are D/S per animal. Valence is positive vs negative only; cagemate is a separate experiment.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Starting idea: fixed windows in the 10–30 s range, likely starting around 20 s. Some windows are centered on social events (5 s before, the interaction, and post-event context), others are sampled from non-social periods; the same model sees both. The interaction itself varies in length but the input window stays fixed, and the true onset and offset are kept inside it. Many windows per mouse are summarized (state occupancy, transition patterns, latent summaries, respiration response) into one mouse/session-level prediction. Baseline handling is not finalized.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hyperlink" Target="https://www.boris.unito.it/" TargetMode="External"/><Relationship Id="rId2" Type="http://schemas.openxmlformats.org/officeDocument/2006/relationships/hyperlink" Target="https://sleap.ai/" TargetMode="External"/><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hyperlink" Target="https://docs.spikegadgets.com/en/latest/basic/CameraModule.html" TargetMode="External"/><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hyperlink" Target="https://docs.spikegadgets.com/en/latest/basic/UntetheredDataSynchronization.html" TargetMode="External"/><Relationship Id="rId2" Type="http://schemas.openxmlformats.org/officeDocument/2006/relationships/hyperlink" Target="https://docs.spikegadgets.com/en/latest/basic/UntetheredDataSynchronization.html" TargetMode="External"/><Relationship Id="rId3" Type="http://schemas.openxmlformats.org/officeDocument/2006/relationships/hyperlink" Target="https://docs.spikegadgets.com/en/latest/basic/CameraModule.html" TargetMode="External"/><Relationship Id="rId4" Type="http://schemas.openxmlformats.org/officeDocument/2006/relationships/hyperlink" Target="https://docs.spikegadgets.com/en/latest/basic/ExportFunctions.html" TargetMode="External"/><Relationship Id="rId5" Type="http://schemas.openxmlformats.org/officeDocument/2006/relationships/slideLayout" Target="../slideLayouts/slideLayout1.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304F"/>
        </a:solidFill>
      </p:bgPr>
    </p:bg>
    <p:spTree>
      <p:nvGrpSpPr>
        <p:cNvPr id="1" name=""/>
        <p:cNvGrpSpPr/>
        <p:nvPr/>
      </p:nvGrpSpPr>
      <p:grpSpPr>
        <a:xfrm>
          <a:off x="0" y="0"/>
          <a:ext cx="0" cy="0"/>
          <a:chOff x="0" y="0"/>
          <a:chExt cx="0" cy="0"/>
        </a:xfrm>
      </p:grpSpPr>
      <p:sp>
        <p:nvSpPr>
          <p:cNvPr id="2" name="Text 0"/>
          <p:cNvSpPr txBox="1"/>
          <p:nvPr/>
        </p:nvSpPr>
        <p:spPr>
          <a:xfrm>
            <a:off x="731520" y="2331720"/>
            <a:ext cx="10698480" cy="1005840"/>
          </a:xfrm>
          <a:prstGeom prst="rect">
            <a:avLst/>
          </a:prstGeom>
          <a:noFill/>
          <a:ln/>
        </p:spPr>
        <p:txBody>
          <a:bodyPr wrap="square" lIns="0" tIns="0" rIns="0" bIns="0" rtlCol="0" anchor="b"/>
          <a:lstStyle/>
          <a:p>
            <a:pPr indent="0" marL="0">
              <a:buNone/>
            </a:pPr>
            <a:r>
              <a:rPr lang="en-US" sz="5400" b="1" dirty="0">
                <a:solidFill>
                  <a:srgbClr val="FFFFFF"/>
                </a:solidFill>
                <a:latin typeface="Calibri" pitchFamily="34" charset="0"/>
                <a:ea typeface="Calibri" pitchFamily="34" charset="-122"/>
                <a:cs typeface="Calibri" pitchFamily="34" charset="-120"/>
              </a:rPr>
              <a:t>H5s Exported</a:t>
            </a:r>
            <a:endParaRPr lang="en-US" sz="5400" dirty="0"/>
          </a:p>
        </p:txBody>
      </p:sp>
      <p:sp>
        <p:nvSpPr>
          <p:cNvPr id="3" name="Text 1"/>
          <p:cNvSpPr txBox="1"/>
          <p:nvPr/>
        </p:nvSpPr>
        <p:spPr>
          <a:xfrm>
            <a:off x="731520" y="3429000"/>
            <a:ext cx="10698480" cy="640080"/>
          </a:xfrm>
          <a:prstGeom prst="rect">
            <a:avLst/>
          </a:prstGeom>
          <a:noFill/>
          <a:ln/>
        </p:spPr>
        <p:txBody>
          <a:bodyPr wrap="square" lIns="0" tIns="0" rIns="0" bIns="0" rtlCol="0" anchor="t"/>
          <a:lstStyle/>
          <a:p>
            <a:pPr indent="0" marL="0">
              <a:buNone/>
            </a:pPr>
            <a:r>
              <a:rPr lang="en-US" sz="2800" dirty="0">
                <a:solidFill>
                  <a:srgbClr val="C7D6EA"/>
                </a:solidFill>
                <a:latin typeface="Calibri" pitchFamily="34" charset="0"/>
                <a:ea typeface="Calibri" pitchFamily="34" charset="-122"/>
                <a:cs typeface="Calibri" pitchFamily="34" charset="-120"/>
              </a:rPr>
              <a:t>Trodes → H5 Export Errors</a:t>
            </a:r>
            <a:endParaRPr lang="en-US" sz="2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11274552" cy="685800"/>
          </a:xfrm>
          <a:prstGeom prst="rect">
            <a:avLst/>
          </a:prstGeom>
          <a:noFill/>
          <a:ln/>
        </p:spPr>
        <p:txBody>
          <a:bodyPr wrap="square" lIns="0" tIns="0" rIns="0" bIns="0" rtlCol="0" anchor="ctr"/>
          <a:lstStyle/>
          <a:p>
            <a:pPr indent="0" marL="0">
              <a:buNone/>
            </a:pPr>
            <a:r>
              <a:rPr lang="en-US" sz="3200" b="1" dirty="0">
                <a:solidFill>
                  <a:srgbClr val="1F2937"/>
                </a:solidFill>
                <a:latin typeface="Calibri" pitchFamily="34" charset="0"/>
                <a:ea typeface="Calibri" pitchFamily="34" charset="-122"/>
                <a:cs typeface="Calibri" pitchFamily="34" charset="-120"/>
              </a:rPr>
              <a:t>Cohort 2 cagemate dataset: what is this?</a:t>
            </a:r>
            <a:endParaRPr lang="en-US" sz="3200" dirty="0"/>
          </a:p>
        </p:txBody>
      </p:sp>
      <p:sp>
        <p:nvSpPr>
          <p:cNvPr id="3" name="Text 1"/>
          <p:cNvSpPr txBox="1"/>
          <p:nvPr/>
        </p:nvSpPr>
        <p:spPr>
          <a:xfrm>
            <a:off x="457200" y="914400"/>
            <a:ext cx="11274552" cy="384048"/>
          </a:xfrm>
          <a:prstGeom prst="rect">
            <a:avLst/>
          </a:prstGeom>
          <a:noFill/>
          <a:ln/>
        </p:spPr>
        <p:txBody>
          <a:bodyPr wrap="square" lIns="0" tIns="0" rIns="0" bIns="0" rtlCol="0" anchor="ctr"/>
          <a:lstStyle/>
          <a:p>
            <a:pPr indent="0" marL="0">
              <a:buNone/>
            </a:pPr>
            <a:r>
              <a:rPr lang="en-US" sz="1700" dirty="0">
                <a:solidFill>
                  <a:srgbClr val="4B5563"/>
                </a:solidFill>
                <a:latin typeface="Calibri" pitchFamily="34" charset="0"/>
                <a:ea typeface="Calibri" pitchFamily="34" charset="-122"/>
                <a:cs typeface="Calibri" pitchFamily="34" charset="-120"/>
              </a:rPr>
              <a:t>BLA ChR resp cohort 2 · home-cage cagemate sessions · recorded Jul 29, 2026</a:t>
            </a:r>
            <a:endParaRPr lang="en-US" sz="1700" dirty="0"/>
          </a:p>
        </p:txBody>
      </p:sp>
      <p:sp>
        <p:nvSpPr>
          <p:cNvPr id="4" name="Shape 2"/>
          <p:cNvSpPr/>
          <p:nvPr/>
        </p:nvSpPr>
        <p:spPr>
          <a:xfrm>
            <a:off x="457200" y="1600200"/>
            <a:ext cx="3017520" cy="1371600"/>
          </a:xfrm>
          <a:prstGeom prst="roundRect">
            <a:avLst>
              <a:gd name="adj" fmla="val 4667"/>
            </a:avLst>
          </a:prstGeom>
          <a:solidFill>
            <a:srgbClr val="DCE7F5"/>
          </a:solidFill>
          <a:ln w="12700">
            <a:solidFill>
              <a:srgbClr val="DCE7F5"/>
            </a:solidFill>
            <a:prstDash val="solid"/>
          </a:ln>
        </p:spPr>
      </p:sp>
      <p:sp>
        <p:nvSpPr>
          <p:cNvPr id="5" name="Text 3"/>
          <p:cNvSpPr txBox="1"/>
          <p:nvPr/>
        </p:nvSpPr>
        <p:spPr>
          <a:xfrm>
            <a:off x="548640" y="1600200"/>
            <a:ext cx="2834640" cy="1371600"/>
          </a:xfrm>
          <a:prstGeom prst="rect">
            <a:avLst/>
          </a:prstGeom>
          <a:noFill/>
          <a:ln/>
        </p:spPr>
        <p:txBody>
          <a:bodyPr wrap="square" lIns="0" tIns="0" rIns="0" bIns="0" rtlCol="0" anchor="ctr"/>
          <a:lstStyle/>
          <a:p>
            <a:pPr algn="ctr" indent="0" marL="0">
              <a:buNone/>
            </a:pPr>
            <a:r>
              <a:rPr lang="en-US" sz="2000" b="1" dirty="0">
                <a:solidFill>
                  <a:srgbClr val="1D4E89"/>
                </a:solidFill>
                <a:latin typeface="Calibri" pitchFamily="34" charset="0"/>
                <a:ea typeface="Calibri" pitchFamily="34" charset="-122"/>
                <a:cs typeface="Calibri" pitchFamily="34" charset="-120"/>
              </a:rPr>
              <a:t>Recorded mouse</a:t>
            </a:r>
            <a:endParaRPr lang="en-US" sz="1500" dirty="0"/>
          </a:p>
          <a:p>
            <a:pPr algn="ctr" indent="0" marL="0">
              <a:buNone/>
            </a:pPr>
            <a:r>
              <a:rPr lang="en-US" sz="1500" dirty="0">
                <a:solidFill>
                  <a:srgbClr val="4B5563"/>
                </a:solidFill>
                <a:latin typeface="Calibri" pitchFamily="34" charset="0"/>
                <a:ea typeface="Calibri" pitchFamily="34" charset="-122"/>
                <a:cs typeface="Calibri" pitchFamily="34" charset="-120"/>
              </a:rPr>
              <a:t>respiration sensor + video</a:t>
            </a:r>
            <a:endParaRPr lang="en-US" sz="1500" dirty="0"/>
          </a:p>
        </p:txBody>
      </p:sp>
      <p:sp>
        <p:nvSpPr>
          <p:cNvPr id="6" name="Shape 4"/>
          <p:cNvSpPr/>
          <p:nvPr/>
        </p:nvSpPr>
        <p:spPr>
          <a:xfrm>
            <a:off x="4572000" y="1600200"/>
            <a:ext cx="3017520" cy="1371600"/>
          </a:xfrm>
          <a:prstGeom prst="roundRect">
            <a:avLst>
              <a:gd name="adj" fmla="val 4667"/>
            </a:avLst>
          </a:prstGeom>
          <a:solidFill>
            <a:srgbClr val="FBE6D6"/>
          </a:solidFill>
          <a:ln w="12700">
            <a:solidFill>
              <a:srgbClr val="FBE6D6"/>
            </a:solidFill>
            <a:prstDash val="solid"/>
          </a:ln>
        </p:spPr>
      </p:sp>
      <p:sp>
        <p:nvSpPr>
          <p:cNvPr id="7" name="Text 5"/>
          <p:cNvSpPr txBox="1"/>
          <p:nvPr/>
        </p:nvSpPr>
        <p:spPr>
          <a:xfrm>
            <a:off x="4663440" y="1600200"/>
            <a:ext cx="2834640" cy="1371600"/>
          </a:xfrm>
          <a:prstGeom prst="rect">
            <a:avLst/>
          </a:prstGeom>
          <a:noFill/>
          <a:ln/>
        </p:spPr>
        <p:txBody>
          <a:bodyPr wrap="square" lIns="0" tIns="0" rIns="0" bIns="0" rtlCol="0" anchor="ctr"/>
          <a:lstStyle/>
          <a:p>
            <a:pPr algn="ctr" indent="0" marL="0">
              <a:buNone/>
            </a:pPr>
            <a:r>
              <a:rPr lang="en-US" sz="2000" b="1" dirty="0">
                <a:solidFill>
                  <a:srgbClr val="B45A1C"/>
                </a:solidFill>
                <a:latin typeface="Calibri" pitchFamily="34" charset="0"/>
                <a:ea typeface="Calibri" pitchFamily="34" charset="-122"/>
                <a:cs typeface="Calibri" pitchFamily="34" charset="-120"/>
              </a:rPr>
              <a:t>Cagemate</a:t>
            </a:r>
            <a:endParaRPr lang="en-US" sz="1500" dirty="0"/>
          </a:p>
          <a:p>
            <a:pPr algn="ctr" indent="0" marL="0">
              <a:buNone/>
            </a:pPr>
            <a:r>
              <a:rPr lang="en-US" sz="1500" dirty="0">
                <a:solidFill>
                  <a:srgbClr val="4B5563"/>
                </a:solidFill>
                <a:latin typeface="Calibri" pitchFamily="34" charset="0"/>
                <a:ea typeface="Calibri" pitchFamily="34" charset="-122"/>
                <a:cs typeface="Calibri" pitchFamily="34" charset="-120"/>
              </a:rPr>
              <a:t>home-cage partner · video only</a:t>
            </a:r>
            <a:endParaRPr lang="en-US" sz="1500" dirty="0"/>
          </a:p>
        </p:txBody>
      </p:sp>
      <p:sp>
        <p:nvSpPr>
          <p:cNvPr id="8" name="Shape 6"/>
          <p:cNvSpPr/>
          <p:nvPr/>
        </p:nvSpPr>
        <p:spPr>
          <a:xfrm>
            <a:off x="3520440" y="2286000"/>
            <a:ext cx="1005840" cy="0"/>
          </a:xfrm>
          <a:prstGeom prst="line">
            <a:avLst/>
          </a:prstGeom>
          <a:noFill/>
          <a:ln w="25400">
            <a:solidFill>
              <a:srgbClr val="1F2937"/>
            </a:solidFill>
            <a:prstDash val="solid"/>
            <a:headEnd type="triangle"/>
            <a:tailEnd type="triangle"/>
          </a:ln>
        </p:spPr>
      </p:sp>
      <p:sp>
        <p:nvSpPr>
          <p:cNvPr id="9" name="Text 7"/>
          <p:cNvSpPr txBox="1"/>
          <p:nvPr/>
        </p:nvSpPr>
        <p:spPr>
          <a:xfrm>
            <a:off x="3474720" y="1874520"/>
            <a:ext cx="1097280" cy="320040"/>
          </a:xfrm>
          <a:prstGeom prst="rect">
            <a:avLst/>
          </a:prstGeom>
          <a:noFill/>
          <a:ln/>
        </p:spPr>
        <p:txBody>
          <a:bodyPr wrap="square" lIns="0" tIns="0" rIns="0" bIns="0" rtlCol="0" anchor="t"/>
          <a:lstStyle/>
          <a:p>
            <a:pPr algn="ctr" indent="0" marL="0">
              <a:buNone/>
            </a:pPr>
            <a:r>
              <a:rPr lang="en-US" sz="1300" i="1" dirty="0">
                <a:solidFill>
                  <a:srgbClr val="4B5563"/>
                </a:solidFill>
                <a:latin typeface="Calibri" pitchFamily="34" charset="0"/>
                <a:ea typeface="Calibri" pitchFamily="34" charset="-122"/>
                <a:cs typeface="Calibri" pitchFamily="34" charset="-120"/>
              </a:rPr>
              <a:t>interact</a:t>
            </a:r>
            <a:endParaRPr lang="en-US" sz="1300" dirty="0"/>
          </a:p>
        </p:txBody>
      </p:sp>
      <p:sp>
        <p:nvSpPr>
          <p:cNvPr id="10" name="Text 8"/>
          <p:cNvSpPr txBox="1"/>
          <p:nvPr/>
        </p:nvSpPr>
        <p:spPr>
          <a:xfrm>
            <a:off x="457200" y="3108960"/>
            <a:ext cx="7132320" cy="731520"/>
          </a:xfrm>
          <a:prstGeom prst="rect">
            <a:avLst/>
          </a:prstGeom>
          <a:noFill/>
          <a:ln/>
        </p:spPr>
        <p:txBody>
          <a:bodyPr wrap="square" lIns="0" tIns="0" rIns="0" bIns="0" rtlCol="0" anchor="t"/>
          <a:lstStyle/>
          <a:p>
            <a:pPr indent="0" marL="0">
              <a:buNone/>
            </a:pPr>
            <a:r>
              <a:rPr lang="en-US" sz="1500" b="1" dirty="0">
                <a:solidFill>
                  <a:srgbClr val="1F2937"/>
                </a:solidFill>
                <a:latin typeface="Calibri" pitchFamily="34" charset="0"/>
                <a:ea typeface="Calibri" pitchFamily="34" charset="-122"/>
                <a:cs typeface="Calibri" pitchFamily="34" charset="-120"/>
              </a:rPr>
              <a:t>One recording = one recorded mouse + one cagemate from its own cage, ~10–12 min. </a:t>
            </a:r>
            <a:pPr indent="0" marL="0">
              <a:buNone/>
            </a:pPr>
            <a:r>
              <a:rPr lang="en-US" sz="1500" dirty="0">
                <a:solidFill>
                  <a:srgbClr val="1F2937"/>
                </a:solidFill>
                <a:latin typeface="Calibri" pitchFamily="34" charset="0"/>
                <a:ea typeface="Calibri" pitchFamily="34" charset="-122"/>
                <a:cs typeface="Calibri" pitchFamily="34" charset="-120"/>
              </a:rPr>
              <a:t>Each mouse has a rank: D = dominant, S = subordinate.</a:t>
            </a:r>
            <a:endParaRPr lang="en-US" sz="1500" dirty="0"/>
          </a:p>
        </p:txBody>
      </p:sp>
      <p:sp>
        <p:nvSpPr>
          <p:cNvPr id="11" name="Text 9"/>
          <p:cNvSpPr txBox="1"/>
          <p:nvPr/>
        </p:nvSpPr>
        <p:spPr>
          <a:xfrm>
            <a:off x="457200" y="3977640"/>
            <a:ext cx="7132320" cy="365760"/>
          </a:xfrm>
          <a:prstGeom prst="rect">
            <a:avLst/>
          </a:prstGeom>
          <a:noFill/>
          <a:ln/>
        </p:spPr>
        <p:txBody>
          <a:bodyPr wrap="square" lIns="0" tIns="0" rIns="0" bIns="0" rtlCol="0" anchor="t"/>
          <a:lstStyle/>
          <a:p>
            <a:pPr indent="0" marL="0">
              <a:buNone/>
            </a:pPr>
            <a:r>
              <a:rPr lang="en-US" sz="1800" b="1" dirty="0">
                <a:solidFill>
                  <a:srgbClr val="1D4E89"/>
                </a:solidFill>
                <a:latin typeface="Calibri" pitchFamily="34" charset="0"/>
                <a:ea typeface="Calibri" pitchFamily="34" charset="-122"/>
                <a:cs typeface="Calibri" pitchFamily="34" charset="-120"/>
              </a:rPr>
              <a:t>Reading a file name</a:t>
            </a:r>
            <a:endParaRPr lang="en-US" sz="1800" dirty="0"/>
          </a:p>
        </p:txBody>
      </p:sp>
      <p:sp>
        <p:nvSpPr>
          <p:cNvPr id="12" name="Shape 10"/>
          <p:cNvSpPr/>
          <p:nvPr/>
        </p:nvSpPr>
        <p:spPr>
          <a:xfrm>
            <a:off x="457200" y="4434840"/>
            <a:ext cx="1051560" cy="502920"/>
          </a:xfrm>
          <a:prstGeom prst="roundRect">
            <a:avLst>
              <a:gd name="adj" fmla="val 12727"/>
            </a:avLst>
          </a:prstGeom>
          <a:solidFill>
            <a:srgbClr val="DCE7F5"/>
          </a:solidFill>
          <a:ln w="12700">
            <a:solidFill>
              <a:srgbClr val="DCE7F5"/>
            </a:solidFill>
            <a:prstDash val="solid"/>
          </a:ln>
        </p:spPr>
      </p:sp>
      <p:sp>
        <p:nvSpPr>
          <p:cNvPr id="13" name="Text 11"/>
          <p:cNvSpPr txBox="1"/>
          <p:nvPr/>
        </p:nvSpPr>
        <p:spPr>
          <a:xfrm>
            <a:off x="457200" y="4434840"/>
            <a:ext cx="1051560" cy="502920"/>
          </a:xfrm>
          <a:prstGeom prst="rect">
            <a:avLst/>
          </a:prstGeom>
          <a:noFill/>
          <a:ln/>
        </p:spPr>
        <p:txBody>
          <a:bodyPr wrap="square" lIns="0" tIns="0" rIns="0" bIns="0" rtlCol="0" anchor="ctr"/>
          <a:lstStyle/>
          <a:p>
            <a:pPr algn="ctr" indent="0" marL="0">
              <a:buNone/>
            </a:pPr>
            <a:r>
              <a:rPr lang="en-US" sz="1800" b="1" dirty="0">
                <a:solidFill>
                  <a:srgbClr val="1F2937"/>
                </a:solidFill>
                <a:latin typeface="Calibri" pitchFamily="34" charset="0"/>
                <a:ea typeface="Calibri" pitchFamily="34" charset="-122"/>
                <a:cs typeface="Calibri" pitchFamily="34" charset="-120"/>
              </a:rPr>
              <a:t>13_2</a:t>
            </a:r>
            <a:endParaRPr lang="en-US" sz="1800" dirty="0"/>
          </a:p>
        </p:txBody>
      </p:sp>
      <p:sp>
        <p:nvSpPr>
          <p:cNvPr id="14" name="Text 12"/>
          <p:cNvSpPr txBox="1"/>
          <p:nvPr/>
        </p:nvSpPr>
        <p:spPr>
          <a:xfrm>
            <a:off x="438912" y="5001768"/>
            <a:ext cx="1088136" cy="640080"/>
          </a:xfrm>
          <a:prstGeom prst="rect">
            <a:avLst/>
          </a:prstGeom>
          <a:noFill/>
          <a:ln/>
        </p:spPr>
        <p:txBody>
          <a:bodyPr wrap="square" lIns="0" tIns="0" rIns="0" bIns="0" rtlCol="0" anchor="t"/>
          <a:lstStyle/>
          <a:p>
            <a:pPr algn="ctr" indent="0" marL="0">
              <a:buNone/>
            </a:pPr>
            <a:r>
              <a:rPr lang="en-US" sz="1200" dirty="0">
                <a:solidFill>
                  <a:srgbClr val="4B5563"/>
                </a:solidFill>
                <a:latin typeface="Calibri" pitchFamily="34" charset="0"/>
                <a:ea typeface="Calibri" pitchFamily="34" charset="-122"/>
                <a:cs typeface="Calibri" pitchFamily="34" charset="-120"/>
              </a:rPr>
              <a:t>recorded mouse</a:t>
            </a:r>
            <a:endParaRPr lang="en-US" sz="1200" dirty="0"/>
          </a:p>
          <a:p>
            <a:pPr algn="ctr" indent="0" marL="0">
              <a:buNone/>
            </a:pPr>
            <a:r>
              <a:rPr lang="en-US" sz="1200" dirty="0">
                <a:solidFill>
                  <a:srgbClr val="4B5563"/>
                </a:solidFill>
                <a:latin typeface="Calibri" pitchFamily="34" charset="0"/>
                <a:ea typeface="Calibri" pitchFamily="34" charset="-122"/>
                <a:cs typeface="Calibri" pitchFamily="34" charset="-120"/>
              </a:rPr>
              <a:t>(cage 13, #2)</a:t>
            </a:r>
            <a:endParaRPr lang="en-US" sz="1200" dirty="0"/>
          </a:p>
        </p:txBody>
      </p:sp>
      <p:sp>
        <p:nvSpPr>
          <p:cNvPr id="15" name="Shape 13"/>
          <p:cNvSpPr/>
          <p:nvPr/>
        </p:nvSpPr>
        <p:spPr>
          <a:xfrm>
            <a:off x="1600200" y="4434840"/>
            <a:ext cx="868680" cy="502920"/>
          </a:xfrm>
          <a:prstGeom prst="roundRect">
            <a:avLst>
              <a:gd name="adj" fmla="val 12727"/>
            </a:avLst>
          </a:prstGeom>
          <a:solidFill>
            <a:srgbClr val="DCE7F5"/>
          </a:solidFill>
          <a:ln w="12700">
            <a:solidFill>
              <a:srgbClr val="DCE7F5"/>
            </a:solidFill>
            <a:prstDash val="solid"/>
          </a:ln>
        </p:spPr>
      </p:sp>
      <p:sp>
        <p:nvSpPr>
          <p:cNvPr id="16" name="Text 14"/>
          <p:cNvSpPr txBox="1"/>
          <p:nvPr/>
        </p:nvSpPr>
        <p:spPr>
          <a:xfrm>
            <a:off x="1600200" y="4434840"/>
            <a:ext cx="868680" cy="502920"/>
          </a:xfrm>
          <a:prstGeom prst="rect">
            <a:avLst/>
          </a:prstGeom>
          <a:noFill/>
          <a:ln/>
        </p:spPr>
        <p:txBody>
          <a:bodyPr wrap="square" lIns="0" tIns="0" rIns="0" bIns="0" rtlCol="0" anchor="ctr"/>
          <a:lstStyle/>
          <a:p>
            <a:pPr algn="ctr" indent="0" marL="0">
              <a:buNone/>
            </a:pPr>
            <a:r>
              <a:rPr lang="en-US" sz="1800" b="1" dirty="0">
                <a:solidFill>
                  <a:srgbClr val="1F2937"/>
                </a:solidFill>
                <a:latin typeface="Calibri" pitchFamily="34" charset="0"/>
                <a:ea typeface="Calibri" pitchFamily="34" charset="-122"/>
                <a:cs typeface="Calibri" pitchFamily="34" charset="-120"/>
              </a:rPr>
              <a:t>d</a:t>
            </a:r>
            <a:endParaRPr lang="en-US" sz="1800" dirty="0"/>
          </a:p>
        </p:txBody>
      </p:sp>
      <p:sp>
        <p:nvSpPr>
          <p:cNvPr id="17" name="Text 15"/>
          <p:cNvSpPr txBox="1"/>
          <p:nvPr/>
        </p:nvSpPr>
        <p:spPr>
          <a:xfrm>
            <a:off x="1581912" y="5001768"/>
            <a:ext cx="905256" cy="640080"/>
          </a:xfrm>
          <a:prstGeom prst="rect">
            <a:avLst/>
          </a:prstGeom>
          <a:noFill/>
          <a:ln/>
        </p:spPr>
        <p:txBody>
          <a:bodyPr wrap="square" lIns="0" tIns="0" rIns="0" bIns="0" rtlCol="0" anchor="t"/>
          <a:lstStyle/>
          <a:p>
            <a:pPr algn="ctr" indent="0" marL="0">
              <a:buNone/>
            </a:pPr>
            <a:r>
              <a:rPr lang="en-US" sz="1200" dirty="0">
                <a:solidFill>
                  <a:srgbClr val="4B5563"/>
                </a:solidFill>
                <a:latin typeface="Calibri" pitchFamily="34" charset="0"/>
                <a:ea typeface="Calibri" pitchFamily="34" charset="-122"/>
                <a:cs typeface="Calibri" pitchFamily="34" charset="-120"/>
              </a:rPr>
              <a:t>its rank:</a:t>
            </a:r>
            <a:endParaRPr lang="en-US" sz="1200" dirty="0"/>
          </a:p>
          <a:p>
            <a:pPr algn="ctr" indent="0" marL="0">
              <a:buNone/>
            </a:pPr>
            <a:r>
              <a:rPr lang="en-US" sz="1200" dirty="0">
                <a:solidFill>
                  <a:srgbClr val="4B5563"/>
                </a:solidFill>
                <a:latin typeface="Calibri" pitchFamily="34" charset="0"/>
                <a:ea typeface="Calibri" pitchFamily="34" charset="-122"/>
                <a:cs typeface="Calibri" pitchFamily="34" charset="-120"/>
              </a:rPr>
              <a:t>dominant</a:t>
            </a:r>
            <a:endParaRPr lang="en-US" sz="1200" dirty="0"/>
          </a:p>
        </p:txBody>
      </p:sp>
      <p:sp>
        <p:nvSpPr>
          <p:cNvPr id="18" name="Shape 16"/>
          <p:cNvSpPr/>
          <p:nvPr/>
        </p:nvSpPr>
        <p:spPr>
          <a:xfrm>
            <a:off x="2560320" y="4434840"/>
            <a:ext cx="914400" cy="502920"/>
          </a:xfrm>
          <a:prstGeom prst="roundRect">
            <a:avLst>
              <a:gd name="adj" fmla="val 12727"/>
            </a:avLst>
          </a:prstGeom>
          <a:solidFill>
            <a:srgbClr val="E5E7EB"/>
          </a:solidFill>
          <a:ln w="12700">
            <a:solidFill>
              <a:srgbClr val="E5E7EB"/>
            </a:solidFill>
            <a:prstDash val="solid"/>
          </a:ln>
        </p:spPr>
      </p:sp>
      <p:sp>
        <p:nvSpPr>
          <p:cNvPr id="19" name="Text 17"/>
          <p:cNvSpPr txBox="1"/>
          <p:nvPr/>
        </p:nvSpPr>
        <p:spPr>
          <a:xfrm>
            <a:off x="2560320" y="4434840"/>
            <a:ext cx="914400" cy="502920"/>
          </a:xfrm>
          <a:prstGeom prst="rect">
            <a:avLst/>
          </a:prstGeom>
          <a:noFill/>
          <a:ln/>
        </p:spPr>
        <p:txBody>
          <a:bodyPr wrap="square" lIns="0" tIns="0" rIns="0" bIns="0" rtlCol="0" anchor="ctr"/>
          <a:lstStyle/>
          <a:p>
            <a:pPr algn="ctr" indent="0" marL="0">
              <a:buNone/>
            </a:pPr>
            <a:r>
              <a:rPr lang="en-US" sz="1800" b="1" dirty="0">
                <a:solidFill>
                  <a:srgbClr val="1F2937"/>
                </a:solidFill>
                <a:latin typeface="Calibri" pitchFamily="34" charset="0"/>
                <a:ea typeface="Calibri" pitchFamily="34" charset="-122"/>
                <a:cs typeface="Calibri" pitchFamily="34" charset="-120"/>
              </a:rPr>
              <a:t>CM</a:t>
            </a:r>
            <a:endParaRPr lang="en-US" sz="1800" dirty="0"/>
          </a:p>
        </p:txBody>
      </p:sp>
      <p:sp>
        <p:nvSpPr>
          <p:cNvPr id="20" name="Text 18"/>
          <p:cNvSpPr txBox="1"/>
          <p:nvPr/>
        </p:nvSpPr>
        <p:spPr>
          <a:xfrm>
            <a:off x="2542032" y="5001768"/>
            <a:ext cx="950976" cy="640080"/>
          </a:xfrm>
          <a:prstGeom prst="rect">
            <a:avLst/>
          </a:prstGeom>
          <a:noFill/>
          <a:ln/>
        </p:spPr>
        <p:txBody>
          <a:bodyPr wrap="square" lIns="0" tIns="0" rIns="0" bIns="0" rtlCol="0" anchor="t"/>
          <a:lstStyle/>
          <a:p>
            <a:pPr algn="ctr" indent="0" marL="0">
              <a:buNone/>
            </a:pPr>
            <a:r>
              <a:rPr lang="en-US" sz="1200" dirty="0">
                <a:solidFill>
                  <a:srgbClr val="4B5563"/>
                </a:solidFill>
                <a:latin typeface="Calibri" pitchFamily="34" charset="0"/>
                <a:ea typeface="Calibri" pitchFamily="34" charset="-122"/>
                <a:cs typeface="Calibri" pitchFamily="34" charset="-120"/>
              </a:rPr>
              <a:t>cagemate</a:t>
            </a:r>
            <a:endParaRPr lang="en-US" sz="1200" dirty="0"/>
          </a:p>
          <a:p>
            <a:pPr algn="ctr" indent="0" marL="0">
              <a:buNone/>
            </a:pPr>
            <a:r>
              <a:rPr lang="en-US" sz="1200" dirty="0">
                <a:solidFill>
                  <a:srgbClr val="4B5563"/>
                </a:solidFill>
                <a:latin typeface="Calibri" pitchFamily="34" charset="0"/>
                <a:ea typeface="Calibri" pitchFamily="34" charset="-122"/>
                <a:cs typeface="Calibri" pitchFamily="34" charset="-120"/>
              </a:rPr>
              <a:t>session</a:t>
            </a:r>
            <a:endParaRPr lang="en-US" sz="1200" dirty="0"/>
          </a:p>
        </p:txBody>
      </p:sp>
      <p:sp>
        <p:nvSpPr>
          <p:cNvPr id="21" name="Shape 19"/>
          <p:cNvSpPr/>
          <p:nvPr/>
        </p:nvSpPr>
        <p:spPr>
          <a:xfrm>
            <a:off x="3566160" y="4434840"/>
            <a:ext cx="1051560" cy="502920"/>
          </a:xfrm>
          <a:prstGeom prst="roundRect">
            <a:avLst>
              <a:gd name="adj" fmla="val 12727"/>
            </a:avLst>
          </a:prstGeom>
          <a:solidFill>
            <a:srgbClr val="FBE6D6"/>
          </a:solidFill>
          <a:ln w="12700">
            <a:solidFill>
              <a:srgbClr val="FBE6D6"/>
            </a:solidFill>
            <a:prstDash val="solid"/>
          </a:ln>
        </p:spPr>
      </p:sp>
      <p:sp>
        <p:nvSpPr>
          <p:cNvPr id="22" name="Text 20"/>
          <p:cNvSpPr txBox="1"/>
          <p:nvPr/>
        </p:nvSpPr>
        <p:spPr>
          <a:xfrm>
            <a:off x="3566160" y="4434840"/>
            <a:ext cx="1051560" cy="502920"/>
          </a:xfrm>
          <a:prstGeom prst="rect">
            <a:avLst/>
          </a:prstGeom>
          <a:noFill/>
          <a:ln/>
        </p:spPr>
        <p:txBody>
          <a:bodyPr wrap="square" lIns="0" tIns="0" rIns="0" bIns="0" rtlCol="0" anchor="ctr"/>
          <a:lstStyle/>
          <a:p>
            <a:pPr algn="ctr" indent="0" marL="0">
              <a:buNone/>
            </a:pPr>
            <a:r>
              <a:rPr lang="en-US" sz="1800" b="1" dirty="0">
                <a:solidFill>
                  <a:srgbClr val="1F2937"/>
                </a:solidFill>
                <a:latin typeface="Calibri" pitchFamily="34" charset="0"/>
                <a:ea typeface="Calibri" pitchFamily="34" charset="-122"/>
                <a:cs typeface="Calibri" pitchFamily="34" charset="-120"/>
              </a:rPr>
              <a:t>13_1</a:t>
            </a:r>
            <a:endParaRPr lang="en-US" sz="1800" dirty="0"/>
          </a:p>
        </p:txBody>
      </p:sp>
      <p:sp>
        <p:nvSpPr>
          <p:cNvPr id="23" name="Text 21"/>
          <p:cNvSpPr txBox="1"/>
          <p:nvPr/>
        </p:nvSpPr>
        <p:spPr>
          <a:xfrm>
            <a:off x="3547872" y="5001768"/>
            <a:ext cx="1088136" cy="640080"/>
          </a:xfrm>
          <a:prstGeom prst="rect">
            <a:avLst/>
          </a:prstGeom>
          <a:noFill/>
          <a:ln/>
        </p:spPr>
        <p:txBody>
          <a:bodyPr wrap="square" lIns="0" tIns="0" rIns="0" bIns="0" rtlCol="0" anchor="t"/>
          <a:lstStyle/>
          <a:p>
            <a:pPr algn="ctr" indent="0" marL="0">
              <a:buNone/>
            </a:pPr>
            <a:r>
              <a:rPr lang="en-US" sz="1200" dirty="0">
                <a:solidFill>
                  <a:srgbClr val="4B5563"/>
                </a:solidFill>
                <a:latin typeface="Calibri" pitchFamily="34" charset="0"/>
                <a:ea typeface="Calibri" pitchFamily="34" charset="-122"/>
                <a:cs typeface="Calibri" pitchFamily="34" charset="-120"/>
              </a:rPr>
              <a:t>cagemate</a:t>
            </a:r>
            <a:endParaRPr lang="en-US" sz="1200" dirty="0"/>
          </a:p>
          <a:p>
            <a:pPr algn="ctr" indent="0" marL="0">
              <a:buNone/>
            </a:pPr>
            <a:r>
              <a:rPr lang="en-US" sz="1200" dirty="0">
                <a:solidFill>
                  <a:srgbClr val="4B5563"/>
                </a:solidFill>
                <a:latin typeface="Calibri" pitchFamily="34" charset="0"/>
                <a:ea typeface="Calibri" pitchFamily="34" charset="-122"/>
                <a:cs typeface="Calibri" pitchFamily="34" charset="-120"/>
              </a:rPr>
              <a:t>(cage 13, #1)</a:t>
            </a:r>
            <a:endParaRPr lang="en-US" sz="1200" dirty="0"/>
          </a:p>
        </p:txBody>
      </p:sp>
      <p:sp>
        <p:nvSpPr>
          <p:cNvPr id="24" name="Shape 22"/>
          <p:cNvSpPr/>
          <p:nvPr/>
        </p:nvSpPr>
        <p:spPr>
          <a:xfrm>
            <a:off x="4709160" y="4434840"/>
            <a:ext cx="1005840" cy="502920"/>
          </a:xfrm>
          <a:prstGeom prst="roundRect">
            <a:avLst>
              <a:gd name="adj" fmla="val 12727"/>
            </a:avLst>
          </a:prstGeom>
          <a:solidFill>
            <a:srgbClr val="FBE6D6"/>
          </a:solidFill>
          <a:ln w="12700">
            <a:solidFill>
              <a:srgbClr val="FBE6D6"/>
            </a:solidFill>
            <a:prstDash val="solid"/>
          </a:ln>
        </p:spPr>
      </p:sp>
      <p:sp>
        <p:nvSpPr>
          <p:cNvPr id="25" name="Text 23"/>
          <p:cNvSpPr txBox="1"/>
          <p:nvPr/>
        </p:nvSpPr>
        <p:spPr>
          <a:xfrm>
            <a:off x="4709160" y="4434840"/>
            <a:ext cx="1005840" cy="502920"/>
          </a:xfrm>
          <a:prstGeom prst="rect">
            <a:avLst/>
          </a:prstGeom>
          <a:noFill/>
          <a:ln/>
        </p:spPr>
        <p:txBody>
          <a:bodyPr wrap="square" lIns="0" tIns="0" rIns="0" bIns="0" rtlCol="0" anchor="ctr"/>
          <a:lstStyle/>
          <a:p>
            <a:pPr algn="ctr" indent="0" marL="0">
              <a:buNone/>
            </a:pPr>
            <a:r>
              <a:rPr lang="en-US" sz="1800" b="1" dirty="0">
                <a:solidFill>
                  <a:srgbClr val="1F2937"/>
                </a:solidFill>
                <a:latin typeface="Calibri" pitchFamily="34" charset="0"/>
                <a:ea typeface="Calibri" pitchFamily="34" charset="-122"/>
                <a:cs typeface="Calibri" pitchFamily="34" charset="-120"/>
              </a:rPr>
              <a:t>s</a:t>
            </a:r>
            <a:endParaRPr lang="en-US" sz="1800" dirty="0"/>
          </a:p>
        </p:txBody>
      </p:sp>
      <p:sp>
        <p:nvSpPr>
          <p:cNvPr id="26" name="Text 24"/>
          <p:cNvSpPr txBox="1"/>
          <p:nvPr/>
        </p:nvSpPr>
        <p:spPr>
          <a:xfrm>
            <a:off x="4690872" y="5001768"/>
            <a:ext cx="1042416" cy="640080"/>
          </a:xfrm>
          <a:prstGeom prst="rect">
            <a:avLst/>
          </a:prstGeom>
          <a:noFill/>
          <a:ln/>
        </p:spPr>
        <p:txBody>
          <a:bodyPr wrap="square" lIns="0" tIns="0" rIns="0" bIns="0" rtlCol="0" anchor="t"/>
          <a:lstStyle/>
          <a:p>
            <a:pPr algn="ctr" indent="0" marL="0">
              <a:buNone/>
            </a:pPr>
            <a:r>
              <a:rPr lang="en-US" sz="1200" dirty="0">
                <a:solidFill>
                  <a:srgbClr val="4B5563"/>
                </a:solidFill>
                <a:latin typeface="Calibri" pitchFamily="34" charset="0"/>
                <a:ea typeface="Calibri" pitchFamily="34" charset="-122"/>
                <a:cs typeface="Calibri" pitchFamily="34" charset="-120"/>
              </a:rPr>
              <a:t>its rank:</a:t>
            </a:r>
            <a:endParaRPr lang="en-US" sz="1200" dirty="0"/>
          </a:p>
          <a:p>
            <a:pPr algn="ctr" indent="0" marL="0">
              <a:buNone/>
            </a:pPr>
            <a:r>
              <a:rPr lang="en-US" sz="1200" dirty="0">
                <a:solidFill>
                  <a:srgbClr val="4B5563"/>
                </a:solidFill>
                <a:latin typeface="Calibri" pitchFamily="34" charset="0"/>
                <a:ea typeface="Calibri" pitchFamily="34" charset="-122"/>
                <a:cs typeface="Calibri" pitchFamily="34" charset="-120"/>
              </a:rPr>
              <a:t>subordinate</a:t>
            </a:r>
            <a:endParaRPr lang="en-US" sz="1200" dirty="0"/>
          </a:p>
        </p:txBody>
      </p:sp>
      <p:sp>
        <p:nvSpPr>
          <p:cNvPr id="27" name="Shape 25"/>
          <p:cNvSpPr/>
          <p:nvPr/>
        </p:nvSpPr>
        <p:spPr>
          <a:xfrm>
            <a:off x="5806440" y="4434840"/>
            <a:ext cx="1965960" cy="502920"/>
          </a:xfrm>
          <a:prstGeom prst="roundRect">
            <a:avLst>
              <a:gd name="adj" fmla="val 12727"/>
            </a:avLst>
          </a:prstGeom>
          <a:solidFill>
            <a:srgbClr val="E5E7EB"/>
          </a:solidFill>
          <a:ln w="12700">
            <a:solidFill>
              <a:srgbClr val="E5E7EB"/>
            </a:solidFill>
            <a:prstDash val="solid"/>
          </a:ln>
        </p:spPr>
      </p:sp>
      <p:sp>
        <p:nvSpPr>
          <p:cNvPr id="28" name="Text 26"/>
          <p:cNvSpPr txBox="1"/>
          <p:nvPr/>
        </p:nvSpPr>
        <p:spPr>
          <a:xfrm>
            <a:off x="5806440" y="4434840"/>
            <a:ext cx="1965960" cy="502920"/>
          </a:xfrm>
          <a:prstGeom prst="rect">
            <a:avLst/>
          </a:prstGeom>
          <a:noFill/>
          <a:ln/>
        </p:spPr>
        <p:txBody>
          <a:bodyPr wrap="square" lIns="0" tIns="0" rIns="0" bIns="0" rtlCol="0" anchor="ctr"/>
          <a:lstStyle/>
          <a:p>
            <a:pPr algn="ctr" indent="0" marL="0">
              <a:buNone/>
            </a:pPr>
            <a:r>
              <a:rPr lang="en-US" sz="1800" b="1" dirty="0">
                <a:solidFill>
                  <a:srgbClr val="1F2937"/>
                </a:solidFill>
                <a:latin typeface="Calibri" pitchFamily="34" charset="0"/>
                <a:ea typeface="Calibri" pitchFamily="34" charset="-122"/>
                <a:cs typeface="Calibri" pitchFamily="34" charset="-120"/>
              </a:rPr>
              <a:t>20260729_111038</a:t>
            </a:r>
            <a:endParaRPr lang="en-US" sz="1800" dirty="0"/>
          </a:p>
        </p:txBody>
      </p:sp>
      <p:sp>
        <p:nvSpPr>
          <p:cNvPr id="29" name="Text 27"/>
          <p:cNvSpPr txBox="1"/>
          <p:nvPr/>
        </p:nvSpPr>
        <p:spPr>
          <a:xfrm>
            <a:off x="5788152" y="5001768"/>
            <a:ext cx="2002536" cy="640080"/>
          </a:xfrm>
          <a:prstGeom prst="rect">
            <a:avLst/>
          </a:prstGeom>
          <a:noFill/>
          <a:ln/>
        </p:spPr>
        <p:txBody>
          <a:bodyPr wrap="square" lIns="0" tIns="0" rIns="0" bIns="0" rtlCol="0" anchor="t"/>
          <a:lstStyle/>
          <a:p>
            <a:pPr algn="ctr" indent="0" marL="0">
              <a:buNone/>
            </a:pPr>
            <a:r>
              <a:rPr lang="en-US" sz="1200" dirty="0">
                <a:solidFill>
                  <a:srgbClr val="4B5563"/>
                </a:solidFill>
                <a:latin typeface="Calibri" pitchFamily="34" charset="0"/>
                <a:ea typeface="Calibri" pitchFamily="34" charset="-122"/>
                <a:cs typeface="Calibri" pitchFamily="34" charset="-120"/>
              </a:rPr>
              <a:t>date + start</a:t>
            </a:r>
            <a:endParaRPr lang="en-US" sz="1200" dirty="0"/>
          </a:p>
          <a:p>
            <a:pPr algn="ctr" indent="0" marL="0">
              <a:buNone/>
            </a:pPr>
            <a:r>
              <a:rPr lang="en-US" sz="1200" dirty="0">
                <a:solidFill>
                  <a:srgbClr val="4B5563"/>
                </a:solidFill>
                <a:latin typeface="Calibri" pitchFamily="34" charset="0"/>
                <a:ea typeface="Calibri" pitchFamily="34" charset="-122"/>
                <a:cs typeface="Calibri" pitchFamily="34" charset="-120"/>
              </a:rPr>
              <a:t>time (11:10)</a:t>
            </a:r>
            <a:endParaRPr lang="en-US" sz="1200" dirty="0"/>
          </a:p>
        </p:txBody>
      </p:sp>
      <p:sp>
        <p:nvSpPr>
          <p:cNvPr id="30" name="Text 28"/>
          <p:cNvSpPr txBox="1"/>
          <p:nvPr/>
        </p:nvSpPr>
        <p:spPr>
          <a:xfrm>
            <a:off x="457200" y="5806440"/>
            <a:ext cx="7132320" cy="365760"/>
          </a:xfrm>
          <a:prstGeom prst="rect">
            <a:avLst/>
          </a:prstGeom>
          <a:noFill/>
          <a:ln/>
        </p:spPr>
        <p:txBody>
          <a:bodyPr wrap="square" lIns="0" tIns="0" rIns="0" bIns="0" rtlCol="0" anchor="t"/>
          <a:lstStyle/>
          <a:p>
            <a:pPr indent="0" marL="0">
              <a:buNone/>
            </a:pPr>
            <a:r>
              <a:rPr lang="en-US" sz="1300" i="1" dirty="0">
                <a:solidFill>
                  <a:srgbClr val="4B5563"/>
                </a:solidFill>
                <a:latin typeface="Calibri" pitchFamily="34" charset="0"/>
                <a:ea typeface="Calibri" pitchFamily="34" charset="-122"/>
                <a:cs typeface="Calibri" pitchFamily="34" charset="-120"/>
              </a:rPr>
              <a:t>One file uses a different order: 13_3_CM_s_13_2_d.</a:t>
            </a:r>
            <a:endParaRPr lang="en-US" sz="1300" dirty="0"/>
          </a:p>
        </p:txBody>
      </p:sp>
      <p:sp>
        <p:nvSpPr>
          <p:cNvPr id="31" name="Text 29"/>
          <p:cNvSpPr txBox="1"/>
          <p:nvPr/>
        </p:nvSpPr>
        <p:spPr>
          <a:xfrm>
            <a:off x="8412480" y="1554480"/>
            <a:ext cx="3383280" cy="1097280"/>
          </a:xfrm>
          <a:prstGeom prst="rect">
            <a:avLst/>
          </a:prstGeom>
          <a:noFill/>
          <a:ln/>
        </p:spPr>
        <p:txBody>
          <a:bodyPr wrap="square" lIns="0" tIns="0" rIns="0" bIns="0" rtlCol="0" anchor="t"/>
          <a:lstStyle/>
          <a:p>
            <a:pPr indent="0" marL="0">
              <a:buNone/>
            </a:pPr>
            <a:r>
              <a:rPr lang="en-US" sz="3800" b="1" dirty="0">
                <a:solidFill>
                  <a:srgbClr val="1D4E89"/>
                </a:solidFill>
                <a:latin typeface="Calibri" pitchFamily="34" charset="0"/>
                <a:ea typeface="Calibri" pitchFamily="34" charset="-122"/>
                <a:cs typeface="Calibri" pitchFamily="34" charset="-120"/>
              </a:rPr>
              <a:t>11</a:t>
            </a:r>
            <a:endParaRPr lang="en-US" sz="1500" dirty="0"/>
          </a:p>
          <a:p>
            <a:pPr indent="0" marL="0">
              <a:buNone/>
            </a:pPr>
            <a:r>
              <a:rPr lang="en-US" sz="1500" dirty="0">
                <a:solidFill>
                  <a:srgbClr val="4B5563"/>
                </a:solidFill>
                <a:latin typeface="Calibri" pitchFamily="34" charset="0"/>
                <a:ea typeface="Calibri" pitchFamily="34" charset="-122"/>
                <a:cs typeface="Calibri" pitchFamily="34" charset="-120"/>
              </a:rPr>
              <a:t>recordings</a:t>
            </a:r>
            <a:endParaRPr lang="en-US" sz="1500" dirty="0"/>
          </a:p>
        </p:txBody>
      </p:sp>
      <p:sp>
        <p:nvSpPr>
          <p:cNvPr id="32" name="Text 30"/>
          <p:cNvSpPr txBox="1"/>
          <p:nvPr/>
        </p:nvSpPr>
        <p:spPr>
          <a:xfrm>
            <a:off x="8412480" y="2743200"/>
            <a:ext cx="3383280" cy="1097280"/>
          </a:xfrm>
          <a:prstGeom prst="rect">
            <a:avLst/>
          </a:prstGeom>
          <a:noFill/>
          <a:ln/>
        </p:spPr>
        <p:txBody>
          <a:bodyPr wrap="square" lIns="0" tIns="0" rIns="0" bIns="0" rtlCol="0" anchor="t"/>
          <a:lstStyle/>
          <a:p>
            <a:pPr indent="0" marL="0">
              <a:buNone/>
            </a:pPr>
            <a:r>
              <a:rPr lang="en-US" sz="3800" b="1" dirty="0">
                <a:solidFill>
                  <a:srgbClr val="1D4E89"/>
                </a:solidFill>
                <a:latin typeface="Calibri" pitchFamily="34" charset="0"/>
                <a:ea typeface="Calibri" pitchFamily="34" charset="-122"/>
                <a:cs typeface="Calibri" pitchFamily="34" charset="-120"/>
              </a:rPr>
              <a:t>7</a:t>
            </a:r>
            <a:endParaRPr lang="en-US" sz="1500" dirty="0"/>
          </a:p>
          <a:p>
            <a:pPr indent="0" marL="0">
              <a:buNone/>
            </a:pPr>
            <a:r>
              <a:rPr lang="en-US" sz="1500" dirty="0">
                <a:solidFill>
                  <a:srgbClr val="4B5563"/>
                </a:solidFill>
                <a:latin typeface="Calibri" pitchFamily="34" charset="0"/>
                <a:ea typeface="Calibri" pitchFamily="34" charset="-122"/>
                <a:cs typeface="Calibri" pitchFamily="34" charset="-120"/>
              </a:rPr>
              <a:t>cagemate pairs · cages 10, 11, 13, 14</a:t>
            </a:r>
            <a:endParaRPr lang="en-US" sz="1500" dirty="0"/>
          </a:p>
        </p:txBody>
      </p:sp>
      <p:sp>
        <p:nvSpPr>
          <p:cNvPr id="33" name="Text 31"/>
          <p:cNvSpPr txBox="1"/>
          <p:nvPr/>
        </p:nvSpPr>
        <p:spPr>
          <a:xfrm>
            <a:off x="8412480" y="3931920"/>
            <a:ext cx="3383280" cy="1097280"/>
          </a:xfrm>
          <a:prstGeom prst="rect">
            <a:avLst/>
          </a:prstGeom>
          <a:noFill/>
          <a:ln/>
        </p:spPr>
        <p:txBody>
          <a:bodyPr wrap="square" lIns="0" tIns="0" rIns="0" bIns="0" rtlCol="0" anchor="t"/>
          <a:lstStyle/>
          <a:p>
            <a:pPr indent="0" marL="0">
              <a:buNone/>
            </a:pPr>
            <a:r>
              <a:rPr lang="en-US" sz="3800" b="1" dirty="0">
                <a:solidFill>
                  <a:srgbClr val="1D4E89"/>
                </a:solidFill>
                <a:latin typeface="Calibri" pitchFamily="34" charset="0"/>
                <a:ea typeface="Calibri" pitchFamily="34" charset="-122"/>
                <a:cs typeface="Calibri" pitchFamily="34" charset="-120"/>
              </a:rPr>
              <a:t>3 of 7</a:t>
            </a:r>
            <a:endParaRPr lang="en-US" sz="1500" dirty="0"/>
          </a:p>
          <a:p>
            <a:pPr indent="0" marL="0">
              <a:buNone/>
            </a:pPr>
            <a:r>
              <a:rPr lang="en-US" sz="1500" dirty="0">
                <a:solidFill>
                  <a:srgbClr val="4B5563"/>
                </a:solidFill>
                <a:latin typeface="Calibri" pitchFamily="34" charset="0"/>
                <a:ea typeface="Calibri" pitchFamily="34" charset="-122"/>
                <a:cs typeface="Calibri" pitchFamily="34" charset="-120"/>
              </a:rPr>
              <a:t>pairs recorded from both mice</a:t>
            </a:r>
            <a:endParaRPr lang="en-US" sz="1500" dirty="0"/>
          </a:p>
        </p:txBody>
      </p:sp>
      <p:sp>
        <p:nvSpPr>
          <p:cNvPr id="34" name="Text 32"/>
          <p:cNvSpPr txBox="1"/>
          <p:nvPr/>
        </p:nvSpPr>
        <p:spPr>
          <a:xfrm>
            <a:off x="8412480" y="5120640"/>
            <a:ext cx="3383280" cy="1097280"/>
          </a:xfrm>
          <a:prstGeom prst="rect">
            <a:avLst/>
          </a:prstGeom>
          <a:noFill/>
          <a:ln/>
        </p:spPr>
        <p:txBody>
          <a:bodyPr wrap="square" lIns="0" tIns="0" rIns="0" bIns="0" rtlCol="0" anchor="t"/>
          <a:lstStyle/>
          <a:p>
            <a:pPr indent="0" marL="0">
              <a:buNone/>
            </a:pPr>
            <a:r>
              <a:rPr lang="en-US" sz="3800" b="1" dirty="0">
                <a:solidFill>
                  <a:srgbClr val="1D4E89"/>
                </a:solidFill>
                <a:latin typeface="Calibri" pitchFamily="34" charset="0"/>
                <a:ea typeface="Calibri" pitchFamily="34" charset="-122"/>
                <a:cs typeface="Calibri" pitchFamily="34" charset="-120"/>
              </a:rPr>
              <a:t>5 of 11</a:t>
            </a:r>
            <a:endParaRPr lang="en-US" sz="1500" dirty="0"/>
          </a:p>
          <a:p>
            <a:pPr indent="0" marL="0">
              <a:buNone/>
            </a:pPr>
            <a:r>
              <a:rPr lang="en-US" sz="1500" dirty="0">
                <a:solidFill>
                  <a:srgbClr val="4B5563"/>
                </a:solidFill>
                <a:latin typeface="Calibri" pitchFamily="34" charset="0"/>
                <a:ea typeface="Calibri" pitchFamily="34" charset="-122"/>
                <a:cs typeface="Calibri" pitchFamily="34" charset="-120"/>
              </a:rPr>
              <a:t>sessions have BORIS scoring</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11274552" cy="685800"/>
          </a:xfrm>
          <a:prstGeom prst="rect">
            <a:avLst/>
          </a:prstGeom>
          <a:noFill/>
          <a:ln/>
        </p:spPr>
        <p:txBody>
          <a:bodyPr wrap="square" lIns="0" tIns="0" rIns="0" bIns="0" rtlCol="0" anchor="ctr"/>
          <a:lstStyle/>
          <a:p>
            <a:pPr indent="0" marL="0">
              <a:buNone/>
            </a:pPr>
            <a:r>
              <a:rPr lang="en-US" sz="3200" b="1" dirty="0">
                <a:solidFill>
                  <a:srgbClr val="1F2937"/>
                </a:solidFill>
                <a:latin typeface="Calibri" pitchFamily="34" charset="0"/>
                <a:ea typeface="Calibri" pitchFamily="34" charset="-122"/>
                <a:cs typeface="Calibri" pitchFamily="34" charset="-120"/>
              </a:rPr>
              <a:t>Cagemate pairings and what data exists</a:t>
            </a:r>
            <a:endParaRPr lang="en-US" sz="3200" dirty="0"/>
          </a:p>
        </p:txBody>
      </p:sp>
      <p:sp>
        <p:nvSpPr>
          <p:cNvPr id="3" name="Text 1"/>
          <p:cNvSpPr txBox="1"/>
          <p:nvPr/>
        </p:nvSpPr>
        <p:spPr>
          <a:xfrm>
            <a:off x="457200" y="914400"/>
            <a:ext cx="11274552" cy="384048"/>
          </a:xfrm>
          <a:prstGeom prst="rect">
            <a:avLst/>
          </a:prstGeom>
          <a:noFill/>
          <a:ln/>
        </p:spPr>
        <p:txBody>
          <a:bodyPr wrap="square" lIns="0" tIns="0" rIns="0" bIns="0" rtlCol="0" anchor="ctr"/>
          <a:lstStyle/>
          <a:p>
            <a:pPr indent="0" marL="0">
              <a:buNone/>
            </a:pPr>
            <a:r>
              <a:rPr lang="en-US" sz="1700" dirty="0">
                <a:solidFill>
                  <a:srgbClr val="4B5563"/>
                </a:solidFill>
                <a:latin typeface="Calibri" pitchFamily="34" charset="0"/>
                <a:ea typeface="Calibri" pitchFamily="34" charset="-122"/>
                <a:cs typeface="Calibri" pitchFamily="34" charset="-120"/>
              </a:rPr>
              <a:t>Shaded rows: both mice of the pair were recorded</a:t>
            </a:r>
            <a:endParaRPr lang="en-US" sz="17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7200" y="1417320"/>
          <a:ext cx="6949440" cy="914400"/>
        </p:xfrm>
        <a:graphic>
          <a:graphicData uri="http://schemas.openxmlformats.org/drawingml/2006/table">
            <a:tbl>
              <a:tblPr/>
              <a:tblGrid>
                <a:gridCol w="640080"/>
                <a:gridCol w="960120"/>
                <a:gridCol w="640080"/>
                <a:gridCol w="1051560"/>
                <a:gridCol w="640080"/>
                <a:gridCol w="777240"/>
                <a:gridCol w="1371600"/>
                <a:gridCol w="868680"/>
              </a:tblGrid>
              <a:tr h="384048">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Cage</a:t>
                      </a:r>
                      <a:endParaRPr lang="en-US" sz="1400" dirty="0">
                        <a:latin typeface="Calibri" charset="0"/>
                        <a:ea typeface="Calibri" charset="0"/>
                        <a:cs typeface="Calibri" charset="0"/>
                      </a:endParaRPr>
                    </a:p>
                  </a:txBody>
                  <a:tcPr marL="36576" marR="36576" marT="18288" marB="18288"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solidFill>
                      <a:srgbClr val="1D4E89"/>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Recorded</a:t>
                      </a:r>
                      <a:endParaRPr lang="en-US" sz="1400" dirty="0">
                        <a:latin typeface="Calibri" charset="0"/>
                        <a:ea typeface="Calibri" charset="0"/>
                        <a:cs typeface="Calibri" charset="0"/>
                      </a:endParaRPr>
                    </a:p>
                  </a:txBody>
                  <a:tcPr marL="36576" marR="36576" marT="18288" marB="18288"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solidFill>
                      <a:srgbClr val="1D4E89"/>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Rank</a:t>
                      </a:r>
                      <a:endParaRPr lang="en-US" sz="1400" dirty="0">
                        <a:latin typeface="Calibri" charset="0"/>
                        <a:ea typeface="Calibri" charset="0"/>
                        <a:cs typeface="Calibri" charset="0"/>
                      </a:endParaRPr>
                    </a:p>
                  </a:txBody>
                  <a:tcPr marL="36576" marR="36576" marT="18288" marB="18288"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solidFill>
                      <a:srgbClr val="1D4E89"/>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Cagemate</a:t>
                      </a:r>
                      <a:endParaRPr lang="en-US" sz="1400" dirty="0">
                        <a:latin typeface="Calibri" charset="0"/>
                        <a:ea typeface="Calibri" charset="0"/>
                        <a:cs typeface="Calibri" charset="0"/>
                      </a:endParaRPr>
                    </a:p>
                  </a:txBody>
                  <a:tcPr marL="36576" marR="36576" marT="18288" marB="18288"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solidFill>
                      <a:srgbClr val="1D4E89"/>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Rank</a:t>
                      </a:r>
                      <a:endParaRPr lang="en-US" sz="1400" dirty="0">
                        <a:latin typeface="Calibri" charset="0"/>
                        <a:ea typeface="Calibri" charset="0"/>
                        <a:cs typeface="Calibri" charset="0"/>
                      </a:endParaRPr>
                    </a:p>
                  </a:txBody>
                  <a:tcPr marL="36576" marR="36576" marT="18288" marB="18288"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solidFill>
                      <a:srgbClr val="1D4E89"/>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Time</a:t>
                      </a:r>
                      <a:endParaRPr lang="en-US" sz="1400" dirty="0">
                        <a:latin typeface="Calibri" charset="0"/>
                        <a:ea typeface="Calibri" charset="0"/>
                        <a:cs typeface="Calibri" charset="0"/>
                      </a:endParaRPr>
                    </a:p>
                  </a:txBody>
                  <a:tcPr marL="36576" marR="36576" marT="18288" marB="18288"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solidFill>
                      <a:srgbClr val="1D4E89"/>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Respiration</a:t>
                      </a:r>
                      <a:endParaRPr lang="en-US" sz="1400" dirty="0">
                        <a:latin typeface="Calibri" charset="0"/>
                        <a:ea typeface="Calibri" charset="0"/>
                        <a:cs typeface="Calibri" charset="0"/>
                      </a:endParaRPr>
                    </a:p>
                  </a:txBody>
                  <a:tcPr marL="36576" marR="36576" marT="18288" marB="18288"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solidFill>
                      <a:srgbClr val="1D4E89"/>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BORIS</a:t>
                      </a:r>
                      <a:endParaRPr lang="en-US" sz="1400" dirty="0">
                        <a:latin typeface="Calibri" charset="0"/>
                        <a:ea typeface="Calibri" charset="0"/>
                        <a:cs typeface="Calibri" charset="0"/>
                      </a:endParaRPr>
                    </a:p>
                  </a:txBody>
                  <a:tcPr marL="36576" marR="36576" marT="18288" marB="18288"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solidFill>
                      <a:srgbClr val="1D4E89"/>
                    </a:solidFill>
                  </a:tcPr>
                </a:tc>
              </a:tr>
              <a:tr h="384048">
                <a:tc rowSpan="2">
                  <a:txBody>
                    <a:bodyPr/>
                    <a:lstStyle/>
                    <a:p>
                      <a:pPr algn="ctr" indent="0" marL="0">
                        <a:buNone/>
                      </a:pPr>
                      <a:r>
                        <a:rPr lang="en-US" sz="1400" dirty="0">
                          <a:solidFill>
                            <a:srgbClr val="1F2937"/>
                          </a:solidFill>
                          <a:latin typeface="Calibri" pitchFamily="34" charset="0"/>
                          <a:ea typeface="Calibri" pitchFamily="34" charset="-122"/>
                          <a:cs typeface="Calibri" pitchFamily="34" charset="-120"/>
                        </a:rPr>
                        <a:t>10</a:t>
                      </a:r>
                      <a:endParaRPr lang="en-US" sz="1400" dirty="0">
                        <a:latin typeface="Calibri" charset="0"/>
                        <a:ea typeface="Calibri" charset="0"/>
                        <a:cs typeface="Calibri" charset="0"/>
                      </a:endParaRPr>
                    </a:p>
                  </a:txBody>
                  <a:tcPr marL="36576" marR="36576" marT="18288" marB="18288"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tc>
                  <a:txBody>
                    <a:bodyPr/>
                    <a:lstStyle/>
                    <a:p>
                      <a:pPr algn="ctr" indent="0" marL="0">
                        <a:buNone/>
                      </a:pPr>
                      <a:r>
                        <a:rPr lang="en-US" sz="1400" dirty="0">
                          <a:solidFill>
                            <a:srgbClr val="1F2937"/>
                          </a:solidFill>
                          <a:latin typeface="Calibri" pitchFamily="34" charset="0"/>
                          <a:ea typeface="Calibri" pitchFamily="34" charset="-122"/>
                          <a:cs typeface="Calibri" pitchFamily="34" charset="-120"/>
                        </a:rPr>
                        <a:t>10.2</a:t>
                      </a:r>
                      <a:endParaRPr lang="en-US" sz="1400" dirty="0">
                        <a:latin typeface="Calibri" charset="0"/>
                        <a:ea typeface="Calibri" charset="0"/>
                        <a:cs typeface="Calibri" charset="0"/>
                      </a:endParaRPr>
                    </a:p>
                  </a:txBody>
                  <a:tcPr marL="36576" marR="36576" marT="18288" marB="18288"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tc>
                  <a:txBody>
                    <a:bodyPr/>
                    <a:lstStyle/>
                    <a:p>
                      <a:pPr algn="ctr" indent="0" marL="0">
                        <a:buNone/>
                      </a:pPr>
                      <a:r>
                        <a:rPr lang="en-US" sz="1400" dirty="0">
                          <a:solidFill>
                            <a:srgbClr val="1F2937"/>
                          </a:solidFill>
                          <a:latin typeface="Calibri" pitchFamily="34" charset="0"/>
                          <a:ea typeface="Calibri" pitchFamily="34" charset="-122"/>
                          <a:cs typeface="Calibri" pitchFamily="34" charset="-120"/>
                        </a:rPr>
                        <a:t>D</a:t>
                      </a:r>
                      <a:endParaRPr lang="en-US" sz="1400" dirty="0">
                        <a:latin typeface="Calibri" charset="0"/>
                        <a:ea typeface="Calibri" charset="0"/>
                        <a:cs typeface="Calibri" charset="0"/>
                      </a:endParaRPr>
                    </a:p>
                  </a:txBody>
                  <a:tcPr marL="36576" marR="36576" marT="18288" marB="18288"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tc>
                  <a:txBody>
                    <a:bodyPr/>
                    <a:lstStyle/>
                    <a:p>
                      <a:pPr algn="ctr" indent="0" marL="0">
                        <a:buNone/>
                      </a:pPr>
                      <a:r>
                        <a:rPr lang="en-US" sz="1400" dirty="0">
                          <a:solidFill>
                            <a:srgbClr val="1F2937"/>
                          </a:solidFill>
                          <a:latin typeface="Calibri" pitchFamily="34" charset="0"/>
                          <a:ea typeface="Calibri" pitchFamily="34" charset="-122"/>
                          <a:cs typeface="Calibri" pitchFamily="34" charset="-120"/>
                        </a:rPr>
                        <a:t>10.1</a:t>
                      </a:r>
                      <a:endParaRPr lang="en-US" sz="1400" dirty="0">
                        <a:latin typeface="Calibri" charset="0"/>
                        <a:ea typeface="Calibri" charset="0"/>
                        <a:cs typeface="Calibri" charset="0"/>
                      </a:endParaRPr>
                    </a:p>
                  </a:txBody>
                  <a:tcPr marL="36576" marR="36576" marT="18288" marB="18288"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tc>
                  <a:txBody>
                    <a:bodyPr/>
                    <a:lstStyle/>
                    <a:p>
                      <a:pPr algn="ctr" indent="0" marL="0">
                        <a:buNone/>
                      </a:pPr>
                      <a:r>
                        <a:rPr lang="en-US" sz="1400" dirty="0">
                          <a:solidFill>
                            <a:srgbClr val="1F2937"/>
                          </a:solidFill>
                          <a:latin typeface="Calibri" pitchFamily="34" charset="0"/>
                          <a:ea typeface="Calibri" pitchFamily="34" charset="-122"/>
                          <a:cs typeface="Calibri" pitchFamily="34" charset="-120"/>
                        </a:rPr>
                        <a:t>S</a:t>
                      </a:r>
                      <a:endParaRPr lang="en-US" sz="1400" dirty="0">
                        <a:latin typeface="Calibri" charset="0"/>
                        <a:ea typeface="Calibri" charset="0"/>
                        <a:cs typeface="Calibri" charset="0"/>
                      </a:endParaRPr>
                    </a:p>
                  </a:txBody>
                  <a:tcPr marL="36576" marR="36576" marT="18288" marB="18288"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tc>
                  <a:txBody>
                    <a:bodyPr/>
                    <a:lstStyle/>
                    <a:p>
                      <a:pPr algn="ctr" indent="0" marL="0">
                        <a:buNone/>
                      </a:pPr>
                      <a:r>
                        <a:rPr lang="en-US" sz="1400" dirty="0">
                          <a:solidFill>
                            <a:srgbClr val="1F2937"/>
                          </a:solidFill>
                          <a:latin typeface="Calibri" pitchFamily="34" charset="0"/>
                          <a:ea typeface="Calibri" pitchFamily="34" charset="-122"/>
                          <a:cs typeface="Calibri" pitchFamily="34" charset="-120"/>
                        </a:rPr>
                        <a:t>11:44</a:t>
                      </a:r>
                      <a:endParaRPr lang="en-US" sz="1400" dirty="0">
                        <a:latin typeface="Calibri" charset="0"/>
                        <a:ea typeface="Calibri" charset="0"/>
                        <a:cs typeface="Calibri" charset="0"/>
                      </a:endParaRPr>
                    </a:p>
                  </a:txBody>
                  <a:tcPr marL="36576" marR="36576" marT="18288" marB="18288"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tc>
                  <a:txBody>
                    <a:bodyPr/>
                    <a:lstStyle/>
                    <a:p>
                      <a:pPr algn="ctr" indent="0" marL="0">
                        <a:buNone/>
                      </a:pPr>
                      <a:r>
                        <a:rPr lang="en-US" sz="1400" b="1" dirty="0">
                          <a:solidFill>
                            <a:srgbClr val="1F2937"/>
                          </a:solidFill>
                          <a:latin typeface="Calibri" pitchFamily="34" charset="0"/>
                          <a:ea typeface="Calibri" pitchFamily="34" charset="-122"/>
                          <a:cs typeface="Calibri" pitchFamily="34" charset="-120"/>
                        </a:rPr>
                        <a:t>Bad</a:t>
                      </a:r>
                      <a:endParaRPr lang="en-US" sz="1400" dirty="0">
                        <a:latin typeface="Calibri" charset="0"/>
                        <a:ea typeface="Calibri" charset="0"/>
                        <a:cs typeface="Calibri" charset="0"/>
                      </a:endParaRPr>
                    </a:p>
                  </a:txBody>
                  <a:tcPr marL="36576" marR="36576" marT="18288" marB="18288"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solidFill>
                      <a:srgbClr val="F8DCD9"/>
                    </a:solidFill>
                  </a:tcPr>
                </a:tc>
                <a:tc>
                  <a:txBody>
                    <a:bodyPr/>
                    <a:lstStyle/>
                    <a:p>
                      <a:pPr algn="ctr" indent="0" marL="0">
                        <a:buNone/>
                      </a:pPr>
                      <a:endParaRPr lang="en-US" sz="1400" dirty="0">
                        <a:latin typeface="Calibri" charset="0"/>
                        <a:ea typeface="Calibri" charset="0"/>
                        <a:cs typeface="Calibri" charset="0"/>
                      </a:endParaRPr>
                    </a:p>
                  </a:txBody>
                  <a:tcPr marL="36576" marR="36576" marT="18288" marB="18288"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tr>
              <a:tr h="384048">
                <a:tc vMerge="1">
                  <a:tcPr/>
                </a:tc>
                <a:tc>
                  <a:txBody>
                    <a:bodyPr/>
                    <a:lstStyle/>
                    <a:p>
                      <a:pPr algn="ctr" indent="0" marL="0">
                        <a:buNone/>
                      </a:pPr>
                      <a:r>
                        <a:rPr lang="en-US" sz="1400" dirty="0">
                          <a:solidFill>
                            <a:srgbClr val="1F2937"/>
                          </a:solidFill>
                          <a:latin typeface="Calibri" pitchFamily="34" charset="0"/>
                          <a:ea typeface="Calibri" pitchFamily="34" charset="-122"/>
                          <a:cs typeface="Calibri" pitchFamily="34" charset="-120"/>
                        </a:rPr>
                        <a:t>10.3</a:t>
                      </a:r>
                      <a:endParaRPr lang="en-US" sz="1400" dirty="0">
                        <a:latin typeface="Calibri" charset="0"/>
                        <a:ea typeface="Calibri" charset="0"/>
                        <a:cs typeface="Calibri" charset="0"/>
                      </a:endParaRPr>
                    </a:p>
                  </a:txBody>
                  <a:tcPr marL="36576" marR="36576" marT="18288" marB="18288"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tc>
                  <a:txBody>
                    <a:bodyPr/>
                    <a:lstStyle/>
                    <a:p>
                      <a:pPr algn="ctr" indent="0" marL="0">
                        <a:buNone/>
                      </a:pPr>
                      <a:r>
                        <a:rPr lang="en-US" sz="1400" dirty="0">
                          <a:solidFill>
                            <a:srgbClr val="1F2937"/>
                          </a:solidFill>
                          <a:latin typeface="Calibri" pitchFamily="34" charset="0"/>
                          <a:ea typeface="Calibri" pitchFamily="34" charset="-122"/>
                          <a:cs typeface="Calibri" pitchFamily="34" charset="-120"/>
                        </a:rPr>
                        <a:t>S</a:t>
                      </a:r>
                      <a:endParaRPr lang="en-US" sz="1400" dirty="0">
                        <a:latin typeface="Calibri" charset="0"/>
                        <a:ea typeface="Calibri" charset="0"/>
                        <a:cs typeface="Calibri" charset="0"/>
                      </a:endParaRPr>
                    </a:p>
                  </a:txBody>
                  <a:tcPr marL="36576" marR="36576" marT="18288" marB="18288"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tc>
                  <a:txBody>
                    <a:bodyPr/>
                    <a:lstStyle/>
                    <a:p>
                      <a:pPr algn="ctr" indent="0" marL="0">
                        <a:buNone/>
                      </a:pPr>
                      <a:r>
                        <a:rPr lang="en-US" sz="1400" dirty="0">
                          <a:solidFill>
                            <a:srgbClr val="1F2937"/>
                          </a:solidFill>
                          <a:latin typeface="Calibri" pitchFamily="34" charset="0"/>
                          <a:ea typeface="Calibri" pitchFamily="34" charset="-122"/>
                          <a:cs typeface="Calibri" pitchFamily="34" charset="-120"/>
                        </a:rPr>
                        <a:t>10.2</a:t>
                      </a:r>
                      <a:endParaRPr lang="en-US" sz="1400" dirty="0">
                        <a:latin typeface="Calibri" charset="0"/>
                        <a:ea typeface="Calibri" charset="0"/>
                        <a:cs typeface="Calibri" charset="0"/>
                      </a:endParaRPr>
                    </a:p>
                  </a:txBody>
                  <a:tcPr marL="36576" marR="36576" marT="18288" marB="18288"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tc>
                  <a:txBody>
                    <a:bodyPr/>
                    <a:lstStyle/>
                    <a:p>
                      <a:pPr algn="ctr" indent="0" marL="0">
                        <a:buNone/>
                      </a:pPr>
                      <a:r>
                        <a:rPr lang="en-US" sz="1400" dirty="0">
                          <a:solidFill>
                            <a:srgbClr val="1F2937"/>
                          </a:solidFill>
                          <a:latin typeface="Calibri" pitchFamily="34" charset="0"/>
                          <a:ea typeface="Calibri" pitchFamily="34" charset="-122"/>
                          <a:cs typeface="Calibri" pitchFamily="34" charset="-120"/>
                        </a:rPr>
                        <a:t>D</a:t>
                      </a:r>
                      <a:endParaRPr lang="en-US" sz="1400" dirty="0">
                        <a:latin typeface="Calibri" charset="0"/>
                        <a:ea typeface="Calibri" charset="0"/>
                        <a:cs typeface="Calibri" charset="0"/>
                      </a:endParaRPr>
                    </a:p>
                  </a:txBody>
                  <a:tcPr marL="36576" marR="36576" marT="18288" marB="18288"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tc>
                  <a:txBody>
                    <a:bodyPr/>
                    <a:lstStyle/>
                    <a:p>
                      <a:pPr algn="ctr" indent="0" marL="0">
                        <a:buNone/>
                      </a:pPr>
                      <a:r>
                        <a:rPr lang="en-US" sz="1400" dirty="0">
                          <a:solidFill>
                            <a:srgbClr val="1F2937"/>
                          </a:solidFill>
                          <a:latin typeface="Calibri" pitchFamily="34" charset="0"/>
                          <a:ea typeface="Calibri" pitchFamily="34" charset="-122"/>
                          <a:cs typeface="Calibri" pitchFamily="34" charset="-120"/>
                        </a:rPr>
                        <a:t>17:41</a:t>
                      </a:r>
                      <a:endParaRPr lang="en-US" sz="1400" dirty="0">
                        <a:latin typeface="Calibri" charset="0"/>
                        <a:ea typeface="Calibri" charset="0"/>
                        <a:cs typeface="Calibri" charset="0"/>
                      </a:endParaRPr>
                    </a:p>
                  </a:txBody>
                  <a:tcPr marL="36576" marR="36576" marT="18288" marB="18288"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tc>
                  <a:txBody>
                    <a:bodyPr/>
                    <a:lstStyle/>
                    <a:p>
                      <a:pPr algn="ctr" indent="0" marL="0">
                        <a:buNone/>
                      </a:pPr>
                      <a:r>
                        <a:rPr lang="en-US" sz="1400" b="1" dirty="0">
                          <a:solidFill>
                            <a:srgbClr val="1F2937"/>
                          </a:solidFill>
                          <a:latin typeface="Calibri" pitchFamily="34" charset="0"/>
                          <a:ea typeface="Calibri" pitchFamily="34" charset="-122"/>
                          <a:cs typeface="Calibri" pitchFamily="34" charset="-120"/>
                        </a:rPr>
                        <a:t>Good</a:t>
                      </a:r>
                      <a:endParaRPr lang="en-US" sz="1400" dirty="0">
                        <a:latin typeface="Calibri" charset="0"/>
                        <a:ea typeface="Calibri" charset="0"/>
                        <a:cs typeface="Calibri" charset="0"/>
                      </a:endParaRPr>
                    </a:p>
                  </a:txBody>
                  <a:tcPr marL="36576" marR="36576" marT="18288" marB="18288"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solidFill>
                      <a:srgbClr val="DDEFE3"/>
                    </a:solidFill>
                  </a:tcPr>
                </a:tc>
                <a:tc>
                  <a:txBody>
                    <a:bodyPr/>
                    <a:lstStyle/>
                    <a:p>
                      <a:pPr algn="ctr" indent="0" marL="0">
                        <a:buNone/>
                      </a:pPr>
                      <a:endParaRPr lang="en-US" sz="1400" dirty="0">
                        <a:latin typeface="Calibri" charset="0"/>
                        <a:ea typeface="Calibri" charset="0"/>
                        <a:cs typeface="Calibri" charset="0"/>
                      </a:endParaRPr>
                    </a:p>
                  </a:txBody>
                  <a:tcPr marL="36576" marR="36576" marT="18288" marB="18288"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tr>
              <a:tr h="384048">
                <a:tc rowSpan="3">
                  <a:txBody>
                    <a:bodyPr/>
                    <a:lstStyle/>
                    <a:p>
                      <a:pPr algn="ctr" indent="0" marL="0">
                        <a:buNone/>
                      </a:pPr>
                      <a:r>
                        <a:rPr lang="en-US" sz="1400" dirty="0">
                          <a:solidFill>
                            <a:srgbClr val="1F2937"/>
                          </a:solidFill>
                          <a:latin typeface="Calibri" pitchFamily="34" charset="0"/>
                          <a:ea typeface="Calibri" pitchFamily="34" charset="-122"/>
                          <a:cs typeface="Calibri" pitchFamily="34" charset="-120"/>
                        </a:rPr>
                        <a:t>11</a:t>
                      </a:r>
                      <a:endParaRPr lang="en-US" sz="1400" dirty="0">
                        <a:latin typeface="Calibri" charset="0"/>
                        <a:ea typeface="Calibri" charset="0"/>
                        <a:cs typeface="Calibri" charset="0"/>
                      </a:endParaRPr>
                    </a:p>
                  </a:txBody>
                  <a:tcPr marL="36576" marR="36576" marT="18288" marB="18288"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tc>
                  <a:txBody>
                    <a:bodyPr/>
                    <a:lstStyle/>
                    <a:p>
                      <a:pPr algn="ctr" indent="0" marL="0">
                        <a:buNone/>
                      </a:pPr>
                      <a:r>
                        <a:rPr lang="en-US" sz="1400" dirty="0">
                          <a:solidFill>
                            <a:srgbClr val="1F2937"/>
                          </a:solidFill>
                          <a:latin typeface="Calibri" pitchFamily="34" charset="0"/>
                          <a:ea typeface="Calibri" pitchFamily="34" charset="-122"/>
                          <a:cs typeface="Calibri" pitchFamily="34" charset="-120"/>
                        </a:rPr>
                        <a:t>11.2</a:t>
                      </a:r>
                      <a:endParaRPr lang="en-US" sz="1400" dirty="0">
                        <a:latin typeface="Calibri" charset="0"/>
                        <a:ea typeface="Calibri" charset="0"/>
                        <a:cs typeface="Calibri" charset="0"/>
                      </a:endParaRPr>
                    </a:p>
                  </a:txBody>
                  <a:tcPr marL="36576" marR="36576" marT="18288" marB="18288"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tc>
                  <a:txBody>
                    <a:bodyPr/>
                    <a:lstStyle/>
                    <a:p>
                      <a:pPr algn="ctr" indent="0" marL="0">
                        <a:buNone/>
                      </a:pPr>
                      <a:r>
                        <a:rPr lang="en-US" sz="1400" dirty="0">
                          <a:solidFill>
                            <a:srgbClr val="1F2937"/>
                          </a:solidFill>
                          <a:latin typeface="Calibri" pitchFamily="34" charset="0"/>
                          <a:ea typeface="Calibri" pitchFamily="34" charset="-122"/>
                          <a:cs typeface="Calibri" pitchFamily="34" charset="-120"/>
                        </a:rPr>
                        <a:t>S</a:t>
                      </a:r>
                      <a:endParaRPr lang="en-US" sz="1400" dirty="0">
                        <a:latin typeface="Calibri" charset="0"/>
                        <a:ea typeface="Calibri" charset="0"/>
                        <a:cs typeface="Calibri" charset="0"/>
                      </a:endParaRPr>
                    </a:p>
                  </a:txBody>
                  <a:tcPr marL="36576" marR="36576" marT="18288" marB="18288"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tc>
                  <a:txBody>
                    <a:bodyPr/>
                    <a:lstStyle/>
                    <a:p>
                      <a:pPr algn="ctr" indent="0" marL="0">
                        <a:buNone/>
                      </a:pPr>
                      <a:r>
                        <a:rPr lang="en-US" sz="1400" dirty="0">
                          <a:solidFill>
                            <a:srgbClr val="1F2937"/>
                          </a:solidFill>
                          <a:latin typeface="Calibri" pitchFamily="34" charset="0"/>
                          <a:ea typeface="Calibri" pitchFamily="34" charset="-122"/>
                          <a:cs typeface="Calibri" pitchFamily="34" charset="-120"/>
                        </a:rPr>
                        <a:t>11.4</a:t>
                      </a:r>
                      <a:endParaRPr lang="en-US" sz="1400" dirty="0">
                        <a:latin typeface="Calibri" charset="0"/>
                        <a:ea typeface="Calibri" charset="0"/>
                        <a:cs typeface="Calibri" charset="0"/>
                      </a:endParaRPr>
                    </a:p>
                  </a:txBody>
                  <a:tcPr marL="36576" marR="36576" marT="18288" marB="18288"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tc>
                  <a:txBody>
                    <a:bodyPr/>
                    <a:lstStyle/>
                    <a:p>
                      <a:pPr algn="ctr" indent="0" marL="0">
                        <a:buNone/>
                      </a:pPr>
                      <a:r>
                        <a:rPr lang="en-US" sz="1400" dirty="0">
                          <a:solidFill>
                            <a:srgbClr val="1F2937"/>
                          </a:solidFill>
                          <a:latin typeface="Calibri" pitchFamily="34" charset="0"/>
                          <a:ea typeface="Calibri" pitchFamily="34" charset="-122"/>
                          <a:cs typeface="Calibri" pitchFamily="34" charset="-120"/>
                        </a:rPr>
                        <a:t>D</a:t>
                      </a:r>
                      <a:endParaRPr lang="en-US" sz="1400" dirty="0">
                        <a:latin typeface="Calibri" charset="0"/>
                        <a:ea typeface="Calibri" charset="0"/>
                        <a:cs typeface="Calibri" charset="0"/>
                      </a:endParaRPr>
                    </a:p>
                  </a:txBody>
                  <a:tcPr marL="36576" marR="36576" marT="18288" marB="18288"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tc>
                  <a:txBody>
                    <a:bodyPr/>
                    <a:lstStyle/>
                    <a:p>
                      <a:pPr algn="ctr" indent="0" marL="0">
                        <a:buNone/>
                      </a:pPr>
                      <a:r>
                        <a:rPr lang="en-US" sz="1400" dirty="0">
                          <a:solidFill>
                            <a:srgbClr val="1F2937"/>
                          </a:solidFill>
                          <a:latin typeface="Calibri" pitchFamily="34" charset="0"/>
                          <a:ea typeface="Calibri" pitchFamily="34" charset="-122"/>
                          <a:cs typeface="Calibri" pitchFamily="34" charset="-120"/>
                        </a:rPr>
                        <a:t>17:23</a:t>
                      </a:r>
                      <a:endParaRPr lang="en-US" sz="1400" dirty="0">
                        <a:latin typeface="Calibri" charset="0"/>
                        <a:ea typeface="Calibri" charset="0"/>
                        <a:cs typeface="Calibri" charset="0"/>
                      </a:endParaRPr>
                    </a:p>
                  </a:txBody>
                  <a:tcPr marL="36576" marR="36576" marT="18288" marB="18288"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tc>
                  <a:txBody>
                    <a:bodyPr/>
                    <a:lstStyle/>
                    <a:p>
                      <a:pPr algn="ctr" indent="0" marL="0">
                        <a:buNone/>
                      </a:pPr>
                      <a:r>
                        <a:rPr lang="en-US" sz="1400" b="1" dirty="0">
                          <a:solidFill>
                            <a:srgbClr val="1F2937"/>
                          </a:solidFill>
                          <a:latin typeface="Calibri" pitchFamily="34" charset="0"/>
                          <a:ea typeface="Calibri" pitchFamily="34" charset="-122"/>
                          <a:cs typeface="Calibri" pitchFamily="34" charset="-120"/>
                        </a:rPr>
                        <a:t>Somewhat bad</a:t>
                      </a:r>
                      <a:endParaRPr lang="en-US" sz="1400" dirty="0">
                        <a:latin typeface="Calibri" charset="0"/>
                        <a:ea typeface="Calibri" charset="0"/>
                        <a:cs typeface="Calibri" charset="0"/>
                      </a:endParaRPr>
                    </a:p>
                  </a:txBody>
                  <a:tcPr marL="36576" marR="36576" marT="18288" marB="18288"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solidFill>
                      <a:srgbClr val="FCEFD5"/>
                    </a:solidFill>
                  </a:tcPr>
                </a:tc>
                <a:tc>
                  <a:txBody>
                    <a:bodyPr/>
                    <a:lstStyle/>
                    <a:p>
                      <a:pPr algn="ctr" indent="0" marL="0">
                        <a:buNone/>
                      </a:pPr>
                      <a:endParaRPr lang="en-US" sz="1400" dirty="0">
                        <a:latin typeface="Calibri" charset="0"/>
                        <a:ea typeface="Calibri" charset="0"/>
                        <a:cs typeface="Calibri" charset="0"/>
                      </a:endParaRPr>
                    </a:p>
                  </a:txBody>
                  <a:tcPr marL="36576" marR="36576" marT="18288" marB="18288"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tr>
              <a:tr h="384048">
                <a:tc vMerge="1">
                  <a:tcPr/>
                </a:tc>
                <a:tc>
                  <a:txBody>
                    <a:bodyPr/>
                    <a:lstStyle/>
                    <a:p>
                      <a:pPr algn="ctr" indent="0" marL="0">
                        <a:buNone/>
                      </a:pPr>
                      <a:r>
                        <a:rPr lang="en-US" sz="1400" dirty="0">
                          <a:solidFill>
                            <a:srgbClr val="1F2937"/>
                          </a:solidFill>
                          <a:latin typeface="Calibri" pitchFamily="34" charset="0"/>
                          <a:ea typeface="Calibri" pitchFamily="34" charset="-122"/>
                          <a:cs typeface="Calibri" pitchFamily="34" charset="-120"/>
                        </a:rPr>
                        <a:t>11.3</a:t>
                      </a:r>
                      <a:endParaRPr lang="en-US" sz="1400" dirty="0">
                        <a:latin typeface="Calibri" charset="0"/>
                        <a:ea typeface="Calibri" charset="0"/>
                        <a:cs typeface="Calibri" charset="0"/>
                      </a:endParaRPr>
                    </a:p>
                  </a:txBody>
                  <a:tcPr marL="36576" marR="36576" marT="18288" marB="18288"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solidFill>
                      <a:srgbClr val="F4F1FA"/>
                    </a:solidFill>
                  </a:tcPr>
                </a:tc>
                <a:tc>
                  <a:txBody>
                    <a:bodyPr/>
                    <a:lstStyle/>
                    <a:p>
                      <a:pPr algn="ctr" indent="0" marL="0">
                        <a:buNone/>
                      </a:pPr>
                      <a:r>
                        <a:rPr lang="en-US" sz="1400" dirty="0">
                          <a:solidFill>
                            <a:srgbClr val="1F2937"/>
                          </a:solidFill>
                          <a:latin typeface="Calibri" pitchFamily="34" charset="0"/>
                          <a:ea typeface="Calibri" pitchFamily="34" charset="-122"/>
                          <a:cs typeface="Calibri" pitchFamily="34" charset="-120"/>
                        </a:rPr>
                        <a:t>S</a:t>
                      </a:r>
                      <a:endParaRPr lang="en-US" sz="1400" dirty="0">
                        <a:latin typeface="Calibri" charset="0"/>
                        <a:ea typeface="Calibri" charset="0"/>
                        <a:cs typeface="Calibri" charset="0"/>
                      </a:endParaRPr>
                    </a:p>
                  </a:txBody>
                  <a:tcPr marL="36576" marR="36576" marT="18288" marB="18288"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solidFill>
                      <a:srgbClr val="F4F1FA"/>
                    </a:solidFill>
                  </a:tcPr>
                </a:tc>
                <a:tc>
                  <a:txBody>
                    <a:bodyPr/>
                    <a:lstStyle/>
                    <a:p>
                      <a:pPr algn="ctr" indent="0" marL="0">
                        <a:buNone/>
                      </a:pPr>
                      <a:r>
                        <a:rPr lang="en-US" sz="1400" dirty="0">
                          <a:solidFill>
                            <a:srgbClr val="1F2937"/>
                          </a:solidFill>
                          <a:latin typeface="Calibri" pitchFamily="34" charset="0"/>
                          <a:ea typeface="Calibri" pitchFamily="34" charset="-122"/>
                          <a:cs typeface="Calibri" pitchFamily="34" charset="-120"/>
                        </a:rPr>
                        <a:t>11.4</a:t>
                      </a:r>
                      <a:endParaRPr lang="en-US" sz="1400" dirty="0">
                        <a:latin typeface="Calibri" charset="0"/>
                        <a:ea typeface="Calibri" charset="0"/>
                        <a:cs typeface="Calibri" charset="0"/>
                      </a:endParaRPr>
                    </a:p>
                  </a:txBody>
                  <a:tcPr marL="36576" marR="36576" marT="18288" marB="18288"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solidFill>
                      <a:srgbClr val="F4F1FA"/>
                    </a:solidFill>
                  </a:tcPr>
                </a:tc>
                <a:tc>
                  <a:txBody>
                    <a:bodyPr/>
                    <a:lstStyle/>
                    <a:p>
                      <a:pPr algn="ctr" indent="0" marL="0">
                        <a:buNone/>
                      </a:pPr>
                      <a:r>
                        <a:rPr lang="en-US" sz="1400" dirty="0">
                          <a:solidFill>
                            <a:srgbClr val="1F2937"/>
                          </a:solidFill>
                          <a:latin typeface="Calibri" pitchFamily="34" charset="0"/>
                          <a:ea typeface="Calibri" pitchFamily="34" charset="-122"/>
                          <a:cs typeface="Calibri" pitchFamily="34" charset="-120"/>
                        </a:rPr>
                        <a:t>D</a:t>
                      </a:r>
                      <a:endParaRPr lang="en-US" sz="1400" dirty="0">
                        <a:latin typeface="Calibri" charset="0"/>
                        <a:ea typeface="Calibri" charset="0"/>
                        <a:cs typeface="Calibri" charset="0"/>
                      </a:endParaRPr>
                    </a:p>
                  </a:txBody>
                  <a:tcPr marL="36576" marR="36576" marT="18288" marB="18288"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solidFill>
                      <a:srgbClr val="F4F1FA"/>
                    </a:solidFill>
                  </a:tcPr>
                </a:tc>
                <a:tc>
                  <a:txBody>
                    <a:bodyPr/>
                    <a:lstStyle/>
                    <a:p>
                      <a:pPr algn="ctr" indent="0" marL="0">
                        <a:buNone/>
                      </a:pPr>
                      <a:r>
                        <a:rPr lang="en-US" sz="1400" dirty="0">
                          <a:solidFill>
                            <a:srgbClr val="1F2937"/>
                          </a:solidFill>
                          <a:latin typeface="Calibri" pitchFamily="34" charset="0"/>
                          <a:ea typeface="Calibri" pitchFamily="34" charset="-122"/>
                          <a:cs typeface="Calibri" pitchFamily="34" charset="-120"/>
                        </a:rPr>
                        <a:t>12:20</a:t>
                      </a:r>
                      <a:endParaRPr lang="en-US" sz="1400" dirty="0">
                        <a:latin typeface="Calibri" charset="0"/>
                        <a:ea typeface="Calibri" charset="0"/>
                        <a:cs typeface="Calibri" charset="0"/>
                      </a:endParaRPr>
                    </a:p>
                  </a:txBody>
                  <a:tcPr marL="36576" marR="36576" marT="18288" marB="18288"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solidFill>
                      <a:srgbClr val="F4F1FA"/>
                    </a:solidFill>
                  </a:tcPr>
                </a:tc>
                <a:tc>
                  <a:txBody>
                    <a:bodyPr/>
                    <a:lstStyle/>
                    <a:p>
                      <a:pPr algn="ctr" indent="0" marL="0">
                        <a:buNone/>
                      </a:pPr>
                      <a:r>
                        <a:rPr lang="en-US" sz="1400" b="1" dirty="0">
                          <a:solidFill>
                            <a:srgbClr val="1F2937"/>
                          </a:solidFill>
                          <a:latin typeface="Calibri" pitchFamily="34" charset="0"/>
                          <a:ea typeface="Calibri" pitchFamily="34" charset="-122"/>
                          <a:cs typeface="Calibri" pitchFamily="34" charset="-120"/>
                        </a:rPr>
                        <a:t>Bad</a:t>
                      </a:r>
                      <a:endParaRPr lang="en-US" sz="1400" dirty="0">
                        <a:latin typeface="Calibri" charset="0"/>
                        <a:ea typeface="Calibri" charset="0"/>
                        <a:cs typeface="Calibri" charset="0"/>
                      </a:endParaRPr>
                    </a:p>
                  </a:txBody>
                  <a:tcPr marL="36576" marR="36576" marT="18288" marB="18288"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solidFill>
                      <a:srgbClr val="F8DCD9"/>
                    </a:solidFill>
                  </a:tcPr>
                </a:tc>
                <a:tc>
                  <a:txBody>
                    <a:bodyPr/>
                    <a:lstStyle/>
                    <a:p>
                      <a:pPr algn="ctr" indent="0" marL="0">
                        <a:buNone/>
                      </a:pPr>
                      <a:endParaRPr lang="en-US" sz="1400" dirty="0">
                        <a:latin typeface="Calibri" charset="0"/>
                        <a:ea typeface="Calibri" charset="0"/>
                        <a:cs typeface="Calibri" charset="0"/>
                      </a:endParaRPr>
                    </a:p>
                  </a:txBody>
                  <a:tcPr marL="36576" marR="36576" marT="18288" marB="18288"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solidFill>
                      <a:srgbClr val="F4F1FA"/>
                    </a:solidFill>
                  </a:tcPr>
                </a:tc>
              </a:tr>
              <a:tr h="384048">
                <a:tc vMerge="1">
                  <a:tcPr/>
                </a:tc>
                <a:tc>
                  <a:txBody>
                    <a:bodyPr/>
                    <a:lstStyle/>
                    <a:p>
                      <a:pPr algn="ctr" indent="0" marL="0">
                        <a:buNone/>
                      </a:pPr>
                      <a:r>
                        <a:rPr lang="en-US" sz="1400" dirty="0">
                          <a:solidFill>
                            <a:srgbClr val="1F2937"/>
                          </a:solidFill>
                          <a:latin typeface="Calibri" pitchFamily="34" charset="0"/>
                          <a:ea typeface="Calibri" pitchFamily="34" charset="-122"/>
                          <a:cs typeface="Calibri" pitchFamily="34" charset="-120"/>
                        </a:rPr>
                        <a:t>11.4</a:t>
                      </a:r>
                      <a:endParaRPr lang="en-US" sz="1400" dirty="0">
                        <a:latin typeface="Calibri" charset="0"/>
                        <a:ea typeface="Calibri" charset="0"/>
                        <a:cs typeface="Calibri" charset="0"/>
                      </a:endParaRPr>
                    </a:p>
                  </a:txBody>
                  <a:tcPr marL="36576" marR="36576" marT="18288" marB="18288"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solidFill>
                      <a:srgbClr val="F4F1FA"/>
                    </a:solidFill>
                  </a:tcPr>
                </a:tc>
                <a:tc>
                  <a:txBody>
                    <a:bodyPr/>
                    <a:lstStyle/>
                    <a:p>
                      <a:pPr algn="ctr" indent="0" marL="0">
                        <a:buNone/>
                      </a:pPr>
                      <a:r>
                        <a:rPr lang="en-US" sz="1400" dirty="0">
                          <a:solidFill>
                            <a:srgbClr val="1F2937"/>
                          </a:solidFill>
                          <a:latin typeface="Calibri" pitchFamily="34" charset="0"/>
                          <a:ea typeface="Calibri" pitchFamily="34" charset="-122"/>
                          <a:cs typeface="Calibri" pitchFamily="34" charset="-120"/>
                        </a:rPr>
                        <a:t>D</a:t>
                      </a:r>
                      <a:endParaRPr lang="en-US" sz="1400" dirty="0">
                        <a:latin typeface="Calibri" charset="0"/>
                        <a:ea typeface="Calibri" charset="0"/>
                        <a:cs typeface="Calibri" charset="0"/>
                      </a:endParaRPr>
                    </a:p>
                  </a:txBody>
                  <a:tcPr marL="36576" marR="36576" marT="18288" marB="18288"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solidFill>
                      <a:srgbClr val="F4F1FA"/>
                    </a:solidFill>
                  </a:tcPr>
                </a:tc>
                <a:tc>
                  <a:txBody>
                    <a:bodyPr/>
                    <a:lstStyle/>
                    <a:p>
                      <a:pPr algn="ctr" indent="0" marL="0">
                        <a:buNone/>
                      </a:pPr>
                      <a:r>
                        <a:rPr lang="en-US" sz="1400" dirty="0">
                          <a:solidFill>
                            <a:srgbClr val="1F2937"/>
                          </a:solidFill>
                          <a:latin typeface="Calibri" pitchFamily="34" charset="0"/>
                          <a:ea typeface="Calibri" pitchFamily="34" charset="-122"/>
                          <a:cs typeface="Calibri" pitchFamily="34" charset="-120"/>
                        </a:rPr>
                        <a:t>11.3</a:t>
                      </a:r>
                      <a:endParaRPr lang="en-US" sz="1400" dirty="0">
                        <a:latin typeface="Calibri" charset="0"/>
                        <a:ea typeface="Calibri" charset="0"/>
                        <a:cs typeface="Calibri" charset="0"/>
                      </a:endParaRPr>
                    </a:p>
                  </a:txBody>
                  <a:tcPr marL="36576" marR="36576" marT="18288" marB="18288"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solidFill>
                      <a:srgbClr val="F4F1FA"/>
                    </a:solidFill>
                  </a:tcPr>
                </a:tc>
                <a:tc>
                  <a:txBody>
                    <a:bodyPr/>
                    <a:lstStyle/>
                    <a:p>
                      <a:pPr algn="ctr" indent="0" marL="0">
                        <a:buNone/>
                      </a:pPr>
                      <a:r>
                        <a:rPr lang="en-US" sz="1400" dirty="0">
                          <a:solidFill>
                            <a:srgbClr val="1F2937"/>
                          </a:solidFill>
                          <a:latin typeface="Calibri" pitchFamily="34" charset="0"/>
                          <a:ea typeface="Calibri" pitchFamily="34" charset="-122"/>
                          <a:cs typeface="Calibri" pitchFamily="34" charset="-120"/>
                        </a:rPr>
                        <a:t>S</a:t>
                      </a:r>
                      <a:endParaRPr lang="en-US" sz="1400" dirty="0">
                        <a:latin typeface="Calibri" charset="0"/>
                        <a:ea typeface="Calibri" charset="0"/>
                        <a:cs typeface="Calibri" charset="0"/>
                      </a:endParaRPr>
                    </a:p>
                  </a:txBody>
                  <a:tcPr marL="36576" marR="36576" marT="18288" marB="18288"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solidFill>
                      <a:srgbClr val="F4F1FA"/>
                    </a:solidFill>
                  </a:tcPr>
                </a:tc>
                <a:tc>
                  <a:txBody>
                    <a:bodyPr/>
                    <a:lstStyle/>
                    <a:p>
                      <a:pPr algn="ctr" indent="0" marL="0">
                        <a:buNone/>
                      </a:pPr>
                      <a:r>
                        <a:rPr lang="en-US" sz="1400" dirty="0">
                          <a:solidFill>
                            <a:srgbClr val="1F2937"/>
                          </a:solidFill>
                          <a:latin typeface="Calibri" pitchFamily="34" charset="0"/>
                          <a:ea typeface="Calibri" pitchFamily="34" charset="-122"/>
                          <a:cs typeface="Calibri" pitchFamily="34" charset="-120"/>
                        </a:rPr>
                        <a:t>12:50</a:t>
                      </a:r>
                      <a:endParaRPr lang="en-US" sz="1400" dirty="0">
                        <a:latin typeface="Calibri" charset="0"/>
                        <a:ea typeface="Calibri" charset="0"/>
                        <a:cs typeface="Calibri" charset="0"/>
                      </a:endParaRPr>
                    </a:p>
                  </a:txBody>
                  <a:tcPr marL="36576" marR="36576" marT="18288" marB="18288"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solidFill>
                      <a:srgbClr val="F4F1FA"/>
                    </a:solidFill>
                  </a:tcPr>
                </a:tc>
                <a:tc>
                  <a:txBody>
                    <a:bodyPr/>
                    <a:lstStyle/>
                    <a:p>
                      <a:pPr algn="ctr" indent="0" marL="0">
                        <a:buNone/>
                      </a:pPr>
                      <a:r>
                        <a:rPr lang="en-US" sz="1400" b="1" dirty="0">
                          <a:solidFill>
                            <a:srgbClr val="1F2937"/>
                          </a:solidFill>
                          <a:latin typeface="Calibri" pitchFamily="34" charset="0"/>
                          <a:ea typeface="Calibri" pitchFamily="34" charset="-122"/>
                          <a:cs typeface="Calibri" pitchFamily="34" charset="-120"/>
                        </a:rPr>
                        <a:t>Good</a:t>
                      </a:r>
                      <a:endParaRPr lang="en-US" sz="1400" dirty="0">
                        <a:latin typeface="Calibri" charset="0"/>
                        <a:ea typeface="Calibri" charset="0"/>
                        <a:cs typeface="Calibri" charset="0"/>
                      </a:endParaRPr>
                    </a:p>
                  </a:txBody>
                  <a:tcPr marL="36576" marR="36576" marT="18288" marB="18288"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solidFill>
                      <a:srgbClr val="DDEFE3"/>
                    </a:solidFill>
                  </a:tcPr>
                </a:tc>
                <a:tc>
                  <a:txBody>
                    <a:bodyPr/>
                    <a:lstStyle/>
                    <a:p>
                      <a:pPr algn="ctr" indent="0" marL="0">
                        <a:buNone/>
                      </a:pPr>
                      <a:endParaRPr lang="en-US" sz="1400" dirty="0">
                        <a:latin typeface="Calibri" charset="0"/>
                        <a:ea typeface="Calibri" charset="0"/>
                        <a:cs typeface="Calibri" charset="0"/>
                      </a:endParaRPr>
                    </a:p>
                  </a:txBody>
                  <a:tcPr marL="36576" marR="36576" marT="18288" marB="18288"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solidFill>
                      <a:srgbClr val="F4F1FA"/>
                    </a:solidFill>
                  </a:tcPr>
                </a:tc>
              </a:tr>
              <a:tr h="384048">
                <a:tc rowSpan="4">
                  <a:txBody>
                    <a:bodyPr/>
                    <a:lstStyle/>
                    <a:p>
                      <a:pPr algn="ctr" indent="0" marL="0">
                        <a:buNone/>
                      </a:pPr>
                      <a:r>
                        <a:rPr lang="en-US" sz="1400" dirty="0">
                          <a:solidFill>
                            <a:srgbClr val="1F2937"/>
                          </a:solidFill>
                          <a:latin typeface="Calibri" pitchFamily="34" charset="0"/>
                          <a:ea typeface="Calibri" pitchFamily="34" charset="-122"/>
                          <a:cs typeface="Calibri" pitchFamily="34" charset="-120"/>
                        </a:rPr>
                        <a:t>13</a:t>
                      </a:r>
                      <a:endParaRPr lang="en-US" sz="1400" dirty="0">
                        <a:latin typeface="Calibri" charset="0"/>
                        <a:ea typeface="Calibri" charset="0"/>
                        <a:cs typeface="Calibri" charset="0"/>
                      </a:endParaRPr>
                    </a:p>
                  </a:txBody>
                  <a:tcPr marL="36576" marR="36576" marT="18288" marB="18288"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tc>
                  <a:txBody>
                    <a:bodyPr/>
                    <a:lstStyle/>
                    <a:p>
                      <a:pPr algn="ctr" indent="0" marL="0">
                        <a:buNone/>
                      </a:pPr>
                      <a:r>
                        <a:rPr lang="en-US" sz="1400" dirty="0">
                          <a:solidFill>
                            <a:srgbClr val="1F2937"/>
                          </a:solidFill>
                          <a:latin typeface="Calibri" pitchFamily="34" charset="0"/>
                          <a:ea typeface="Calibri" pitchFamily="34" charset="-122"/>
                          <a:cs typeface="Calibri" pitchFamily="34" charset="-120"/>
                        </a:rPr>
                        <a:t>13.1</a:t>
                      </a:r>
                      <a:endParaRPr lang="en-US" sz="1400" dirty="0">
                        <a:latin typeface="Calibri" charset="0"/>
                        <a:ea typeface="Calibri" charset="0"/>
                        <a:cs typeface="Calibri" charset="0"/>
                      </a:endParaRPr>
                    </a:p>
                  </a:txBody>
                  <a:tcPr marL="36576" marR="36576" marT="18288" marB="18288"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solidFill>
                      <a:srgbClr val="F4F1FA"/>
                    </a:solidFill>
                  </a:tcPr>
                </a:tc>
                <a:tc>
                  <a:txBody>
                    <a:bodyPr/>
                    <a:lstStyle/>
                    <a:p>
                      <a:pPr algn="ctr" indent="0" marL="0">
                        <a:buNone/>
                      </a:pPr>
                      <a:r>
                        <a:rPr lang="en-US" sz="1400" dirty="0">
                          <a:solidFill>
                            <a:srgbClr val="1F2937"/>
                          </a:solidFill>
                          <a:latin typeface="Calibri" pitchFamily="34" charset="0"/>
                          <a:ea typeface="Calibri" pitchFamily="34" charset="-122"/>
                          <a:cs typeface="Calibri" pitchFamily="34" charset="-120"/>
                        </a:rPr>
                        <a:t>S</a:t>
                      </a:r>
                      <a:endParaRPr lang="en-US" sz="1400" dirty="0">
                        <a:latin typeface="Calibri" charset="0"/>
                        <a:ea typeface="Calibri" charset="0"/>
                        <a:cs typeface="Calibri" charset="0"/>
                      </a:endParaRPr>
                    </a:p>
                  </a:txBody>
                  <a:tcPr marL="36576" marR="36576" marT="18288" marB="18288"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solidFill>
                      <a:srgbClr val="F4F1FA"/>
                    </a:solidFill>
                  </a:tcPr>
                </a:tc>
                <a:tc>
                  <a:txBody>
                    <a:bodyPr/>
                    <a:lstStyle/>
                    <a:p>
                      <a:pPr algn="ctr" indent="0" marL="0">
                        <a:buNone/>
                      </a:pPr>
                      <a:r>
                        <a:rPr lang="en-US" sz="1400" dirty="0">
                          <a:solidFill>
                            <a:srgbClr val="1F2937"/>
                          </a:solidFill>
                          <a:latin typeface="Calibri" pitchFamily="34" charset="0"/>
                          <a:ea typeface="Calibri" pitchFamily="34" charset="-122"/>
                          <a:cs typeface="Calibri" pitchFamily="34" charset="-120"/>
                        </a:rPr>
                        <a:t>13.2</a:t>
                      </a:r>
                      <a:endParaRPr lang="en-US" sz="1400" dirty="0">
                        <a:latin typeface="Calibri" charset="0"/>
                        <a:ea typeface="Calibri" charset="0"/>
                        <a:cs typeface="Calibri" charset="0"/>
                      </a:endParaRPr>
                    </a:p>
                  </a:txBody>
                  <a:tcPr marL="36576" marR="36576" marT="18288" marB="18288"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solidFill>
                      <a:srgbClr val="F4F1FA"/>
                    </a:solidFill>
                  </a:tcPr>
                </a:tc>
                <a:tc>
                  <a:txBody>
                    <a:bodyPr/>
                    <a:lstStyle/>
                    <a:p>
                      <a:pPr algn="ctr" indent="0" marL="0">
                        <a:buNone/>
                      </a:pPr>
                      <a:r>
                        <a:rPr lang="en-US" sz="1400" dirty="0">
                          <a:solidFill>
                            <a:srgbClr val="1F2937"/>
                          </a:solidFill>
                          <a:latin typeface="Calibri" pitchFamily="34" charset="0"/>
                          <a:ea typeface="Calibri" pitchFamily="34" charset="-122"/>
                          <a:cs typeface="Calibri" pitchFamily="34" charset="-120"/>
                        </a:rPr>
                        <a:t>D</a:t>
                      </a:r>
                      <a:endParaRPr lang="en-US" sz="1400" dirty="0">
                        <a:latin typeface="Calibri" charset="0"/>
                        <a:ea typeface="Calibri" charset="0"/>
                        <a:cs typeface="Calibri" charset="0"/>
                      </a:endParaRPr>
                    </a:p>
                  </a:txBody>
                  <a:tcPr marL="36576" marR="36576" marT="18288" marB="18288"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solidFill>
                      <a:srgbClr val="F4F1FA"/>
                    </a:solidFill>
                  </a:tcPr>
                </a:tc>
                <a:tc>
                  <a:txBody>
                    <a:bodyPr/>
                    <a:lstStyle/>
                    <a:p>
                      <a:pPr algn="ctr" indent="0" marL="0">
                        <a:buNone/>
                      </a:pPr>
                      <a:r>
                        <a:rPr lang="en-US" sz="1400" dirty="0">
                          <a:solidFill>
                            <a:srgbClr val="1F2937"/>
                          </a:solidFill>
                          <a:latin typeface="Calibri" pitchFamily="34" charset="0"/>
                          <a:ea typeface="Calibri" pitchFamily="34" charset="-122"/>
                          <a:cs typeface="Calibri" pitchFamily="34" charset="-120"/>
                        </a:rPr>
                        <a:t>17:01</a:t>
                      </a:r>
                      <a:endParaRPr lang="en-US" sz="1400" dirty="0">
                        <a:latin typeface="Calibri" charset="0"/>
                        <a:ea typeface="Calibri" charset="0"/>
                        <a:cs typeface="Calibri" charset="0"/>
                      </a:endParaRPr>
                    </a:p>
                  </a:txBody>
                  <a:tcPr marL="36576" marR="36576" marT="18288" marB="18288"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solidFill>
                      <a:srgbClr val="F4F1FA"/>
                    </a:solidFill>
                  </a:tcPr>
                </a:tc>
                <a:tc>
                  <a:txBody>
                    <a:bodyPr/>
                    <a:lstStyle/>
                    <a:p>
                      <a:pPr algn="ctr" indent="0" marL="0">
                        <a:buNone/>
                      </a:pPr>
                      <a:r>
                        <a:rPr lang="en-US" sz="1400" b="1" dirty="0">
                          <a:solidFill>
                            <a:srgbClr val="1F2937"/>
                          </a:solidFill>
                          <a:latin typeface="Calibri" pitchFamily="34" charset="0"/>
                          <a:ea typeface="Calibri" pitchFamily="34" charset="-122"/>
                          <a:cs typeface="Calibri" pitchFamily="34" charset="-120"/>
                        </a:rPr>
                        <a:t>Good</a:t>
                      </a:r>
                      <a:endParaRPr lang="en-US" sz="1400" dirty="0">
                        <a:latin typeface="Calibri" charset="0"/>
                        <a:ea typeface="Calibri" charset="0"/>
                        <a:cs typeface="Calibri" charset="0"/>
                      </a:endParaRPr>
                    </a:p>
                  </a:txBody>
                  <a:tcPr marL="36576" marR="36576" marT="18288" marB="18288"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solidFill>
                      <a:srgbClr val="DDEFE3"/>
                    </a:solidFill>
                  </a:tcPr>
                </a:tc>
                <a:tc>
                  <a:txBody>
                    <a:bodyPr/>
                    <a:lstStyle/>
                    <a:p>
                      <a:pPr algn="ctr" indent="0" marL="0">
                        <a:buNone/>
                      </a:pPr>
                      <a:endParaRPr lang="en-US" sz="1400" dirty="0">
                        <a:latin typeface="Calibri" charset="0"/>
                        <a:ea typeface="Calibri" charset="0"/>
                        <a:cs typeface="Calibri" charset="0"/>
                      </a:endParaRPr>
                    </a:p>
                  </a:txBody>
                  <a:tcPr marL="36576" marR="36576" marT="18288" marB="18288"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solidFill>
                      <a:srgbClr val="F4F1FA"/>
                    </a:solidFill>
                  </a:tcPr>
                </a:tc>
              </a:tr>
              <a:tr h="384048">
                <a:tc vMerge="1">
                  <a:tcPr/>
                </a:tc>
                <a:tc>
                  <a:txBody>
                    <a:bodyPr/>
                    <a:lstStyle/>
                    <a:p>
                      <a:pPr algn="ctr" indent="0" marL="0">
                        <a:buNone/>
                      </a:pPr>
                      <a:r>
                        <a:rPr lang="en-US" sz="1400" dirty="0">
                          <a:solidFill>
                            <a:srgbClr val="1F2937"/>
                          </a:solidFill>
                          <a:latin typeface="Calibri" pitchFamily="34" charset="0"/>
                          <a:ea typeface="Calibri" pitchFamily="34" charset="-122"/>
                          <a:cs typeface="Calibri" pitchFamily="34" charset="-120"/>
                        </a:rPr>
                        <a:t>13.2</a:t>
                      </a:r>
                      <a:endParaRPr lang="en-US" sz="1400" dirty="0">
                        <a:latin typeface="Calibri" charset="0"/>
                        <a:ea typeface="Calibri" charset="0"/>
                        <a:cs typeface="Calibri" charset="0"/>
                      </a:endParaRPr>
                    </a:p>
                  </a:txBody>
                  <a:tcPr marL="36576" marR="36576" marT="18288" marB="18288"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solidFill>
                      <a:srgbClr val="F4F1FA"/>
                    </a:solidFill>
                  </a:tcPr>
                </a:tc>
                <a:tc>
                  <a:txBody>
                    <a:bodyPr/>
                    <a:lstStyle/>
                    <a:p>
                      <a:pPr algn="ctr" indent="0" marL="0">
                        <a:buNone/>
                      </a:pPr>
                      <a:r>
                        <a:rPr lang="en-US" sz="1400" dirty="0">
                          <a:solidFill>
                            <a:srgbClr val="1F2937"/>
                          </a:solidFill>
                          <a:latin typeface="Calibri" pitchFamily="34" charset="0"/>
                          <a:ea typeface="Calibri" pitchFamily="34" charset="-122"/>
                          <a:cs typeface="Calibri" pitchFamily="34" charset="-120"/>
                        </a:rPr>
                        <a:t>D</a:t>
                      </a:r>
                      <a:endParaRPr lang="en-US" sz="1400" dirty="0">
                        <a:latin typeface="Calibri" charset="0"/>
                        <a:ea typeface="Calibri" charset="0"/>
                        <a:cs typeface="Calibri" charset="0"/>
                      </a:endParaRPr>
                    </a:p>
                  </a:txBody>
                  <a:tcPr marL="36576" marR="36576" marT="18288" marB="18288"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solidFill>
                      <a:srgbClr val="F4F1FA"/>
                    </a:solidFill>
                  </a:tcPr>
                </a:tc>
                <a:tc>
                  <a:txBody>
                    <a:bodyPr/>
                    <a:lstStyle/>
                    <a:p>
                      <a:pPr algn="ctr" indent="0" marL="0">
                        <a:buNone/>
                      </a:pPr>
                      <a:r>
                        <a:rPr lang="en-US" sz="1400" dirty="0">
                          <a:solidFill>
                            <a:srgbClr val="1F2937"/>
                          </a:solidFill>
                          <a:latin typeface="Calibri" pitchFamily="34" charset="0"/>
                          <a:ea typeface="Calibri" pitchFamily="34" charset="-122"/>
                          <a:cs typeface="Calibri" pitchFamily="34" charset="-120"/>
                        </a:rPr>
                        <a:t>13.1</a:t>
                      </a:r>
                      <a:endParaRPr lang="en-US" sz="1400" dirty="0">
                        <a:latin typeface="Calibri" charset="0"/>
                        <a:ea typeface="Calibri" charset="0"/>
                        <a:cs typeface="Calibri" charset="0"/>
                      </a:endParaRPr>
                    </a:p>
                  </a:txBody>
                  <a:tcPr marL="36576" marR="36576" marT="18288" marB="18288"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solidFill>
                      <a:srgbClr val="F4F1FA"/>
                    </a:solidFill>
                  </a:tcPr>
                </a:tc>
                <a:tc>
                  <a:txBody>
                    <a:bodyPr/>
                    <a:lstStyle/>
                    <a:p>
                      <a:pPr algn="ctr" indent="0" marL="0">
                        <a:buNone/>
                      </a:pPr>
                      <a:r>
                        <a:rPr lang="en-US" sz="1400" dirty="0">
                          <a:solidFill>
                            <a:srgbClr val="1F2937"/>
                          </a:solidFill>
                          <a:latin typeface="Calibri" pitchFamily="34" charset="0"/>
                          <a:ea typeface="Calibri" pitchFamily="34" charset="-122"/>
                          <a:cs typeface="Calibri" pitchFamily="34" charset="-120"/>
                        </a:rPr>
                        <a:t>S</a:t>
                      </a:r>
                      <a:endParaRPr lang="en-US" sz="1400" dirty="0">
                        <a:latin typeface="Calibri" charset="0"/>
                        <a:ea typeface="Calibri" charset="0"/>
                        <a:cs typeface="Calibri" charset="0"/>
                      </a:endParaRPr>
                    </a:p>
                  </a:txBody>
                  <a:tcPr marL="36576" marR="36576" marT="18288" marB="18288"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solidFill>
                      <a:srgbClr val="F4F1FA"/>
                    </a:solidFill>
                  </a:tcPr>
                </a:tc>
                <a:tc>
                  <a:txBody>
                    <a:bodyPr/>
                    <a:lstStyle/>
                    <a:p>
                      <a:pPr algn="ctr" indent="0" marL="0">
                        <a:buNone/>
                      </a:pPr>
                      <a:r>
                        <a:rPr lang="en-US" sz="1400" dirty="0">
                          <a:solidFill>
                            <a:srgbClr val="1F2937"/>
                          </a:solidFill>
                          <a:latin typeface="Calibri" pitchFamily="34" charset="0"/>
                          <a:ea typeface="Calibri" pitchFamily="34" charset="-122"/>
                          <a:cs typeface="Calibri" pitchFamily="34" charset="-120"/>
                        </a:rPr>
                        <a:t>11:10</a:t>
                      </a:r>
                      <a:endParaRPr lang="en-US" sz="1400" dirty="0">
                        <a:latin typeface="Calibri" charset="0"/>
                        <a:ea typeface="Calibri" charset="0"/>
                        <a:cs typeface="Calibri" charset="0"/>
                      </a:endParaRPr>
                    </a:p>
                  </a:txBody>
                  <a:tcPr marL="36576" marR="36576" marT="18288" marB="18288"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solidFill>
                      <a:srgbClr val="F4F1FA"/>
                    </a:solidFill>
                  </a:tcPr>
                </a:tc>
                <a:tc>
                  <a:txBody>
                    <a:bodyPr/>
                    <a:lstStyle/>
                    <a:p>
                      <a:pPr algn="ctr" indent="0" marL="0">
                        <a:buNone/>
                      </a:pPr>
                      <a:r>
                        <a:rPr lang="en-US" sz="1400" b="1" dirty="0">
                          <a:solidFill>
                            <a:srgbClr val="1F2937"/>
                          </a:solidFill>
                          <a:latin typeface="Calibri" pitchFamily="34" charset="0"/>
                          <a:ea typeface="Calibri" pitchFamily="34" charset="-122"/>
                          <a:cs typeface="Calibri" pitchFamily="34" charset="-120"/>
                        </a:rPr>
                        <a:t>Good</a:t>
                      </a:r>
                      <a:endParaRPr lang="en-US" sz="1400" dirty="0">
                        <a:latin typeface="Calibri" charset="0"/>
                        <a:ea typeface="Calibri" charset="0"/>
                        <a:cs typeface="Calibri" charset="0"/>
                      </a:endParaRPr>
                    </a:p>
                  </a:txBody>
                  <a:tcPr marL="36576" marR="36576" marT="18288" marB="18288"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solidFill>
                      <a:srgbClr val="DDEFE3"/>
                    </a:solidFill>
                  </a:tcPr>
                </a:tc>
                <a:tc>
                  <a:txBody>
                    <a:bodyPr/>
                    <a:lstStyle/>
                    <a:p>
                      <a:pPr algn="ctr" indent="0" marL="0">
                        <a:buNone/>
                      </a:pPr>
                      <a:r>
                        <a:rPr lang="en-US" sz="1400" b="1" dirty="0">
                          <a:solidFill>
                            <a:srgbClr val="1F2937"/>
                          </a:solidFill>
                          <a:latin typeface="Calibri" pitchFamily="34" charset="0"/>
                          <a:ea typeface="Calibri" pitchFamily="34" charset="-122"/>
                          <a:cs typeface="Calibri" pitchFamily="34" charset="-120"/>
                        </a:rPr>
                        <a:t>Yes</a:t>
                      </a:r>
                      <a:endParaRPr lang="en-US" sz="1400" dirty="0">
                        <a:latin typeface="Calibri" charset="0"/>
                        <a:ea typeface="Calibri" charset="0"/>
                        <a:cs typeface="Calibri" charset="0"/>
                      </a:endParaRPr>
                    </a:p>
                  </a:txBody>
                  <a:tcPr marL="36576" marR="36576" marT="18288" marB="18288"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solidFill>
                      <a:srgbClr val="F4F1FA"/>
                    </a:solidFill>
                  </a:tcPr>
                </a:tc>
              </a:tr>
              <a:tr h="384048">
                <a:tc vMerge="1">
                  <a:tcPr/>
                </a:tc>
                <a:tc>
                  <a:txBody>
                    <a:bodyPr/>
                    <a:lstStyle/>
                    <a:p>
                      <a:pPr algn="ctr" indent="0" marL="0">
                        <a:buNone/>
                      </a:pPr>
                      <a:r>
                        <a:rPr lang="en-US" sz="1400" dirty="0">
                          <a:solidFill>
                            <a:srgbClr val="1F2937"/>
                          </a:solidFill>
                          <a:latin typeface="Calibri" pitchFamily="34" charset="0"/>
                          <a:ea typeface="Calibri" pitchFamily="34" charset="-122"/>
                          <a:cs typeface="Calibri" pitchFamily="34" charset="-120"/>
                        </a:rPr>
                        <a:t>13.2</a:t>
                      </a:r>
                      <a:endParaRPr lang="en-US" sz="1400" dirty="0">
                        <a:latin typeface="Calibri" charset="0"/>
                        <a:ea typeface="Calibri" charset="0"/>
                        <a:cs typeface="Calibri" charset="0"/>
                      </a:endParaRPr>
                    </a:p>
                  </a:txBody>
                  <a:tcPr marL="36576" marR="36576" marT="18288" marB="18288"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solidFill>
                      <a:srgbClr val="F4F1FA"/>
                    </a:solidFill>
                  </a:tcPr>
                </a:tc>
                <a:tc>
                  <a:txBody>
                    <a:bodyPr/>
                    <a:lstStyle/>
                    <a:p>
                      <a:pPr algn="ctr" indent="0" marL="0">
                        <a:buNone/>
                      </a:pPr>
                      <a:r>
                        <a:rPr lang="en-US" sz="1400" dirty="0">
                          <a:solidFill>
                            <a:srgbClr val="1F2937"/>
                          </a:solidFill>
                          <a:latin typeface="Calibri" pitchFamily="34" charset="0"/>
                          <a:ea typeface="Calibri" pitchFamily="34" charset="-122"/>
                          <a:cs typeface="Calibri" pitchFamily="34" charset="-120"/>
                        </a:rPr>
                        <a:t>D</a:t>
                      </a:r>
                      <a:endParaRPr lang="en-US" sz="1400" dirty="0">
                        <a:latin typeface="Calibri" charset="0"/>
                        <a:ea typeface="Calibri" charset="0"/>
                        <a:cs typeface="Calibri" charset="0"/>
                      </a:endParaRPr>
                    </a:p>
                  </a:txBody>
                  <a:tcPr marL="36576" marR="36576" marT="18288" marB="18288"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solidFill>
                      <a:srgbClr val="F4F1FA"/>
                    </a:solidFill>
                  </a:tcPr>
                </a:tc>
                <a:tc>
                  <a:txBody>
                    <a:bodyPr/>
                    <a:lstStyle/>
                    <a:p>
                      <a:pPr algn="ctr" indent="0" marL="0">
                        <a:buNone/>
                      </a:pPr>
                      <a:r>
                        <a:rPr lang="en-US" sz="1400" dirty="0">
                          <a:solidFill>
                            <a:srgbClr val="1F2937"/>
                          </a:solidFill>
                          <a:latin typeface="Calibri" pitchFamily="34" charset="0"/>
                          <a:ea typeface="Calibri" pitchFamily="34" charset="-122"/>
                          <a:cs typeface="Calibri" pitchFamily="34" charset="-120"/>
                        </a:rPr>
                        <a:t>13.1</a:t>
                      </a:r>
                      <a:endParaRPr lang="en-US" sz="1400" dirty="0">
                        <a:latin typeface="Calibri" charset="0"/>
                        <a:ea typeface="Calibri" charset="0"/>
                        <a:cs typeface="Calibri" charset="0"/>
                      </a:endParaRPr>
                    </a:p>
                  </a:txBody>
                  <a:tcPr marL="36576" marR="36576" marT="18288" marB="18288"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solidFill>
                      <a:srgbClr val="F4F1FA"/>
                    </a:solidFill>
                  </a:tcPr>
                </a:tc>
                <a:tc>
                  <a:txBody>
                    <a:bodyPr/>
                    <a:lstStyle/>
                    <a:p>
                      <a:pPr algn="ctr" indent="0" marL="0">
                        <a:buNone/>
                      </a:pPr>
                      <a:r>
                        <a:rPr lang="en-US" sz="1400" dirty="0">
                          <a:solidFill>
                            <a:srgbClr val="1F2937"/>
                          </a:solidFill>
                          <a:latin typeface="Calibri" pitchFamily="34" charset="0"/>
                          <a:ea typeface="Calibri" pitchFamily="34" charset="-122"/>
                          <a:cs typeface="Calibri" pitchFamily="34" charset="-120"/>
                        </a:rPr>
                        <a:t>S</a:t>
                      </a:r>
                      <a:endParaRPr lang="en-US" sz="1400" dirty="0">
                        <a:latin typeface="Calibri" charset="0"/>
                        <a:ea typeface="Calibri" charset="0"/>
                        <a:cs typeface="Calibri" charset="0"/>
                      </a:endParaRPr>
                    </a:p>
                  </a:txBody>
                  <a:tcPr marL="36576" marR="36576" marT="18288" marB="18288"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solidFill>
                      <a:srgbClr val="F4F1FA"/>
                    </a:solidFill>
                  </a:tcPr>
                </a:tc>
                <a:tc>
                  <a:txBody>
                    <a:bodyPr/>
                    <a:lstStyle/>
                    <a:p>
                      <a:pPr algn="ctr" indent="0" marL="0">
                        <a:buNone/>
                      </a:pPr>
                      <a:r>
                        <a:rPr lang="en-US" sz="1400" dirty="0">
                          <a:solidFill>
                            <a:srgbClr val="1F2937"/>
                          </a:solidFill>
                          <a:latin typeface="Calibri" pitchFamily="34" charset="0"/>
                          <a:ea typeface="Calibri" pitchFamily="34" charset="-122"/>
                          <a:cs typeface="Calibri" pitchFamily="34" charset="-120"/>
                        </a:rPr>
                        <a:t>18:13</a:t>
                      </a:r>
                      <a:endParaRPr lang="en-US" sz="1400" dirty="0">
                        <a:latin typeface="Calibri" charset="0"/>
                        <a:ea typeface="Calibri" charset="0"/>
                        <a:cs typeface="Calibri" charset="0"/>
                      </a:endParaRPr>
                    </a:p>
                  </a:txBody>
                  <a:tcPr marL="36576" marR="36576" marT="18288" marB="18288"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solidFill>
                      <a:srgbClr val="F4F1FA"/>
                    </a:solidFill>
                  </a:tcPr>
                </a:tc>
                <a:tc>
                  <a:txBody>
                    <a:bodyPr/>
                    <a:lstStyle/>
                    <a:p>
                      <a:pPr algn="ctr" indent="0" marL="0">
                        <a:buNone/>
                      </a:pPr>
                      <a:r>
                        <a:rPr lang="en-US" sz="1400" b="1" dirty="0">
                          <a:solidFill>
                            <a:srgbClr val="1F2937"/>
                          </a:solidFill>
                          <a:latin typeface="Calibri" pitchFamily="34" charset="0"/>
                          <a:ea typeface="Calibri" pitchFamily="34" charset="-122"/>
                          <a:cs typeface="Calibri" pitchFamily="34" charset="-120"/>
                        </a:rPr>
                        <a:t>Good</a:t>
                      </a:r>
                      <a:endParaRPr lang="en-US" sz="1400" dirty="0">
                        <a:latin typeface="Calibri" charset="0"/>
                        <a:ea typeface="Calibri" charset="0"/>
                        <a:cs typeface="Calibri" charset="0"/>
                      </a:endParaRPr>
                    </a:p>
                  </a:txBody>
                  <a:tcPr marL="36576" marR="36576" marT="18288" marB="18288"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solidFill>
                      <a:srgbClr val="DDEFE3"/>
                    </a:solidFill>
                  </a:tcPr>
                </a:tc>
                <a:tc>
                  <a:txBody>
                    <a:bodyPr/>
                    <a:lstStyle/>
                    <a:p>
                      <a:pPr algn="ctr" indent="0" marL="0">
                        <a:buNone/>
                      </a:pPr>
                      <a:r>
                        <a:rPr lang="en-US" sz="1400" b="1" dirty="0">
                          <a:solidFill>
                            <a:srgbClr val="1F2937"/>
                          </a:solidFill>
                          <a:latin typeface="Calibri" pitchFamily="34" charset="0"/>
                          <a:ea typeface="Calibri" pitchFamily="34" charset="-122"/>
                          <a:cs typeface="Calibri" pitchFamily="34" charset="-120"/>
                        </a:rPr>
                        <a:t>Yes</a:t>
                      </a:r>
                      <a:endParaRPr lang="en-US" sz="1400" dirty="0">
                        <a:latin typeface="Calibri" charset="0"/>
                        <a:ea typeface="Calibri" charset="0"/>
                        <a:cs typeface="Calibri" charset="0"/>
                      </a:endParaRPr>
                    </a:p>
                  </a:txBody>
                  <a:tcPr marL="36576" marR="36576" marT="18288" marB="18288"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solidFill>
                      <a:srgbClr val="F4F1FA"/>
                    </a:solidFill>
                  </a:tcPr>
                </a:tc>
              </a:tr>
              <a:tr h="384048">
                <a:tc vMerge="1">
                  <a:tcPr/>
                </a:tc>
                <a:tc>
                  <a:txBody>
                    <a:bodyPr/>
                    <a:lstStyle/>
                    <a:p>
                      <a:pPr algn="ctr" indent="0" marL="0">
                        <a:buNone/>
                      </a:pPr>
                      <a:r>
                        <a:rPr lang="en-US" sz="1400" dirty="0">
                          <a:solidFill>
                            <a:srgbClr val="1F2937"/>
                          </a:solidFill>
                          <a:latin typeface="Calibri" pitchFamily="34" charset="0"/>
                          <a:ea typeface="Calibri" pitchFamily="34" charset="-122"/>
                          <a:cs typeface="Calibri" pitchFamily="34" charset="-120"/>
                        </a:rPr>
                        <a:t>13.3</a:t>
                      </a:r>
                      <a:endParaRPr lang="en-US" sz="1400" dirty="0">
                        <a:latin typeface="Calibri" charset="0"/>
                        <a:ea typeface="Calibri" charset="0"/>
                        <a:cs typeface="Calibri" charset="0"/>
                      </a:endParaRPr>
                    </a:p>
                  </a:txBody>
                  <a:tcPr marL="36576" marR="36576" marT="18288" marB="18288"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tc>
                  <a:txBody>
                    <a:bodyPr/>
                    <a:lstStyle/>
                    <a:p>
                      <a:pPr algn="ctr" indent="0" marL="0">
                        <a:buNone/>
                      </a:pPr>
                      <a:r>
                        <a:rPr lang="en-US" sz="1400" dirty="0">
                          <a:solidFill>
                            <a:srgbClr val="1F2937"/>
                          </a:solidFill>
                          <a:latin typeface="Calibri" pitchFamily="34" charset="0"/>
                          <a:ea typeface="Calibri" pitchFamily="34" charset="-122"/>
                          <a:cs typeface="Calibri" pitchFamily="34" charset="-120"/>
                        </a:rPr>
                        <a:t>S</a:t>
                      </a:r>
                      <a:endParaRPr lang="en-US" sz="1400" dirty="0">
                        <a:latin typeface="Calibri" charset="0"/>
                        <a:ea typeface="Calibri" charset="0"/>
                        <a:cs typeface="Calibri" charset="0"/>
                      </a:endParaRPr>
                    </a:p>
                  </a:txBody>
                  <a:tcPr marL="36576" marR="36576" marT="18288" marB="18288"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tc>
                  <a:txBody>
                    <a:bodyPr/>
                    <a:lstStyle/>
                    <a:p>
                      <a:pPr algn="ctr" indent="0" marL="0">
                        <a:buNone/>
                      </a:pPr>
                      <a:r>
                        <a:rPr lang="en-US" sz="1400" dirty="0">
                          <a:solidFill>
                            <a:srgbClr val="1F2937"/>
                          </a:solidFill>
                          <a:latin typeface="Calibri" pitchFamily="34" charset="0"/>
                          <a:ea typeface="Calibri" pitchFamily="34" charset="-122"/>
                          <a:cs typeface="Calibri" pitchFamily="34" charset="-120"/>
                        </a:rPr>
                        <a:t>13.2</a:t>
                      </a:r>
                      <a:endParaRPr lang="en-US" sz="1400" dirty="0">
                        <a:latin typeface="Calibri" charset="0"/>
                        <a:ea typeface="Calibri" charset="0"/>
                        <a:cs typeface="Calibri" charset="0"/>
                      </a:endParaRPr>
                    </a:p>
                  </a:txBody>
                  <a:tcPr marL="36576" marR="36576" marT="18288" marB="18288"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tc>
                  <a:txBody>
                    <a:bodyPr/>
                    <a:lstStyle/>
                    <a:p>
                      <a:pPr algn="ctr" indent="0" marL="0">
                        <a:buNone/>
                      </a:pPr>
                      <a:r>
                        <a:rPr lang="en-US" sz="1400" dirty="0">
                          <a:solidFill>
                            <a:srgbClr val="1F2937"/>
                          </a:solidFill>
                          <a:latin typeface="Calibri" pitchFamily="34" charset="0"/>
                          <a:ea typeface="Calibri" pitchFamily="34" charset="-122"/>
                          <a:cs typeface="Calibri" pitchFamily="34" charset="-120"/>
                        </a:rPr>
                        <a:t>D</a:t>
                      </a:r>
                      <a:endParaRPr lang="en-US" sz="1400" dirty="0">
                        <a:latin typeface="Calibri" charset="0"/>
                        <a:ea typeface="Calibri" charset="0"/>
                        <a:cs typeface="Calibri" charset="0"/>
                      </a:endParaRPr>
                    </a:p>
                  </a:txBody>
                  <a:tcPr marL="36576" marR="36576" marT="18288" marB="18288"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tc>
                  <a:txBody>
                    <a:bodyPr/>
                    <a:lstStyle/>
                    <a:p>
                      <a:pPr algn="ctr" indent="0" marL="0">
                        <a:buNone/>
                      </a:pPr>
                      <a:r>
                        <a:rPr lang="en-US" sz="1400" dirty="0">
                          <a:solidFill>
                            <a:srgbClr val="1F2937"/>
                          </a:solidFill>
                          <a:latin typeface="Calibri" pitchFamily="34" charset="0"/>
                          <a:ea typeface="Calibri" pitchFamily="34" charset="-122"/>
                          <a:cs typeface="Calibri" pitchFamily="34" charset="-120"/>
                        </a:rPr>
                        <a:t>17:56</a:t>
                      </a:r>
                      <a:endParaRPr lang="en-US" sz="1400" dirty="0">
                        <a:latin typeface="Calibri" charset="0"/>
                        <a:ea typeface="Calibri" charset="0"/>
                        <a:cs typeface="Calibri" charset="0"/>
                      </a:endParaRPr>
                    </a:p>
                  </a:txBody>
                  <a:tcPr marL="36576" marR="36576" marT="18288" marB="18288"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tc>
                  <a:txBody>
                    <a:bodyPr/>
                    <a:lstStyle/>
                    <a:p>
                      <a:pPr algn="ctr" indent="0" marL="0">
                        <a:buNone/>
                      </a:pPr>
                      <a:r>
                        <a:rPr lang="en-US" sz="1400" b="1" dirty="0">
                          <a:solidFill>
                            <a:srgbClr val="1F2937"/>
                          </a:solidFill>
                          <a:latin typeface="Calibri" pitchFamily="34" charset="0"/>
                          <a:ea typeface="Calibri" pitchFamily="34" charset="-122"/>
                          <a:cs typeface="Calibri" pitchFamily="34" charset="-120"/>
                        </a:rPr>
                        <a:t>Good</a:t>
                      </a:r>
                      <a:endParaRPr lang="en-US" sz="1400" dirty="0">
                        <a:latin typeface="Calibri" charset="0"/>
                        <a:ea typeface="Calibri" charset="0"/>
                        <a:cs typeface="Calibri" charset="0"/>
                      </a:endParaRPr>
                    </a:p>
                  </a:txBody>
                  <a:tcPr marL="36576" marR="36576" marT="18288" marB="18288"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solidFill>
                      <a:srgbClr val="DDEFE3"/>
                    </a:solidFill>
                  </a:tcPr>
                </a:tc>
                <a:tc>
                  <a:txBody>
                    <a:bodyPr/>
                    <a:lstStyle/>
                    <a:p>
                      <a:pPr algn="ctr" indent="0" marL="0">
                        <a:buNone/>
                      </a:pPr>
                      <a:r>
                        <a:rPr lang="en-US" sz="1400" b="1" dirty="0">
                          <a:solidFill>
                            <a:srgbClr val="1F2937"/>
                          </a:solidFill>
                          <a:latin typeface="Calibri" pitchFamily="34" charset="0"/>
                          <a:ea typeface="Calibri" pitchFamily="34" charset="-122"/>
                          <a:cs typeface="Calibri" pitchFamily="34" charset="-120"/>
                        </a:rPr>
                        <a:t>Yes</a:t>
                      </a:r>
                      <a:endParaRPr lang="en-US" sz="1400" dirty="0">
                        <a:latin typeface="Calibri" charset="0"/>
                        <a:ea typeface="Calibri" charset="0"/>
                        <a:cs typeface="Calibri" charset="0"/>
                      </a:endParaRPr>
                    </a:p>
                  </a:txBody>
                  <a:tcPr marL="36576" marR="36576" marT="18288" marB="18288"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tr>
              <a:tr h="384048">
                <a:tc rowSpan="2">
                  <a:txBody>
                    <a:bodyPr/>
                    <a:lstStyle/>
                    <a:p>
                      <a:pPr algn="ctr" indent="0" marL="0">
                        <a:buNone/>
                      </a:pPr>
                      <a:r>
                        <a:rPr lang="en-US" sz="1400" dirty="0">
                          <a:solidFill>
                            <a:srgbClr val="1F2937"/>
                          </a:solidFill>
                          <a:latin typeface="Calibri" pitchFamily="34" charset="0"/>
                          <a:ea typeface="Calibri" pitchFamily="34" charset="-122"/>
                          <a:cs typeface="Calibri" pitchFamily="34" charset="-120"/>
                        </a:rPr>
                        <a:t>14</a:t>
                      </a:r>
                      <a:endParaRPr lang="en-US" sz="1400" dirty="0">
                        <a:latin typeface="Calibri" charset="0"/>
                        <a:ea typeface="Calibri" charset="0"/>
                        <a:cs typeface="Calibri" charset="0"/>
                      </a:endParaRPr>
                    </a:p>
                  </a:txBody>
                  <a:tcPr marL="36576" marR="36576" marT="18288" marB="18288"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tc>
                  <a:txBody>
                    <a:bodyPr/>
                    <a:lstStyle/>
                    <a:p>
                      <a:pPr algn="ctr" indent="0" marL="0">
                        <a:buNone/>
                      </a:pPr>
                      <a:r>
                        <a:rPr lang="en-US" sz="1400" dirty="0">
                          <a:solidFill>
                            <a:srgbClr val="1F2937"/>
                          </a:solidFill>
                          <a:latin typeface="Calibri" pitchFamily="34" charset="0"/>
                          <a:ea typeface="Calibri" pitchFamily="34" charset="-122"/>
                          <a:cs typeface="Calibri" pitchFamily="34" charset="-120"/>
                        </a:rPr>
                        <a:t>14.1</a:t>
                      </a:r>
                      <a:endParaRPr lang="en-US" sz="1400" dirty="0">
                        <a:latin typeface="Calibri" charset="0"/>
                        <a:ea typeface="Calibri" charset="0"/>
                        <a:cs typeface="Calibri" charset="0"/>
                      </a:endParaRPr>
                    </a:p>
                  </a:txBody>
                  <a:tcPr marL="36576" marR="36576" marT="18288" marB="18288"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solidFill>
                      <a:srgbClr val="F4F1FA"/>
                    </a:solidFill>
                  </a:tcPr>
                </a:tc>
                <a:tc>
                  <a:txBody>
                    <a:bodyPr/>
                    <a:lstStyle/>
                    <a:p>
                      <a:pPr algn="ctr" indent="0" marL="0">
                        <a:buNone/>
                      </a:pPr>
                      <a:r>
                        <a:rPr lang="en-US" sz="1400" dirty="0">
                          <a:solidFill>
                            <a:srgbClr val="1F2937"/>
                          </a:solidFill>
                          <a:latin typeface="Calibri" pitchFamily="34" charset="0"/>
                          <a:ea typeface="Calibri" pitchFamily="34" charset="-122"/>
                          <a:cs typeface="Calibri" pitchFamily="34" charset="-120"/>
                        </a:rPr>
                        <a:t>D</a:t>
                      </a:r>
                      <a:endParaRPr lang="en-US" sz="1400" dirty="0">
                        <a:latin typeface="Calibri" charset="0"/>
                        <a:ea typeface="Calibri" charset="0"/>
                        <a:cs typeface="Calibri" charset="0"/>
                      </a:endParaRPr>
                    </a:p>
                  </a:txBody>
                  <a:tcPr marL="36576" marR="36576" marT="18288" marB="18288"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solidFill>
                      <a:srgbClr val="F4F1FA"/>
                    </a:solidFill>
                  </a:tcPr>
                </a:tc>
                <a:tc>
                  <a:txBody>
                    <a:bodyPr/>
                    <a:lstStyle/>
                    <a:p>
                      <a:pPr algn="ctr" indent="0" marL="0">
                        <a:buNone/>
                      </a:pPr>
                      <a:r>
                        <a:rPr lang="en-US" sz="1400" dirty="0">
                          <a:solidFill>
                            <a:srgbClr val="1F2937"/>
                          </a:solidFill>
                          <a:latin typeface="Calibri" pitchFamily="34" charset="0"/>
                          <a:ea typeface="Calibri" pitchFamily="34" charset="-122"/>
                          <a:cs typeface="Calibri" pitchFamily="34" charset="-120"/>
                        </a:rPr>
                        <a:t>14.3</a:t>
                      </a:r>
                      <a:endParaRPr lang="en-US" sz="1400" dirty="0">
                        <a:latin typeface="Calibri" charset="0"/>
                        <a:ea typeface="Calibri" charset="0"/>
                        <a:cs typeface="Calibri" charset="0"/>
                      </a:endParaRPr>
                    </a:p>
                  </a:txBody>
                  <a:tcPr marL="36576" marR="36576" marT="18288" marB="18288"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solidFill>
                      <a:srgbClr val="F4F1FA"/>
                    </a:solidFill>
                  </a:tcPr>
                </a:tc>
                <a:tc>
                  <a:txBody>
                    <a:bodyPr/>
                    <a:lstStyle/>
                    <a:p>
                      <a:pPr algn="ctr" indent="0" marL="0">
                        <a:buNone/>
                      </a:pPr>
                      <a:r>
                        <a:rPr lang="en-US" sz="1400" dirty="0">
                          <a:solidFill>
                            <a:srgbClr val="1F2937"/>
                          </a:solidFill>
                          <a:latin typeface="Calibri" pitchFamily="34" charset="0"/>
                          <a:ea typeface="Calibri" pitchFamily="34" charset="-122"/>
                          <a:cs typeface="Calibri" pitchFamily="34" charset="-120"/>
                        </a:rPr>
                        <a:t>S</a:t>
                      </a:r>
                      <a:endParaRPr lang="en-US" sz="1400" dirty="0">
                        <a:latin typeface="Calibri" charset="0"/>
                        <a:ea typeface="Calibri" charset="0"/>
                        <a:cs typeface="Calibri" charset="0"/>
                      </a:endParaRPr>
                    </a:p>
                  </a:txBody>
                  <a:tcPr marL="36576" marR="36576" marT="18288" marB="18288"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solidFill>
                      <a:srgbClr val="F4F1FA"/>
                    </a:solidFill>
                  </a:tcPr>
                </a:tc>
                <a:tc>
                  <a:txBody>
                    <a:bodyPr/>
                    <a:lstStyle/>
                    <a:p>
                      <a:pPr algn="ctr" indent="0" marL="0">
                        <a:buNone/>
                      </a:pPr>
                      <a:r>
                        <a:rPr lang="en-US" sz="1400" dirty="0">
                          <a:solidFill>
                            <a:srgbClr val="1F2937"/>
                          </a:solidFill>
                          <a:latin typeface="Calibri" pitchFamily="34" charset="0"/>
                          <a:ea typeface="Calibri" pitchFamily="34" charset="-122"/>
                          <a:cs typeface="Calibri" pitchFamily="34" charset="-120"/>
                        </a:rPr>
                        <a:t>12:03</a:t>
                      </a:r>
                      <a:endParaRPr lang="en-US" sz="1400" dirty="0">
                        <a:latin typeface="Calibri" charset="0"/>
                        <a:ea typeface="Calibri" charset="0"/>
                        <a:cs typeface="Calibri" charset="0"/>
                      </a:endParaRPr>
                    </a:p>
                  </a:txBody>
                  <a:tcPr marL="36576" marR="36576" marT="18288" marB="18288"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solidFill>
                      <a:srgbClr val="F4F1FA"/>
                    </a:solidFill>
                  </a:tcPr>
                </a:tc>
                <a:tc>
                  <a:txBody>
                    <a:bodyPr/>
                    <a:lstStyle/>
                    <a:p>
                      <a:pPr algn="ctr" indent="0" marL="0">
                        <a:buNone/>
                      </a:pPr>
                      <a:r>
                        <a:rPr lang="en-US" sz="1400" b="1" dirty="0">
                          <a:solidFill>
                            <a:srgbClr val="1F2937"/>
                          </a:solidFill>
                          <a:latin typeface="Calibri" pitchFamily="34" charset="0"/>
                          <a:ea typeface="Calibri" pitchFamily="34" charset="-122"/>
                          <a:cs typeface="Calibri" pitchFamily="34" charset="-120"/>
                        </a:rPr>
                        <a:t>Bad</a:t>
                      </a:r>
                      <a:endParaRPr lang="en-US" sz="1400" dirty="0">
                        <a:latin typeface="Calibri" charset="0"/>
                        <a:ea typeface="Calibri" charset="0"/>
                        <a:cs typeface="Calibri" charset="0"/>
                      </a:endParaRPr>
                    </a:p>
                  </a:txBody>
                  <a:tcPr marL="36576" marR="36576" marT="18288" marB="18288"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solidFill>
                      <a:srgbClr val="F8DCD9"/>
                    </a:solidFill>
                  </a:tcPr>
                </a:tc>
                <a:tc>
                  <a:txBody>
                    <a:bodyPr/>
                    <a:lstStyle/>
                    <a:p>
                      <a:pPr algn="ctr" indent="0" marL="0">
                        <a:buNone/>
                      </a:pPr>
                      <a:r>
                        <a:rPr lang="en-US" sz="1400" b="1" dirty="0">
                          <a:solidFill>
                            <a:srgbClr val="1F2937"/>
                          </a:solidFill>
                          <a:latin typeface="Calibri" pitchFamily="34" charset="0"/>
                          <a:ea typeface="Calibri" pitchFamily="34" charset="-122"/>
                          <a:cs typeface="Calibri" pitchFamily="34" charset="-120"/>
                        </a:rPr>
                        <a:t>Yes</a:t>
                      </a:r>
                      <a:endParaRPr lang="en-US" sz="1400" dirty="0">
                        <a:latin typeface="Calibri" charset="0"/>
                        <a:ea typeface="Calibri" charset="0"/>
                        <a:cs typeface="Calibri" charset="0"/>
                      </a:endParaRPr>
                    </a:p>
                  </a:txBody>
                  <a:tcPr marL="36576" marR="36576" marT="18288" marB="18288"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solidFill>
                      <a:srgbClr val="F4F1FA"/>
                    </a:solidFill>
                  </a:tcPr>
                </a:tc>
              </a:tr>
              <a:tr h="384048">
                <a:tc vMerge="1">
                  <a:tcPr/>
                </a:tc>
                <a:tc>
                  <a:txBody>
                    <a:bodyPr/>
                    <a:lstStyle/>
                    <a:p>
                      <a:pPr algn="ctr" indent="0" marL="0">
                        <a:buNone/>
                      </a:pPr>
                      <a:r>
                        <a:rPr lang="en-US" sz="1400" dirty="0">
                          <a:solidFill>
                            <a:srgbClr val="1F2937"/>
                          </a:solidFill>
                          <a:latin typeface="Calibri" pitchFamily="34" charset="0"/>
                          <a:ea typeface="Calibri" pitchFamily="34" charset="-122"/>
                          <a:cs typeface="Calibri" pitchFamily="34" charset="-120"/>
                        </a:rPr>
                        <a:t>14.3</a:t>
                      </a:r>
                      <a:endParaRPr lang="en-US" sz="1400" dirty="0">
                        <a:latin typeface="Calibri" charset="0"/>
                        <a:ea typeface="Calibri" charset="0"/>
                        <a:cs typeface="Calibri" charset="0"/>
                      </a:endParaRPr>
                    </a:p>
                  </a:txBody>
                  <a:tcPr marL="36576" marR="36576" marT="18288" marB="18288"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solidFill>
                      <a:srgbClr val="F4F1FA"/>
                    </a:solidFill>
                  </a:tcPr>
                </a:tc>
                <a:tc>
                  <a:txBody>
                    <a:bodyPr/>
                    <a:lstStyle/>
                    <a:p>
                      <a:pPr algn="ctr" indent="0" marL="0">
                        <a:buNone/>
                      </a:pPr>
                      <a:r>
                        <a:rPr lang="en-US" sz="1400" dirty="0">
                          <a:solidFill>
                            <a:srgbClr val="1F2937"/>
                          </a:solidFill>
                          <a:latin typeface="Calibri" pitchFamily="34" charset="0"/>
                          <a:ea typeface="Calibri" pitchFamily="34" charset="-122"/>
                          <a:cs typeface="Calibri" pitchFamily="34" charset="-120"/>
                        </a:rPr>
                        <a:t>S</a:t>
                      </a:r>
                      <a:endParaRPr lang="en-US" sz="1400" dirty="0">
                        <a:latin typeface="Calibri" charset="0"/>
                        <a:ea typeface="Calibri" charset="0"/>
                        <a:cs typeface="Calibri" charset="0"/>
                      </a:endParaRPr>
                    </a:p>
                  </a:txBody>
                  <a:tcPr marL="36576" marR="36576" marT="18288" marB="18288"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solidFill>
                      <a:srgbClr val="F4F1FA"/>
                    </a:solidFill>
                  </a:tcPr>
                </a:tc>
                <a:tc>
                  <a:txBody>
                    <a:bodyPr/>
                    <a:lstStyle/>
                    <a:p>
                      <a:pPr algn="ctr" indent="0" marL="0">
                        <a:buNone/>
                      </a:pPr>
                      <a:r>
                        <a:rPr lang="en-US" sz="1400" dirty="0">
                          <a:solidFill>
                            <a:srgbClr val="1F2937"/>
                          </a:solidFill>
                          <a:latin typeface="Calibri" pitchFamily="34" charset="0"/>
                          <a:ea typeface="Calibri" pitchFamily="34" charset="-122"/>
                          <a:cs typeface="Calibri" pitchFamily="34" charset="-120"/>
                        </a:rPr>
                        <a:t>14.1</a:t>
                      </a:r>
                      <a:endParaRPr lang="en-US" sz="1400" dirty="0">
                        <a:latin typeface="Calibri" charset="0"/>
                        <a:ea typeface="Calibri" charset="0"/>
                        <a:cs typeface="Calibri" charset="0"/>
                      </a:endParaRPr>
                    </a:p>
                  </a:txBody>
                  <a:tcPr marL="36576" marR="36576" marT="18288" marB="18288"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solidFill>
                      <a:srgbClr val="F4F1FA"/>
                    </a:solidFill>
                  </a:tcPr>
                </a:tc>
                <a:tc>
                  <a:txBody>
                    <a:bodyPr/>
                    <a:lstStyle/>
                    <a:p>
                      <a:pPr algn="ctr" indent="0" marL="0">
                        <a:buNone/>
                      </a:pPr>
                      <a:r>
                        <a:rPr lang="en-US" sz="1400" dirty="0">
                          <a:solidFill>
                            <a:srgbClr val="1F2937"/>
                          </a:solidFill>
                          <a:latin typeface="Calibri" pitchFamily="34" charset="0"/>
                          <a:ea typeface="Calibri" pitchFamily="34" charset="-122"/>
                          <a:cs typeface="Calibri" pitchFamily="34" charset="-120"/>
                        </a:rPr>
                        <a:t>D</a:t>
                      </a:r>
                      <a:endParaRPr lang="en-US" sz="1400" dirty="0">
                        <a:latin typeface="Calibri" charset="0"/>
                        <a:ea typeface="Calibri" charset="0"/>
                        <a:cs typeface="Calibri" charset="0"/>
                      </a:endParaRPr>
                    </a:p>
                  </a:txBody>
                  <a:tcPr marL="36576" marR="36576" marT="18288" marB="18288"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solidFill>
                      <a:srgbClr val="F4F1FA"/>
                    </a:solidFill>
                  </a:tcPr>
                </a:tc>
                <a:tc>
                  <a:txBody>
                    <a:bodyPr/>
                    <a:lstStyle/>
                    <a:p>
                      <a:pPr algn="ctr" indent="0" marL="0">
                        <a:buNone/>
                      </a:pPr>
                      <a:r>
                        <a:rPr lang="en-US" sz="1400" dirty="0">
                          <a:solidFill>
                            <a:srgbClr val="1F2937"/>
                          </a:solidFill>
                          <a:latin typeface="Calibri" pitchFamily="34" charset="0"/>
                          <a:ea typeface="Calibri" pitchFamily="34" charset="-122"/>
                          <a:cs typeface="Calibri" pitchFamily="34" charset="-120"/>
                        </a:rPr>
                        <a:t>11:25</a:t>
                      </a:r>
                      <a:endParaRPr lang="en-US" sz="1400" dirty="0">
                        <a:latin typeface="Calibri" charset="0"/>
                        <a:ea typeface="Calibri" charset="0"/>
                        <a:cs typeface="Calibri" charset="0"/>
                      </a:endParaRPr>
                    </a:p>
                  </a:txBody>
                  <a:tcPr marL="36576" marR="36576" marT="18288" marB="18288"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solidFill>
                      <a:srgbClr val="F4F1FA"/>
                    </a:solidFill>
                  </a:tcPr>
                </a:tc>
                <a:tc>
                  <a:txBody>
                    <a:bodyPr/>
                    <a:lstStyle/>
                    <a:p>
                      <a:pPr algn="ctr" indent="0" marL="0">
                        <a:buNone/>
                      </a:pPr>
                      <a:r>
                        <a:rPr lang="en-US" sz="1400" b="1" dirty="0">
                          <a:solidFill>
                            <a:srgbClr val="1F2937"/>
                          </a:solidFill>
                          <a:latin typeface="Calibri" pitchFamily="34" charset="0"/>
                          <a:ea typeface="Calibri" pitchFamily="34" charset="-122"/>
                          <a:cs typeface="Calibri" pitchFamily="34" charset="-120"/>
                        </a:rPr>
                        <a:t>Good</a:t>
                      </a:r>
                      <a:endParaRPr lang="en-US" sz="1400" dirty="0">
                        <a:latin typeface="Calibri" charset="0"/>
                        <a:ea typeface="Calibri" charset="0"/>
                        <a:cs typeface="Calibri" charset="0"/>
                      </a:endParaRPr>
                    </a:p>
                  </a:txBody>
                  <a:tcPr marL="36576" marR="36576" marT="18288" marB="18288"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solidFill>
                      <a:srgbClr val="DDEFE3"/>
                    </a:solidFill>
                  </a:tcPr>
                </a:tc>
                <a:tc>
                  <a:txBody>
                    <a:bodyPr/>
                    <a:lstStyle/>
                    <a:p>
                      <a:pPr algn="ctr" indent="0" marL="0">
                        <a:buNone/>
                      </a:pPr>
                      <a:r>
                        <a:rPr lang="en-US" sz="1400" b="1" dirty="0">
                          <a:solidFill>
                            <a:srgbClr val="1F2937"/>
                          </a:solidFill>
                          <a:latin typeface="Calibri" pitchFamily="34" charset="0"/>
                          <a:ea typeface="Calibri" pitchFamily="34" charset="-122"/>
                          <a:cs typeface="Calibri" pitchFamily="34" charset="-120"/>
                        </a:rPr>
                        <a:t>Yes</a:t>
                      </a:r>
                      <a:endParaRPr lang="en-US" sz="1400" dirty="0">
                        <a:latin typeface="Calibri" charset="0"/>
                        <a:ea typeface="Calibri" charset="0"/>
                        <a:cs typeface="Calibri" charset="0"/>
                      </a:endParaRPr>
                    </a:p>
                  </a:txBody>
                  <a:tcPr marL="36576" marR="36576" marT="18288" marB="18288"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solidFill>
                      <a:srgbClr val="F4F1FA"/>
                    </a:solidFill>
                  </a:tcPr>
                </a:tc>
              </a:tr>
            </a:tbl>
          </a:graphicData>
        </a:graphic>
      </p:graphicFrame>
      <p:sp>
        <p:nvSpPr>
          <p:cNvPr id="5" name="Text 2"/>
          <p:cNvSpPr txBox="1"/>
          <p:nvPr/>
        </p:nvSpPr>
        <p:spPr>
          <a:xfrm>
            <a:off x="457200" y="6126480"/>
            <a:ext cx="6949440" cy="365760"/>
          </a:xfrm>
          <a:prstGeom prst="rect">
            <a:avLst/>
          </a:prstGeom>
          <a:noFill/>
          <a:ln/>
        </p:spPr>
        <p:txBody>
          <a:bodyPr wrap="square" lIns="0" tIns="0" rIns="0" bIns="0" rtlCol="0" anchor="t"/>
          <a:lstStyle/>
          <a:p>
            <a:pPr indent="0" marL="0">
              <a:buNone/>
            </a:pPr>
            <a:r>
              <a:rPr lang="en-US" sz="1300" i="1" dirty="0">
                <a:solidFill>
                  <a:srgbClr val="4B5563"/>
                </a:solidFill>
                <a:latin typeface="Calibri" pitchFamily="34" charset="0"/>
                <a:ea typeface="Calibri" pitchFamily="34" charset="-122"/>
                <a:cs typeface="Calibri" pitchFamily="34" charset="-120"/>
              </a:rPr>
              <a:t>13.2 with 13.1 was recorded twice (11:10 and 18:13). D = dominant, S = subordinate.</a:t>
            </a:r>
            <a:endParaRPr lang="en-US" sz="1300" dirty="0"/>
          </a:p>
        </p:txBody>
      </p:sp>
      <p:sp>
        <p:nvSpPr>
          <p:cNvPr id="6" name="Text 3"/>
          <p:cNvSpPr txBox="1"/>
          <p:nvPr/>
        </p:nvSpPr>
        <p:spPr>
          <a:xfrm>
            <a:off x="7772400" y="1371600"/>
            <a:ext cx="4023360" cy="365760"/>
          </a:xfrm>
          <a:prstGeom prst="rect">
            <a:avLst/>
          </a:prstGeom>
          <a:noFill/>
          <a:ln/>
        </p:spPr>
        <p:txBody>
          <a:bodyPr wrap="square" lIns="0" tIns="0" rIns="0" bIns="0" rtlCol="0" anchor="t"/>
          <a:lstStyle/>
          <a:p>
            <a:pPr indent="0" marL="0">
              <a:buNone/>
            </a:pPr>
            <a:r>
              <a:rPr lang="en-US" sz="1800" b="1" dirty="0">
                <a:solidFill>
                  <a:srgbClr val="1D4E89"/>
                </a:solidFill>
                <a:latin typeface="Calibri" pitchFamily="34" charset="0"/>
                <a:ea typeface="Calibri" pitchFamily="34" charset="-122"/>
                <a:cs typeface="Calibri" pitchFamily="34" charset="-120"/>
              </a:rPr>
              <a:t>Data available</a:t>
            </a:r>
            <a:endParaRPr lang="en-US" sz="1800" dirty="0"/>
          </a:p>
        </p:txBody>
      </p:sp>
      <p:graphicFrame>
        <p:nvGraphicFramePr>
          <p:cNvPr id="7" name="Table 1"/>
          <p:cNvGraphicFramePr>
            <a:graphicFrameLocks noGrp="1"/>
          </p:cNvGraphicFramePr>
          <p:nvPr>
            <p:extLst>
              <p:ext uri="{D42A27DB-BD31-4B8C-83A1-F6EECF244321}">
                <p14:modId xmlns:p14="http://schemas.microsoft.com/office/powerpoint/2010/main" val="1579011935"/>
              </p:ext>
            </p:extLst>
          </p:nvPr>
        </p:nvGraphicFramePr>
        <p:xfrm>
          <a:off x="7772400" y="1783080"/>
          <a:ext cx="3977640" cy="914400"/>
        </p:xfrm>
        <a:graphic>
          <a:graphicData uri="http://schemas.openxmlformats.org/drawingml/2006/table">
            <a:tbl>
              <a:tblPr/>
              <a:tblGrid>
                <a:gridCol w="1234440"/>
                <a:gridCol w="2743200"/>
              </a:tblGrid>
              <a:tr h="502920">
                <a:tc>
                  <a:txBody>
                    <a:bodyPr/>
                    <a:lstStyle/>
                    <a:p>
                      <a:pPr indent="0" marL="0">
                        <a:buNone/>
                      </a:pPr>
                      <a:r>
                        <a:rPr lang="en-US" sz="1300" b="1" dirty="0">
                          <a:solidFill>
                            <a:srgbClr val="1F2937"/>
                          </a:solidFill>
                          <a:latin typeface="Calibri" pitchFamily="34" charset="0"/>
                          <a:ea typeface="Calibri" pitchFamily="34" charset="-122"/>
                          <a:cs typeface="Calibri" pitchFamily="34" charset="-120"/>
                        </a:rPr>
                        <a:t>Respiration</a:t>
                      </a:r>
                      <a:endParaRPr lang="en-US" sz="1300" dirty="0">
                        <a:latin typeface="Calibri" charset="0"/>
                        <a:ea typeface="Calibri" charset="0"/>
                        <a:cs typeface="Calibri" charset="0"/>
                      </a:endParaRPr>
                    </a:p>
                  </a:txBody>
                  <a:tcPr marL="54864" marR="54864" marT="36576" marB="36576"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tc>
                  <a:txBody>
                    <a:bodyPr/>
                    <a:lstStyle/>
                    <a:p>
                      <a:pPr indent="0" marL="0">
                        <a:buNone/>
                      </a:pPr>
                      <a:r>
                        <a:rPr lang="en-US" sz="1300" dirty="0">
                          <a:solidFill>
                            <a:srgbClr val="1F2937"/>
                          </a:solidFill>
                          <a:latin typeface="Calibri" pitchFamily="34" charset="0"/>
                          <a:ea typeface="Calibri" pitchFamily="34" charset="-122"/>
                          <a:cs typeface="Calibri" pitchFamily="34" charset="-120"/>
                        </a:rPr>
                        <a:t>Breathing signal, all 11 (h5_outputs)</a:t>
                      </a:r>
                      <a:endParaRPr lang="en-US" sz="1300" dirty="0">
                        <a:latin typeface="Calibri" charset="0"/>
                        <a:ea typeface="Calibri" charset="0"/>
                        <a:cs typeface="Calibri" charset="0"/>
                      </a:endParaRPr>
                    </a:p>
                  </a:txBody>
                  <a:tcPr marL="54864" marR="54864" marT="36576" marB="36576"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tr>
              <a:tr h="502920">
                <a:tc>
                  <a:txBody>
                    <a:bodyPr/>
                    <a:lstStyle/>
                    <a:p>
                      <a:pPr indent="0" marL="0">
                        <a:buNone/>
                      </a:pPr>
                      <a:r>
                        <a:rPr lang="en-US" sz="1300" b="1" dirty="0">
                          <a:solidFill>
                            <a:srgbClr val="1F2937"/>
                          </a:solidFill>
                          <a:latin typeface="Calibri" pitchFamily="34" charset="0"/>
                          <a:ea typeface="Calibri" pitchFamily="34" charset="-122"/>
                          <a:cs typeface="Calibri" pitchFamily="34" charset="-120"/>
                        </a:rPr>
                        <a:t>Video</a:t>
                      </a:r>
                      <a:endParaRPr lang="en-US" sz="1300" dirty="0">
                        <a:latin typeface="Calibri" charset="0"/>
                        <a:ea typeface="Calibri" charset="0"/>
                        <a:cs typeface="Calibri" charset="0"/>
                      </a:endParaRPr>
                    </a:p>
                  </a:txBody>
                  <a:tcPr marL="54864" marR="54864" marT="36576" marB="36576"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tc>
                  <a:txBody>
                    <a:bodyPr/>
                    <a:lstStyle/>
                    <a:p>
                      <a:pPr indent="0" marL="0">
                        <a:buNone/>
                      </a:pPr>
                      <a:r>
                        <a:rPr lang="en-US" sz="1300" dirty="0">
                          <a:solidFill>
                            <a:srgbClr val="1F2937"/>
                          </a:solidFill>
                          <a:latin typeface="Calibri" pitchFamily="34" charset="0"/>
                          <a:ea typeface="Calibri" pitchFamily="34" charset="-122"/>
                          <a:cs typeface="Calibri" pitchFamily="34" charset="-120"/>
                        </a:rPr>
                        <a:t>Home-cage interaction, all 11 (15 fps)</a:t>
                      </a:r>
                      <a:endParaRPr lang="en-US" sz="1300" dirty="0">
                        <a:latin typeface="Calibri" charset="0"/>
                        <a:ea typeface="Calibri" charset="0"/>
                        <a:cs typeface="Calibri" charset="0"/>
                      </a:endParaRPr>
                    </a:p>
                  </a:txBody>
                  <a:tcPr marL="54864" marR="54864" marT="36576" marB="36576"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tr>
              <a:tr h="502920">
                <a:tc>
                  <a:txBody>
                    <a:bodyPr/>
                    <a:lstStyle/>
                    <a:p>
                      <a:pPr indent="0" marL="0">
                        <a:buNone/>
                      </a:pPr>
                      <a:r>
                        <a:rPr lang="en-US" sz="1300" b="1" dirty="0">
                          <a:solidFill>
                            <a:srgbClr val="1F2937"/>
                          </a:solidFill>
                          <a:latin typeface="Calibri" pitchFamily="34" charset="0"/>
                          <a:ea typeface="Calibri" pitchFamily="34" charset="-122"/>
                          <a:cs typeface="Calibri" pitchFamily="34" charset="-120"/>
                        </a:rPr>
                        <a:t>BORIS</a:t>
                      </a:r>
                      <a:endParaRPr lang="en-US" sz="1300" dirty="0">
                        <a:latin typeface="Calibri" charset="0"/>
                        <a:ea typeface="Calibri" charset="0"/>
                        <a:cs typeface="Calibri" charset="0"/>
                      </a:endParaRPr>
                    </a:p>
                  </a:txBody>
                  <a:tcPr marL="54864" marR="54864" marT="36576" marB="36576"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tc>
                  <a:txBody>
                    <a:bodyPr/>
                    <a:lstStyle/>
                    <a:p>
                      <a:pPr indent="0" marL="0">
                        <a:buNone/>
                      </a:pPr>
                      <a:r>
                        <a:rPr lang="en-US" sz="1300" u="sng" dirty="0">
                          <a:solidFill>
                            <a:srgbClr val="1D4E89"/>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Manual scoring</a:t>
                      </a:r>
                      <a:pPr indent="0" marL="0">
                        <a:buNone/>
                      </a:pPr>
                      <a:r>
                        <a:rPr lang="en-US" sz="1300" dirty="0">
                          <a:solidFill>
                            <a:srgbClr val="1F2937"/>
                          </a:solidFill>
                          <a:latin typeface="Calibri" pitchFamily="34" charset="0"/>
                          <a:ea typeface="Calibri" pitchFamily="34" charset="-122"/>
                          <a:cs typeface="Calibri" pitchFamily="34" charset="-120"/>
                        </a:rPr>
                        <a:t>, 5 of 11: facial / body / anogenital sniffing, digging, self-grooming</a:t>
                      </a:r>
                      <a:endParaRPr lang="en-US" sz="1300" dirty="0">
                        <a:latin typeface="Calibri" charset="0"/>
                        <a:ea typeface="Calibri" charset="0"/>
                        <a:cs typeface="Calibri" charset="0"/>
                      </a:endParaRPr>
                    </a:p>
                  </a:txBody>
                  <a:tcPr marL="54864" marR="54864" marT="36576" marB="36576"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tr>
              <a:tr h="502920">
                <a:tc>
                  <a:txBody>
                    <a:bodyPr/>
                    <a:lstStyle/>
                    <a:p>
                      <a:pPr indent="0" marL="0">
                        <a:buNone/>
                      </a:pPr>
                      <a:r>
                        <a:rPr lang="en-US" sz="1300" b="1" dirty="0">
                          <a:solidFill>
                            <a:srgbClr val="1F2937"/>
                          </a:solidFill>
                          <a:latin typeface="Calibri" pitchFamily="34" charset="0"/>
                          <a:ea typeface="Calibri" pitchFamily="34" charset="-122"/>
                          <a:cs typeface="Calibri" pitchFamily="34" charset="-120"/>
                        </a:rPr>
                        <a:t>SLEAP</a:t>
                      </a:r>
                      <a:endParaRPr lang="en-US" sz="1300" dirty="0">
                        <a:latin typeface="Calibri" charset="0"/>
                        <a:ea typeface="Calibri" charset="0"/>
                        <a:cs typeface="Calibri" charset="0"/>
                      </a:endParaRPr>
                    </a:p>
                  </a:txBody>
                  <a:tcPr marL="54864" marR="54864" marT="36576" marB="36576"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tc>
                  <a:txBody>
                    <a:bodyPr/>
                    <a:lstStyle/>
                    <a:p>
                      <a:pPr indent="0" marL="0">
                        <a:buNone/>
                      </a:pPr>
                      <a:r>
                        <a:rPr lang="en-US" sz="1300" u="sng" dirty="0">
                          <a:solidFill>
                            <a:srgbClr val="1D4E89"/>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Pose tracking</a:t>
                      </a:r>
                      <a:pPr indent="0" marL="0">
                        <a:buNone/>
                      </a:pPr>
                      <a:r>
                        <a:rPr lang="en-US" sz="1300" dirty="0">
                          <a:solidFill>
                            <a:srgbClr val="1F2937"/>
                          </a:solidFill>
                          <a:latin typeface="Calibri" pitchFamily="34" charset="0"/>
                          <a:ea typeface="Calibri" pitchFamily="34" charset="-122"/>
                          <a:cs typeface="Calibri" pitchFamily="34" charset="-120"/>
                        </a:rPr>
                        <a:t>: not run yet (SLEAP_tracked empty)</a:t>
                      </a:r>
                      <a:endParaRPr lang="en-US" sz="1300" dirty="0">
                        <a:latin typeface="Calibri" charset="0"/>
                        <a:ea typeface="Calibri" charset="0"/>
                        <a:cs typeface="Calibri" charset="0"/>
                      </a:endParaRPr>
                    </a:p>
                  </a:txBody>
                  <a:tcPr marL="54864" marR="54864" marT="36576" marB="36576"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tr>
              <a:tr h="502920">
                <a:tc>
                  <a:txBody>
                    <a:bodyPr/>
                    <a:lstStyle/>
                    <a:p>
                      <a:pPr indent="0" marL="0">
                        <a:buNone/>
                      </a:pPr>
                      <a:r>
                        <a:rPr lang="en-US" sz="1300" b="1" dirty="0">
                          <a:solidFill>
                            <a:srgbClr val="1F2937"/>
                          </a:solidFill>
                          <a:latin typeface="Calibri" pitchFamily="34" charset="0"/>
                          <a:ea typeface="Calibri" pitchFamily="34" charset="-122"/>
                          <a:cs typeface="Calibri" pitchFamily="34" charset="-120"/>
                        </a:rPr>
                        <a:t>Trodes timestamps</a:t>
                      </a:r>
                      <a:endParaRPr lang="en-US" sz="1300" dirty="0">
                        <a:latin typeface="Calibri" charset="0"/>
                        <a:ea typeface="Calibri" charset="0"/>
                        <a:cs typeface="Calibri" charset="0"/>
                      </a:endParaRPr>
                    </a:p>
                  </a:txBody>
                  <a:tcPr marL="54864" marR="54864" marT="36576" marB="36576"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tc>
                  <a:txBody>
                    <a:bodyPr/>
                    <a:lstStyle/>
                    <a:p>
                      <a:pPr indent="0" marL="0">
                        <a:buNone/>
                      </a:pPr>
                      <a:r>
                        <a:rPr lang="en-US" sz="1300" dirty="0">
                          <a:solidFill>
                            <a:srgbClr val="1F2937"/>
                          </a:solidFill>
                          <a:latin typeface="Calibri" pitchFamily="34" charset="0"/>
                          <a:ea typeface="Calibri" pitchFamily="34" charset="-122"/>
                          <a:cs typeface="Calibri" pitchFamily="34" charset="-120"/>
                        </a:rPr>
                        <a:t>Clock tick per sample and frame: aligns everything</a:t>
                      </a:r>
                      <a:endParaRPr lang="en-US" sz="1300" dirty="0">
                        <a:latin typeface="Calibri" charset="0"/>
                        <a:ea typeface="Calibri" charset="0"/>
                        <a:cs typeface="Calibri" charset="0"/>
                      </a:endParaRPr>
                    </a:p>
                  </a:txBody>
                  <a:tcPr marL="54864" marR="54864" marT="36576" marB="36576"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tr>
            </a:tbl>
          </a:graphicData>
        </a:graphic>
      </p:graphicFrame>
      <p:sp>
        <p:nvSpPr>
          <p:cNvPr id="8" name="Shape 4"/>
          <p:cNvSpPr/>
          <p:nvPr/>
        </p:nvSpPr>
        <p:spPr>
          <a:xfrm>
            <a:off x="7772400" y="4617720"/>
            <a:ext cx="3977640" cy="1371600"/>
          </a:xfrm>
          <a:prstGeom prst="roundRect">
            <a:avLst>
              <a:gd name="adj" fmla="val 4667"/>
            </a:avLst>
          </a:prstGeom>
          <a:solidFill>
            <a:srgbClr val="FEF3C7"/>
          </a:solidFill>
          <a:ln w="12700">
            <a:solidFill>
              <a:srgbClr val="B45309"/>
            </a:solidFill>
            <a:prstDash val="solid"/>
          </a:ln>
        </p:spPr>
      </p:sp>
      <p:sp>
        <p:nvSpPr>
          <p:cNvPr id="9" name="Text 5"/>
          <p:cNvSpPr txBox="1"/>
          <p:nvPr/>
        </p:nvSpPr>
        <p:spPr>
          <a:xfrm>
            <a:off x="7909560" y="4681728"/>
            <a:ext cx="3703320" cy="1691640"/>
          </a:xfrm>
          <a:prstGeom prst="rect">
            <a:avLst/>
          </a:prstGeom>
          <a:noFill/>
          <a:ln/>
        </p:spPr>
        <p:txBody>
          <a:bodyPr wrap="square" lIns="0" tIns="0" rIns="0" bIns="0" rtlCol="0" anchor="t"/>
          <a:lstStyle/>
          <a:p>
            <a:pPr indent="0" marL="0">
              <a:buNone/>
            </a:pPr>
            <a:r>
              <a:rPr lang="en-US" sz="1500" b="1" dirty="0">
                <a:solidFill>
                  <a:srgbClr val="B45309"/>
                </a:solidFill>
                <a:latin typeface="Calibri" pitchFamily="34" charset="0"/>
                <a:ea typeface="Calibri" pitchFamily="34" charset="-122"/>
                <a:cs typeface="Calibri" pitchFamily="34" charset="-120"/>
              </a:rPr>
              <a:t>Missing recordings?</a:t>
            </a:r>
            <a:endParaRPr lang="en-US" sz="1500" dirty="0"/>
          </a:p>
          <a:p>
            <a:pPr indent="0" marL="0">
              <a:buNone/>
            </a:pPr>
            <a:r>
              <a:rPr lang="en-US" sz="1300" dirty="0">
                <a:solidFill>
                  <a:srgbClr val="1F2937"/>
                </a:solidFill>
                <a:latin typeface="Calibri" pitchFamily="34" charset="0"/>
                <a:ea typeface="Calibri" pitchFamily="34" charset="-122"/>
                <a:cs typeface="Calibri" pitchFamily="34" charset="-120"/>
              </a:rPr>
              <a:t>The cohort 2 roster (RI1 / OFT folders) has 18 mice in cages 10–14. No cagemate recordings for cage 12 (12.2–12.4) or for 10.1, 10.4, 13.4, 14.2, 14.4. Check whether these were planned.</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11274552" cy="685800"/>
          </a:xfrm>
          <a:prstGeom prst="rect">
            <a:avLst/>
          </a:prstGeom>
          <a:noFill/>
          <a:ln/>
        </p:spPr>
        <p:txBody>
          <a:bodyPr wrap="square" lIns="0" tIns="0" rIns="0" bIns="0" rtlCol="0" anchor="ctr"/>
          <a:lstStyle/>
          <a:p>
            <a:pPr indent="0" marL="0">
              <a:buNone/>
            </a:pPr>
            <a:r>
              <a:rPr lang="en-US" sz="3200" b="1" dirty="0">
                <a:solidFill>
                  <a:srgbClr val="1F2937"/>
                </a:solidFill>
                <a:latin typeface="Calibri" pitchFamily="34" charset="0"/>
                <a:ea typeface="Calibri" pitchFamily="34" charset="-122"/>
                <a:cs typeface="Calibri" pitchFamily="34" charset="-120"/>
              </a:rPr>
              <a:t>Good vs. bad respiration</a:t>
            </a:r>
            <a:endParaRPr lang="en-US" sz="3200" dirty="0"/>
          </a:p>
        </p:txBody>
      </p:sp>
      <p:sp>
        <p:nvSpPr>
          <p:cNvPr id="3" name="Text 1"/>
          <p:cNvSpPr txBox="1"/>
          <p:nvPr/>
        </p:nvSpPr>
        <p:spPr>
          <a:xfrm>
            <a:off x="457200" y="914400"/>
            <a:ext cx="11274552" cy="384048"/>
          </a:xfrm>
          <a:prstGeom prst="rect">
            <a:avLst/>
          </a:prstGeom>
          <a:noFill/>
          <a:ln/>
        </p:spPr>
        <p:txBody>
          <a:bodyPr wrap="square" lIns="0" tIns="0" rIns="0" bIns="0" rtlCol="0" anchor="ctr"/>
          <a:lstStyle/>
          <a:p>
            <a:pPr indent="0" marL="0">
              <a:buNone/>
            </a:pPr>
            <a:r>
              <a:rPr lang="en-US" sz="1700" dirty="0">
                <a:solidFill>
                  <a:srgbClr val="4B5563"/>
                </a:solidFill>
                <a:latin typeface="Calibri" pitchFamily="34" charset="0"/>
                <a:ea typeface="Calibri" pitchFamily="34" charset="-122"/>
                <a:cs typeface="Calibri" pitchFamily="34" charset="-120"/>
              </a:rPr>
              <a:t>Processed signal (400 Hz, 0.1–20 Hz band-pass) · first three panels on the same scale</a:t>
            </a:r>
            <a:endParaRPr lang="en-US" sz="1700" dirty="0"/>
          </a:p>
        </p:txBody>
      </p:sp>
      <p:pic>
        <p:nvPicPr>
          <p:cNvPr id="4" name="Image 0" descr="C:\Users\thoma\AppData\Local\Temp\claude\c--Users-thoma-Code-ResearchCode-respiratory-pilot\591ae50f-759d-4223-81d2-c1b1caa9b462\scratchpad\deck\qc_teach.png">    </p:cNvPr>
          <p:cNvPicPr>
            <a:picLocks noChangeAspect="1"/>
          </p:cNvPicPr>
          <p:nvPr/>
        </p:nvPicPr>
        <p:blipFill>
          <a:blip r:embed="rId1"/>
          <a:stretch>
            <a:fillRect/>
          </a:stretch>
        </p:blipFill>
        <p:spPr>
          <a:xfrm>
            <a:off x="365760" y="1371600"/>
            <a:ext cx="6172200" cy="5114109"/>
          </a:xfrm>
          <a:prstGeom prst="rect">
            <a:avLst/>
          </a:prstGeom>
        </p:spPr>
      </p:pic>
      <p:sp>
        <p:nvSpPr>
          <p:cNvPr id="5" name="Shape 2"/>
          <p:cNvSpPr/>
          <p:nvPr/>
        </p:nvSpPr>
        <p:spPr>
          <a:xfrm>
            <a:off x="6858000" y="1417320"/>
            <a:ext cx="4892040" cy="1325880"/>
          </a:xfrm>
          <a:prstGeom prst="roundRect">
            <a:avLst>
              <a:gd name="adj" fmla="val 4828"/>
            </a:avLst>
          </a:prstGeom>
          <a:solidFill>
            <a:srgbClr val="DDEFE3"/>
          </a:solidFill>
          <a:ln w="12700">
            <a:solidFill>
              <a:srgbClr val="DDEFE3"/>
            </a:solidFill>
            <a:prstDash val="solid"/>
          </a:ln>
        </p:spPr>
      </p:sp>
      <p:sp>
        <p:nvSpPr>
          <p:cNvPr id="6" name="Text 3"/>
          <p:cNvSpPr txBox="1"/>
          <p:nvPr/>
        </p:nvSpPr>
        <p:spPr>
          <a:xfrm>
            <a:off x="7040880" y="1481328"/>
            <a:ext cx="4572000" cy="1371600"/>
          </a:xfrm>
          <a:prstGeom prst="rect">
            <a:avLst/>
          </a:prstGeom>
          <a:noFill/>
          <a:ln/>
        </p:spPr>
        <p:txBody>
          <a:bodyPr wrap="square" lIns="0" tIns="0" rIns="0" bIns="0" rtlCol="0" anchor="t"/>
          <a:lstStyle/>
          <a:p>
            <a:pPr indent="0" marL="0">
              <a:buNone/>
            </a:pPr>
            <a:r>
              <a:rPr lang="en-US" sz="1800" b="1" dirty="0">
                <a:solidFill>
                  <a:srgbClr val="2E7D4F"/>
                </a:solidFill>
                <a:latin typeface="Calibri" pitchFamily="34" charset="0"/>
                <a:ea typeface="Calibri" pitchFamily="34" charset="-122"/>
                <a:cs typeface="Calibri" pitchFamily="34" charset="-120"/>
              </a:rPr>
              <a:t>Good looks like</a:t>
            </a:r>
            <a:endParaRPr lang="en-US" sz="1600" dirty="0"/>
          </a:p>
          <a:p>
            <a:pPr marL="342900" indent="-342900">
              <a:buSzPct val="100000"/>
              <a:buChar char="•"/>
            </a:pPr>
            <a:r>
              <a:rPr lang="en-US" sz="1600" dirty="0">
                <a:solidFill>
                  <a:srgbClr val="1F2937"/>
                </a:solidFill>
                <a:latin typeface="Calibri" pitchFamily="34" charset="0"/>
                <a:ea typeface="Calibri" pitchFamily="34" charset="-122"/>
                <a:cs typeface="Calibri" pitchFamily="34" charset="-120"/>
              </a:rPr>
              <a:t>Clear, repeating breaths</a:t>
            </a:r>
            <a:endParaRPr lang="en-US" sz="1600" dirty="0"/>
          </a:p>
          <a:p>
            <a:pPr marL="342900" indent="-342900">
              <a:buSzPct val="100000"/>
              <a:buChar char="•"/>
            </a:pPr>
            <a:r>
              <a:rPr lang="en-US" sz="1600" dirty="0">
                <a:solidFill>
                  <a:srgbClr val="1F2937"/>
                </a:solidFill>
                <a:latin typeface="Calibri" pitchFamily="34" charset="0"/>
                <a:ea typeface="Calibri" pitchFamily="34" charset="-122"/>
                <a:cs typeface="Calibri" pitchFamily="34" charset="-120"/>
              </a:rPr>
              <a:t>Strong, visible rhythm (~10 Hz here)</a:t>
            </a:r>
            <a:endParaRPr lang="en-US" sz="1600" dirty="0"/>
          </a:p>
          <a:p>
            <a:pPr marL="342900" indent="-342900">
              <a:buSzPct val="100000"/>
              <a:buChar char="•"/>
            </a:pPr>
            <a:r>
              <a:rPr lang="en-US" sz="1600" dirty="0">
                <a:solidFill>
                  <a:srgbClr val="1F2937"/>
                </a:solidFill>
                <a:latin typeface="Calibri" pitchFamily="34" charset="0"/>
                <a:ea typeface="Calibri" pitchFamily="34" charset="-122"/>
                <a:cs typeface="Calibri" pitchFamily="34" charset="-120"/>
              </a:rPr>
              <a:t>Fairly stable amplitude</a:t>
            </a:r>
            <a:endParaRPr lang="en-US" sz="1600" dirty="0"/>
          </a:p>
        </p:txBody>
      </p:sp>
      <p:sp>
        <p:nvSpPr>
          <p:cNvPr id="7" name="Shape 4"/>
          <p:cNvSpPr/>
          <p:nvPr/>
        </p:nvSpPr>
        <p:spPr>
          <a:xfrm>
            <a:off x="6858000" y="2880360"/>
            <a:ext cx="4892040" cy="1325880"/>
          </a:xfrm>
          <a:prstGeom prst="roundRect">
            <a:avLst>
              <a:gd name="adj" fmla="val 4828"/>
            </a:avLst>
          </a:prstGeom>
          <a:solidFill>
            <a:srgbClr val="F8DCD9"/>
          </a:solidFill>
          <a:ln w="12700">
            <a:solidFill>
              <a:srgbClr val="F8DCD9"/>
            </a:solidFill>
            <a:prstDash val="solid"/>
          </a:ln>
        </p:spPr>
      </p:sp>
      <p:sp>
        <p:nvSpPr>
          <p:cNvPr id="8" name="Text 5"/>
          <p:cNvSpPr txBox="1"/>
          <p:nvPr/>
        </p:nvSpPr>
        <p:spPr>
          <a:xfrm>
            <a:off x="7040880" y="2944368"/>
            <a:ext cx="4572000" cy="1280160"/>
          </a:xfrm>
          <a:prstGeom prst="rect">
            <a:avLst/>
          </a:prstGeom>
          <a:noFill/>
          <a:ln/>
        </p:spPr>
        <p:txBody>
          <a:bodyPr wrap="square" lIns="0" tIns="0" rIns="0" bIns="0" rtlCol="0" anchor="t"/>
          <a:lstStyle/>
          <a:p>
            <a:pPr indent="0" marL="0">
              <a:buNone/>
            </a:pPr>
            <a:r>
              <a:rPr lang="en-US" sz="1800" b="1" dirty="0">
                <a:solidFill>
                  <a:srgbClr val="B42318"/>
                </a:solidFill>
                <a:latin typeface="Calibri" pitchFamily="34" charset="0"/>
                <a:ea typeface="Calibri" pitchFamily="34" charset="-122"/>
                <a:cs typeface="Calibri" pitchFamily="34" charset="-120"/>
              </a:rPr>
              <a:t>Bad looks like</a:t>
            </a:r>
            <a:endParaRPr lang="en-US" sz="1600" dirty="0"/>
          </a:p>
          <a:p>
            <a:pPr marL="342900" indent="-342900">
              <a:buSzPct val="100000"/>
              <a:buChar char="•"/>
            </a:pPr>
            <a:r>
              <a:rPr lang="en-US" sz="1600" dirty="0">
                <a:solidFill>
                  <a:srgbClr val="1F2937"/>
                </a:solidFill>
                <a:latin typeface="Calibri" pitchFamily="34" charset="0"/>
                <a:ea typeface="Calibri" pitchFamily="34" charset="-122"/>
                <a:cs typeface="Calibri" pitchFamily="34" charset="-120"/>
              </a:rPr>
              <a:t>Very weak, almost flat breathing</a:t>
            </a:r>
            <a:endParaRPr lang="en-US" sz="1600" dirty="0"/>
          </a:p>
          <a:p>
            <a:pPr marL="342900" indent="-342900">
              <a:buSzPct val="100000"/>
              <a:buChar char="•"/>
            </a:pPr>
            <a:r>
              <a:rPr lang="en-US" sz="1600" dirty="0">
                <a:solidFill>
                  <a:srgbClr val="1F2937"/>
                </a:solidFill>
                <a:latin typeface="Calibri" pitchFamily="34" charset="0"/>
                <a:ea typeface="Calibri" pitchFamily="34" charset="-122"/>
                <a:cs typeface="Calibri" pitchFamily="34" charset="-120"/>
              </a:rPr>
              <a:t>Breaths buried in slow drift</a:t>
            </a:r>
            <a:endParaRPr lang="en-US" sz="1600" dirty="0"/>
          </a:p>
          <a:p>
            <a:pPr marL="342900" indent="-342900">
              <a:buSzPct val="100000"/>
              <a:buChar char="•"/>
            </a:pPr>
            <a:r>
              <a:rPr lang="en-US" sz="1600" dirty="0">
                <a:solidFill>
                  <a:srgbClr val="1F2937"/>
                </a:solidFill>
                <a:latin typeface="Calibri" pitchFamily="34" charset="0"/>
                <a:ea typeface="Calibri" pitchFamily="34" charset="-122"/>
                <a:cs typeface="Calibri" pitchFamily="34" charset="-120"/>
              </a:rPr>
              <a:t>Large movement / contact artifacts</a:t>
            </a:r>
            <a:endParaRPr lang="en-US" sz="1600" dirty="0"/>
          </a:p>
        </p:txBody>
      </p:sp>
      <p:sp>
        <p:nvSpPr>
          <p:cNvPr id="9" name="Shape 6"/>
          <p:cNvSpPr/>
          <p:nvPr/>
        </p:nvSpPr>
        <p:spPr>
          <a:xfrm>
            <a:off x="6858000" y="4343400"/>
            <a:ext cx="4892040" cy="1600200"/>
          </a:xfrm>
          <a:prstGeom prst="roundRect">
            <a:avLst>
              <a:gd name="adj" fmla="val 4000"/>
            </a:avLst>
          </a:prstGeom>
          <a:solidFill>
            <a:srgbClr val="F3F4F6"/>
          </a:solidFill>
          <a:ln w="12700">
            <a:solidFill>
              <a:srgbClr val="C9D1DB"/>
            </a:solidFill>
            <a:prstDash val="solid"/>
          </a:ln>
        </p:spPr>
      </p:sp>
      <p:sp>
        <p:nvSpPr>
          <p:cNvPr id="10" name="Text 7"/>
          <p:cNvSpPr txBox="1"/>
          <p:nvPr/>
        </p:nvSpPr>
        <p:spPr>
          <a:xfrm>
            <a:off x="6995160" y="4407408"/>
            <a:ext cx="4617720" cy="1508760"/>
          </a:xfrm>
          <a:prstGeom prst="rect">
            <a:avLst/>
          </a:prstGeom>
          <a:noFill/>
          <a:ln/>
        </p:spPr>
        <p:txBody>
          <a:bodyPr wrap="square" lIns="0" tIns="0" rIns="0" bIns="0" rtlCol="0" anchor="t"/>
          <a:lstStyle/>
          <a:p>
            <a:pPr indent="0" marL="0">
              <a:buNone/>
            </a:pPr>
            <a:r>
              <a:rPr lang="en-US" sz="1400" b="1" dirty="0">
                <a:solidFill>
                  <a:srgbClr val="1D4E89"/>
                </a:solidFill>
                <a:latin typeface="Calibri" pitchFamily="34" charset="0"/>
                <a:ea typeface="Calibri" pitchFamily="34" charset="-122"/>
                <a:cs typeface="Calibri" pitchFamily="34" charset="-120"/>
              </a:rPr>
              <a:t>QC reference (10-s windows)</a:t>
            </a:r>
            <a:endParaRPr lang="en-US" sz="1300" dirty="0"/>
          </a:p>
          <a:p>
            <a:pPr indent="0" marL="0">
              <a:buNone/>
            </a:pPr>
            <a:r>
              <a:rPr lang="en-US" sz="1300" b="1" dirty="0">
                <a:solidFill>
                  <a:srgbClr val="1F2937"/>
                </a:solidFill>
                <a:latin typeface="Calibri" pitchFamily="34" charset="0"/>
                <a:ea typeface="Calibri" pitchFamily="34" charset="-122"/>
                <a:cs typeface="Calibri" pitchFamily="34" charset="-120"/>
              </a:rPr>
              <a:t>Signal loss: </a:t>
            </a:r>
            <a:pPr indent="0" marL="0">
              <a:buNone/>
            </a:pPr>
            <a:r>
              <a:rPr lang="en-US" sz="1300" dirty="0">
                <a:solidFill>
                  <a:srgbClr val="1F2937"/>
                </a:solidFill>
                <a:latin typeface="Calibri" pitchFamily="34" charset="0"/>
                <a:ea typeface="Calibri" pitchFamily="34" charset="-122"/>
                <a:cs typeface="Calibri" pitchFamily="34" charset="-120"/>
              </a:rPr>
              <a:t>window SD &lt; 25% of cohort median</a:t>
            </a:r>
            <a:endParaRPr lang="en-US" sz="1300" dirty="0"/>
          </a:p>
          <a:p>
            <a:pPr indent="0" marL="0">
              <a:buNone/>
            </a:pPr>
            <a:r>
              <a:rPr lang="en-US" sz="1300" b="1" dirty="0">
                <a:solidFill>
                  <a:srgbClr val="1F2937"/>
                </a:solidFill>
                <a:latin typeface="Calibri" pitchFamily="34" charset="0"/>
                <a:ea typeface="Calibri" pitchFamily="34" charset="-122"/>
                <a:cs typeface="Calibri" pitchFamily="34" charset="-120"/>
              </a:rPr>
              <a:t>Artifact: </a:t>
            </a:r>
            <a:pPr indent="0" marL="0">
              <a:buNone/>
            </a:pPr>
            <a:r>
              <a:rPr lang="en-US" sz="1300" dirty="0">
                <a:solidFill>
                  <a:srgbClr val="1F2937"/>
                </a:solidFill>
                <a:latin typeface="Calibri" pitchFamily="34" charset="0"/>
                <a:ea typeface="Calibri" pitchFamily="34" charset="-122"/>
                <a:cs typeface="Calibri" pitchFamily="34" charset="-120"/>
              </a:rPr>
              <a:t>peak &gt; 4× cohort median 99th pct</a:t>
            </a:r>
            <a:endParaRPr lang="en-US" sz="1300" dirty="0"/>
          </a:p>
          <a:p>
            <a:pPr indent="0" marL="0">
              <a:buNone/>
            </a:pPr>
            <a:r>
              <a:rPr lang="en-US" sz="1300" b="1" dirty="0">
                <a:solidFill>
                  <a:srgbClr val="1F2937"/>
                </a:solidFill>
                <a:latin typeface="Calibri" pitchFamily="34" charset="0"/>
                <a:ea typeface="Calibri" pitchFamily="34" charset="-122"/>
                <a:cs typeface="Calibri" pitchFamily="34" charset="-120"/>
              </a:rPr>
              <a:t>Weak rhythm: </a:t>
            </a:r>
            <a:pPr indent="0" marL="0">
              <a:buNone/>
            </a:pPr>
            <a:r>
              <a:rPr lang="en-US" sz="1300" dirty="0">
                <a:solidFill>
                  <a:srgbClr val="1F2937"/>
                </a:solidFill>
                <a:latin typeface="Calibri" pitchFamily="34" charset="0"/>
                <a:ea typeface="Calibri" pitchFamily="34" charset="-122"/>
                <a:cs typeface="Calibri" pitchFamily="34" charset="-120"/>
              </a:rPr>
              <a:t>&lt; 60% of power in 1–15 Hz</a:t>
            </a:r>
            <a:endParaRPr lang="en-US" sz="1300" dirty="0"/>
          </a:p>
          <a:p>
            <a:pPr indent="0" marL="0">
              <a:buNone/>
            </a:pPr>
            <a:r>
              <a:rPr lang="en-US" sz="1300" b="1" dirty="0">
                <a:solidFill>
                  <a:srgbClr val="1F2937"/>
                </a:solidFill>
                <a:latin typeface="Calibri" pitchFamily="34" charset="0"/>
                <a:ea typeface="Calibri" pitchFamily="34" charset="-122"/>
                <a:cs typeface="Calibri" pitchFamily="34" charset="-120"/>
              </a:rPr>
              <a:t>Session: </a:t>
            </a:r>
            <a:pPr indent="0" marL="0">
              <a:buNone/>
            </a:pPr>
            <a:r>
              <a:rPr lang="en-US" sz="1300" dirty="0">
                <a:solidFill>
                  <a:srgbClr val="1F2937"/>
                </a:solidFill>
                <a:latin typeface="Calibri" pitchFamily="34" charset="0"/>
                <a:ea typeface="Calibri" pitchFamily="34" charset="-122"/>
                <a:cs typeface="Calibri" pitchFamily="34" charset="-120"/>
              </a:rPr>
              <a:t>Good ≥ 85% of windows pass · Somewhat bad (review) 60–85% · Bad &lt; 60%</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11274552" cy="685800"/>
          </a:xfrm>
          <a:prstGeom prst="rect">
            <a:avLst/>
          </a:prstGeom>
          <a:noFill/>
          <a:ln/>
        </p:spPr>
        <p:txBody>
          <a:bodyPr wrap="square" lIns="0" tIns="0" rIns="0" bIns="0" rtlCol="0" anchor="ctr"/>
          <a:lstStyle/>
          <a:p>
            <a:pPr indent="0" marL="0">
              <a:buNone/>
            </a:pPr>
            <a:r>
              <a:rPr lang="en-US" sz="3200" b="1" dirty="0">
                <a:solidFill>
                  <a:srgbClr val="1F2937"/>
                </a:solidFill>
                <a:latin typeface="Calibri" pitchFamily="34" charset="0"/>
                <a:ea typeface="Calibri" pitchFamily="34" charset="-122"/>
                <a:cs typeface="Calibri" pitchFamily="34" charset="-120"/>
              </a:rPr>
              <a:t>7 Good  |  1 Somewhat bad  |  3 Bad</a:t>
            </a:r>
            <a:endParaRPr lang="en-US" sz="3200" dirty="0"/>
          </a:p>
        </p:txBody>
      </p:sp>
      <p:sp>
        <p:nvSpPr>
          <p:cNvPr id="3" name="Text 1"/>
          <p:cNvSpPr txBox="1"/>
          <p:nvPr/>
        </p:nvSpPr>
        <p:spPr>
          <a:xfrm>
            <a:off x="457200" y="914400"/>
            <a:ext cx="11274552" cy="384048"/>
          </a:xfrm>
          <a:prstGeom prst="rect">
            <a:avLst/>
          </a:prstGeom>
          <a:noFill/>
          <a:ln/>
        </p:spPr>
        <p:txBody>
          <a:bodyPr wrap="square" lIns="0" tIns="0" rIns="0" bIns="0" rtlCol="0" anchor="ctr"/>
          <a:lstStyle/>
          <a:p>
            <a:pPr indent="0" marL="0">
              <a:buNone/>
            </a:pPr>
            <a:r>
              <a:rPr lang="en-US" sz="1700" dirty="0">
                <a:solidFill>
                  <a:srgbClr val="4B5563"/>
                </a:solidFill>
                <a:latin typeface="Calibri" pitchFamily="34" charset="0"/>
                <a:ea typeface="Calibri" pitchFamily="34" charset="-122"/>
                <a:cs typeface="Calibri" pitchFamily="34" charset="-120"/>
              </a:rPr>
              <a:t>Trust: Good sessions · Use with caution: 11_2_s, 14_3_s · Check before use: 10_2_d, 11_3_s, 14_1_d</a:t>
            </a:r>
            <a:endParaRPr lang="en-US" sz="1700" dirty="0"/>
          </a:p>
        </p:txBody>
      </p:sp>
      <p:pic>
        <p:nvPicPr>
          <p:cNvPr id="4" name="Image 0" descr="C:\Users\thoma\AppData\Local\Temp\claude\c--Users-thoma-Code-ResearchCode-respiratory-pilot\591ae50f-759d-4223-81d2-c1b1caa9b462\scratchpad\deck\traces_qc_annot.png">    </p:cNvPr>
          <p:cNvPicPr>
            <a:picLocks noChangeAspect="1"/>
          </p:cNvPicPr>
          <p:nvPr/>
        </p:nvPicPr>
        <p:blipFill>
          <a:blip r:embed="rId1"/>
          <a:stretch>
            <a:fillRect/>
          </a:stretch>
        </p:blipFill>
        <p:spPr>
          <a:xfrm>
            <a:off x="594360" y="1371600"/>
            <a:ext cx="10972800" cy="5401994"/>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11274552" cy="685800"/>
          </a:xfrm>
          <a:prstGeom prst="rect">
            <a:avLst/>
          </a:prstGeom>
          <a:noFill/>
          <a:ln/>
        </p:spPr>
        <p:txBody>
          <a:bodyPr wrap="square" lIns="0" tIns="0" rIns="0" bIns="0" rtlCol="0" anchor="ctr"/>
          <a:lstStyle/>
          <a:p>
            <a:pPr indent="0" marL="0">
              <a:buNone/>
            </a:pPr>
            <a:r>
              <a:rPr lang="en-US" sz="3200" b="1" dirty="0">
                <a:solidFill>
                  <a:srgbClr val="1F2937"/>
                </a:solidFill>
                <a:latin typeface="Calibri" pitchFamily="34" charset="0"/>
                <a:ea typeface="Calibri" pitchFamily="34" charset="-122"/>
                <a:cs typeface="Calibri" pitchFamily="34" charset="-120"/>
              </a:rPr>
              <a:t>How behavior, video and respiration line up</a:t>
            </a:r>
            <a:endParaRPr lang="en-US" sz="3200" dirty="0"/>
          </a:p>
        </p:txBody>
      </p:sp>
      <p:sp>
        <p:nvSpPr>
          <p:cNvPr id="3" name="Text 1"/>
          <p:cNvSpPr txBox="1"/>
          <p:nvPr/>
        </p:nvSpPr>
        <p:spPr>
          <a:xfrm>
            <a:off x="457200" y="914400"/>
            <a:ext cx="11274552" cy="384048"/>
          </a:xfrm>
          <a:prstGeom prst="rect">
            <a:avLst/>
          </a:prstGeom>
          <a:noFill/>
          <a:ln/>
        </p:spPr>
        <p:txBody>
          <a:bodyPr wrap="square" lIns="0" tIns="0" rIns="0" bIns="0" rtlCol="0" anchor="ctr"/>
          <a:lstStyle/>
          <a:p>
            <a:pPr indent="0" marL="0">
              <a:buNone/>
            </a:pPr>
            <a:r>
              <a:rPr lang="en-US" sz="1700" dirty="0">
                <a:solidFill>
                  <a:srgbClr val="4B5563"/>
                </a:solidFill>
                <a:latin typeface="Calibri" pitchFamily="34" charset="0"/>
                <a:ea typeface="Calibri" pitchFamily="34" charset="-122"/>
                <a:cs typeface="Calibri" pitchFamily="34" charset="-120"/>
              </a:rPr>
              <a:t>Everything is matched through the Trodes clock (20,000 ticks per second)</a:t>
            </a:r>
            <a:endParaRPr lang="en-US" sz="1700" dirty="0"/>
          </a:p>
        </p:txBody>
      </p:sp>
      <p:sp>
        <p:nvSpPr>
          <p:cNvPr id="4" name="Shape 2"/>
          <p:cNvSpPr/>
          <p:nvPr/>
        </p:nvSpPr>
        <p:spPr>
          <a:xfrm>
            <a:off x="457200" y="1600200"/>
            <a:ext cx="2926080" cy="1234440"/>
          </a:xfrm>
          <a:prstGeom prst="roundRect">
            <a:avLst>
              <a:gd name="adj" fmla="val 5185"/>
            </a:avLst>
          </a:prstGeom>
          <a:solidFill>
            <a:srgbClr val="FBE6D6"/>
          </a:solidFill>
          <a:ln w="12700">
            <a:solidFill>
              <a:srgbClr val="FBE6D6"/>
            </a:solidFill>
            <a:prstDash val="solid"/>
          </a:ln>
        </p:spPr>
      </p:sp>
      <p:sp>
        <p:nvSpPr>
          <p:cNvPr id="5" name="Text 3"/>
          <p:cNvSpPr txBox="1"/>
          <p:nvPr/>
        </p:nvSpPr>
        <p:spPr>
          <a:xfrm>
            <a:off x="548640" y="1600200"/>
            <a:ext cx="2743200" cy="1234440"/>
          </a:xfrm>
          <a:prstGeom prst="rect">
            <a:avLst/>
          </a:prstGeom>
          <a:noFill/>
          <a:ln/>
        </p:spPr>
        <p:txBody>
          <a:bodyPr wrap="square" lIns="0" tIns="0" rIns="0" bIns="0" rtlCol="0" anchor="ctr"/>
          <a:lstStyle/>
          <a:p>
            <a:pPr algn="ctr" indent="0" marL="0">
              <a:buNone/>
            </a:pPr>
            <a:r>
              <a:rPr lang="en-US" sz="1800" b="1" dirty="0">
                <a:solidFill>
                  <a:srgbClr val="B45A1C"/>
                </a:solidFill>
                <a:latin typeface="Calibri" pitchFamily="34" charset="0"/>
                <a:ea typeface="Calibri" pitchFamily="34" charset="-122"/>
                <a:cs typeface="Calibri" pitchFamily="34" charset="-120"/>
              </a:rPr>
              <a:t>BORIS event / video frame</a:t>
            </a:r>
            <a:endParaRPr lang="en-US" sz="1500" dirty="0"/>
          </a:p>
          <a:p>
            <a:pPr algn="ctr" indent="0" marL="0">
              <a:buNone/>
            </a:pPr>
            <a:r>
              <a:rPr lang="en-US" sz="1400" dirty="0">
                <a:solidFill>
                  <a:srgbClr val="4B5563"/>
                </a:solidFill>
                <a:latin typeface="Calibri" pitchFamily="34" charset="0"/>
                <a:ea typeface="Calibri" pitchFamily="34" charset="-122"/>
                <a:cs typeface="Calibri" pitchFamily="34" charset="-120"/>
              </a:rPr>
              <a:t>e.g. frame 300 of the mp4</a:t>
            </a:r>
            <a:endParaRPr lang="en-US" sz="1500" dirty="0"/>
          </a:p>
        </p:txBody>
      </p:sp>
      <p:sp>
        <p:nvSpPr>
          <p:cNvPr id="6" name="Shape 4"/>
          <p:cNvSpPr/>
          <p:nvPr/>
        </p:nvSpPr>
        <p:spPr>
          <a:xfrm>
            <a:off x="4434840" y="1600200"/>
            <a:ext cx="3108960" cy="1234440"/>
          </a:xfrm>
          <a:prstGeom prst="roundRect">
            <a:avLst>
              <a:gd name="adj" fmla="val 5185"/>
            </a:avLst>
          </a:prstGeom>
          <a:solidFill>
            <a:srgbClr val="E5E7EB"/>
          </a:solidFill>
          <a:ln w="12700">
            <a:solidFill>
              <a:srgbClr val="E5E7EB"/>
            </a:solidFill>
            <a:prstDash val="solid"/>
          </a:ln>
        </p:spPr>
      </p:sp>
      <p:sp>
        <p:nvSpPr>
          <p:cNvPr id="7" name="Text 5"/>
          <p:cNvSpPr txBox="1"/>
          <p:nvPr/>
        </p:nvSpPr>
        <p:spPr>
          <a:xfrm>
            <a:off x="4526280" y="1600200"/>
            <a:ext cx="2926080" cy="1234440"/>
          </a:xfrm>
          <a:prstGeom prst="rect">
            <a:avLst/>
          </a:prstGeom>
          <a:noFill/>
          <a:ln/>
        </p:spPr>
        <p:txBody>
          <a:bodyPr wrap="square" lIns="0" tIns="0" rIns="0" bIns="0" rtlCol="0" anchor="ctr"/>
          <a:lstStyle/>
          <a:p>
            <a:pPr algn="ctr" indent="0" marL="0">
              <a:buNone/>
            </a:pPr>
            <a:r>
              <a:rPr lang="en-US" sz="1800" b="1" dirty="0">
                <a:solidFill>
                  <a:srgbClr val="1F2937"/>
                </a:solidFill>
                <a:latin typeface="Calibri" pitchFamily="34" charset="0"/>
                <a:ea typeface="Calibri" pitchFamily="34" charset="-122"/>
                <a:cs typeface="Calibri" pitchFamily="34" charset="-120"/>
              </a:rPr>
              <a:t>Trodes timestamp</a:t>
            </a:r>
            <a:endParaRPr lang="en-US" sz="1500" dirty="0"/>
          </a:p>
          <a:p>
            <a:pPr algn="ctr" indent="0" marL="0">
              <a:buNone/>
            </a:pPr>
            <a:r>
              <a:rPr lang="en-US" sz="1400" dirty="0">
                <a:solidFill>
                  <a:srgbClr val="4B5563"/>
                </a:solidFill>
                <a:latin typeface="Calibri" pitchFamily="34" charset="0"/>
                <a:ea typeface="Calibri" pitchFamily="34" charset="-122"/>
                <a:cs typeface="Calibri" pitchFamily="34" charset="-120"/>
              </a:rPr>
              <a:t>the clock tick stamped on that frame</a:t>
            </a:r>
            <a:endParaRPr lang="en-US" sz="1500" dirty="0"/>
          </a:p>
        </p:txBody>
      </p:sp>
      <p:sp>
        <p:nvSpPr>
          <p:cNvPr id="8" name="Shape 6"/>
          <p:cNvSpPr/>
          <p:nvPr/>
        </p:nvSpPr>
        <p:spPr>
          <a:xfrm>
            <a:off x="8595360" y="1600200"/>
            <a:ext cx="3154680" cy="1234440"/>
          </a:xfrm>
          <a:prstGeom prst="roundRect">
            <a:avLst>
              <a:gd name="adj" fmla="val 5185"/>
            </a:avLst>
          </a:prstGeom>
          <a:solidFill>
            <a:srgbClr val="DCE7F5"/>
          </a:solidFill>
          <a:ln w="12700">
            <a:solidFill>
              <a:srgbClr val="DCE7F5"/>
            </a:solidFill>
            <a:prstDash val="solid"/>
          </a:ln>
        </p:spPr>
      </p:sp>
      <p:sp>
        <p:nvSpPr>
          <p:cNvPr id="9" name="Text 7"/>
          <p:cNvSpPr txBox="1"/>
          <p:nvPr/>
        </p:nvSpPr>
        <p:spPr>
          <a:xfrm>
            <a:off x="8686800" y="1600200"/>
            <a:ext cx="2971800" cy="1234440"/>
          </a:xfrm>
          <a:prstGeom prst="rect">
            <a:avLst/>
          </a:prstGeom>
          <a:noFill/>
          <a:ln/>
        </p:spPr>
        <p:txBody>
          <a:bodyPr wrap="square" lIns="0" tIns="0" rIns="0" bIns="0" rtlCol="0" anchor="ctr"/>
          <a:lstStyle/>
          <a:p>
            <a:pPr algn="ctr" indent="0" marL="0">
              <a:buNone/>
            </a:pPr>
            <a:r>
              <a:rPr lang="en-US" sz="1800" b="1" dirty="0">
                <a:solidFill>
                  <a:srgbClr val="1D4E89"/>
                </a:solidFill>
                <a:latin typeface="Calibri" pitchFamily="34" charset="0"/>
                <a:ea typeface="Calibri" pitchFamily="34" charset="-122"/>
                <a:cs typeface="Calibri" pitchFamily="34" charset="-120"/>
              </a:rPr>
              <a:t>Respiration sample</a:t>
            </a:r>
            <a:endParaRPr lang="en-US" sz="1500" dirty="0"/>
          </a:p>
          <a:p>
            <a:pPr algn="ctr" indent="0" marL="0">
              <a:buNone/>
            </a:pPr>
            <a:r>
              <a:rPr lang="en-US" sz="1400" dirty="0">
                <a:solidFill>
                  <a:srgbClr val="4B5563"/>
                </a:solidFill>
                <a:latin typeface="Calibri" pitchFamily="34" charset="0"/>
                <a:ea typeface="Calibri" pitchFamily="34" charset="-122"/>
                <a:cs typeface="Calibri" pitchFamily="34" charset="-120"/>
              </a:rPr>
              <a:t>the sample with the same tick</a:t>
            </a:r>
            <a:endParaRPr lang="en-US" sz="1500" dirty="0"/>
          </a:p>
        </p:txBody>
      </p:sp>
      <p:sp>
        <p:nvSpPr>
          <p:cNvPr id="10" name="Shape 8"/>
          <p:cNvSpPr/>
          <p:nvPr/>
        </p:nvSpPr>
        <p:spPr>
          <a:xfrm>
            <a:off x="3429000" y="2217420"/>
            <a:ext cx="960120" cy="0"/>
          </a:xfrm>
          <a:prstGeom prst="line">
            <a:avLst/>
          </a:prstGeom>
          <a:noFill/>
          <a:ln w="31750">
            <a:solidFill>
              <a:srgbClr val="1F2937"/>
            </a:solidFill>
            <a:prstDash val="solid"/>
            <a:tailEnd type="triangle"/>
          </a:ln>
        </p:spPr>
      </p:sp>
      <p:sp>
        <p:nvSpPr>
          <p:cNvPr id="11" name="Shape 9"/>
          <p:cNvSpPr/>
          <p:nvPr/>
        </p:nvSpPr>
        <p:spPr>
          <a:xfrm>
            <a:off x="7589520" y="2217420"/>
            <a:ext cx="960120" cy="0"/>
          </a:xfrm>
          <a:prstGeom prst="line">
            <a:avLst/>
          </a:prstGeom>
          <a:noFill/>
          <a:ln w="31750">
            <a:solidFill>
              <a:srgbClr val="1F2937"/>
            </a:solidFill>
            <a:prstDash val="solid"/>
            <a:tailEnd type="triangle"/>
          </a:ln>
        </p:spPr>
      </p:sp>
      <p:sp>
        <p:nvSpPr>
          <p:cNvPr id="12" name="Text 10"/>
          <p:cNvSpPr txBox="1"/>
          <p:nvPr/>
        </p:nvSpPr>
        <p:spPr>
          <a:xfrm>
            <a:off x="457200" y="2971800"/>
            <a:ext cx="11274552" cy="365760"/>
          </a:xfrm>
          <a:prstGeom prst="rect">
            <a:avLst/>
          </a:prstGeom>
          <a:noFill/>
          <a:ln/>
        </p:spPr>
        <p:txBody>
          <a:bodyPr wrap="square" lIns="0" tIns="0" rIns="0" bIns="0" rtlCol="0" anchor="t"/>
          <a:lstStyle/>
          <a:p>
            <a:pPr indent="0" marL="0">
              <a:buNone/>
            </a:pPr>
            <a:r>
              <a:rPr lang="en-US" sz="1400" b="1" dirty="0">
                <a:solidFill>
                  <a:srgbClr val="4B5563"/>
                </a:solidFill>
                <a:latin typeface="Calibri" pitchFamily="34" charset="0"/>
                <a:ea typeface="Calibri" pitchFamily="34" charset="-122"/>
                <a:cs typeface="Calibri" pitchFamily="34" charset="-120"/>
              </a:rPr>
              <a:t>In each h5: </a:t>
            </a:r>
            <a:pPr indent="0" marL="0">
              <a:buNone/>
            </a:pPr>
            <a:r>
              <a:rPr lang="en-US" sz="1400" dirty="0">
                <a:solidFill>
                  <a:srgbClr val="4B5563"/>
                </a:solidFill>
                <a:latin typeface="Calibri" pitchFamily="34" charset="0"/>
                <a:ea typeface="Calibri" pitchFamily="34" charset="-122"/>
                <a:cs typeface="Calibri" pitchFamily="34" charset="-120"/>
              </a:rPr>
              <a:t>/video/frame_to_resp_index[frame] does this lookup; video_time_to_resp_time() converts BORIS seconds.</a:t>
            </a:r>
            <a:endParaRPr lang="en-US" sz="1400" dirty="0"/>
          </a:p>
        </p:txBody>
      </p:sp>
      <p:sp>
        <p:nvSpPr>
          <p:cNvPr id="13" name="Shape 11"/>
          <p:cNvSpPr/>
          <p:nvPr/>
        </p:nvSpPr>
        <p:spPr>
          <a:xfrm>
            <a:off x="457200" y="3566160"/>
            <a:ext cx="5486400" cy="1691640"/>
          </a:xfrm>
          <a:prstGeom prst="roundRect">
            <a:avLst>
              <a:gd name="adj" fmla="val 3784"/>
            </a:avLst>
          </a:prstGeom>
          <a:solidFill>
            <a:srgbClr val="EAF0F7"/>
          </a:solidFill>
          <a:ln w="12700">
            <a:solidFill>
              <a:srgbClr val="EAF0F7"/>
            </a:solidFill>
            <a:prstDash val="solid"/>
          </a:ln>
        </p:spPr>
      </p:sp>
      <p:sp>
        <p:nvSpPr>
          <p:cNvPr id="14" name="Text 12"/>
          <p:cNvSpPr txBox="1"/>
          <p:nvPr/>
        </p:nvSpPr>
        <p:spPr>
          <a:xfrm>
            <a:off x="640080" y="3657600"/>
            <a:ext cx="5120640" cy="2011680"/>
          </a:xfrm>
          <a:prstGeom prst="rect">
            <a:avLst/>
          </a:prstGeom>
          <a:noFill/>
          <a:ln/>
        </p:spPr>
        <p:txBody>
          <a:bodyPr wrap="square" lIns="0" tIns="0" rIns="0" bIns="0" rtlCol="0" anchor="t"/>
          <a:lstStyle/>
          <a:p>
            <a:pPr indent="0" marL="0">
              <a:buNone/>
            </a:pPr>
            <a:r>
              <a:rPr lang="en-US" sz="1800" b="1" dirty="0">
                <a:solidFill>
                  <a:srgbClr val="1D4E89"/>
                </a:solidFill>
                <a:latin typeface="Calibri" pitchFamily="34" charset="0"/>
                <a:ea typeface="Calibri" pitchFamily="34" charset="-122"/>
                <a:cs typeface="Calibri" pitchFamily="34" charset="-120"/>
              </a:rPr>
              <a:t>Cohort 2: tethered</a:t>
            </a:r>
            <a:endParaRPr lang="en-US" sz="1500" dirty="0"/>
          </a:p>
          <a:p>
            <a:pPr marL="342900" indent="-342900">
              <a:buSzPct val="100000"/>
              <a:buChar char="•"/>
            </a:pPr>
            <a:r>
              <a:rPr lang="en-US" sz="1500" dirty="0">
                <a:solidFill>
                  <a:srgbClr val="1F2937"/>
                </a:solidFill>
                <a:latin typeface="Calibri" pitchFamily="34" charset="0"/>
                <a:ea typeface="Calibri" pitchFamily="34" charset="-122"/>
                <a:cs typeface="Calibri" pitchFamily="34" charset="-120"/>
              </a:rPr>
              <a:t>Respiration and camera frames are stamped by the same clock.</a:t>
            </a:r>
            <a:endParaRPr lang="en-US" sz="1500" dirty="0"/>
          </a:p>
          <a:p>
            <a:pPr marL="342900" indent="-342900">
              <a:buSzPct val="100000"/>
              <a:buChar char="•"/>
            </a:pPr>
            <a:r>
              <a:rPr lang="en-US" sz="1500" dirty="0">
                <a:solidFill>
                  <a:srgbClr val="1F2937"/>
                </a:solidFill>
                <a:latin typeface="Calibri" pitchFamily="34" charset="0"/>
                <a:ea typeface="Calibri" pitchFamily="34" charset="-122"/>
                <a:cs typeface="Calibri" pitchFamily="34" charset="-120"/>
              </a:rPr>
              <a:t>No wireless headstage, so no merge step.</a:t>
            </a:r>
            <a:endParaRPr lang="en-US" sz="1500" dirty="0"/>
          </a:p>
          <a:p>
            <a:pPr marL="342900" indent="-342900">
              <a:buSzPct val="100000"/>
              <a:buChar char="•"/>
            </a:pPr>
            <a:r>
              <a:rPr lang="en-US" sz="1500" dirty="0">
                <a:solidFill>
                  <a:srgbClr val="1F2937"/>
                </a:solidFill>
                <a:latin typeface="Calibri" pitchFamily="34" charset="0"/>
                <a:ea typeface="Calibri" pitchFamily="34" charset="-122"/>
                <a:cs typeface="Calibri" pitchFamily="34" charset="-120"/>
              </a:rPr>
              <a:t>Video and respiration start within 0.07 s of each other.</a:t>
            </a:r>
            <a:endParaRPr lang="en-US" sz="1500" dirty="0"/>
          </a:p>
        </p:txBody>
      </p:sp>
      <p:sp>
        <p:nvSpPr>
          <p:cNvPr id="15" name="Shape 13"/>
          <p:cNvSpPr/>
          <p:nvPr/>
        </p:nvSpPr>
        <p:spPr>
          <a:xfrm>
            <a:off x="6263640" y="3566160"/>
            <a:ext cx="5486400" cy="1691640"/>
          </a:xfrm>
          <a:prstGeom prst="roundRect">
            <a:avLst>
              <a:gd name="adj" fmla="val 3784"/>
            </a:avLst>
          </a:prstGeom>
          <a:solidFill>
            <a:srgbClr val="F3E8D6"/>
          </a:solidFill>
          <a:ln w="12700">
            <a:solidFill>
              <a:srgbClr val="F3E8D6"/>
            </a:solidFill>
            <a:prstDash val="solid"/>
          </a:ln>
        </p:spPr>
      </p:sp>
      <p:sp>
        <p:nvSpPr>
          <p:cNvPr id="16" name="Text 14"/>
          <p:cNvSpPr txBox="1"/>
          <p:nvPr/>
        </p:nvSpPr>
        <p:spPr>
          <a:xfrm>
            <a:off x="6446520" y="3657600"/>
            <a:ext cx="5120640" cy="2011680"/>
          </a:xfrm>
          <a:prstGeom prst="rect">
            <a:avLst/>
          </a:prstGeom>
          <a:noFill/>
          <a:ln/>
        </p:spPr>
        <p:txBody>
          <a:bodyPr wrap="square" lIns="0" tIns="0" rIns="0" bIns="0" rtlCol="0" anchor="t"/>
          <a:lstStyle/>
          <a:p>
            <a:pPr indent="0" marL="0">
              <a:buNone/>
            </a:pPr>
            <a:r>
              <a:rPr lang="en-US" sz="1800" b="1" dirty="0">
                <a:solidFill>
                  <a:srgbClr val="B45A1C"/>
                </a:solidFill>
                <a:latin typeface="Calibri" pitchFamily="34" charset="0"/>
                <a:ea typeface="Calibri" pitchFamily="34" charset="-122"/>
                <a:cs typeface="Calibri" pitchFamily="34" charset="-120"/>
              </a:rPr>
              <a:t>Aim1: wireless</a:t>
            </a:r>
            <a:endParaRPr lang="en-US" sz="1500" dirty="0"/>
          </a:p>
          <a:p>
            <a:pPr marL="342900" indent="-342900">
              <a:buSzPct val="100000"/>
              <a:buChar char="•"/>
            </a:pPr>
            <a:r>
              <a:rPr lang="en-US" sz="1500" dirty="0">
                <a:solidFill>
                  <a:srgbClr val="1F2937"/>
                </a:solidFill>
                <a:latin typeface="Calibri" pitchFamily="34" charset="0"/>
                <a:ea typeface="Calibri" pitchFamily="34" charset="-122"/>
                <a:cs typeface="Calibri" pitchFamily="34" charset="-120"/>
              </a:rPr>
              <a:t>The headstage keeps its own clock; files are merged afterwards.</a:t>
            </a:r>
            <a:endParaRPr lang="en-US" sz="1500" dirty="0"/>
          </a:p>
          <a:p>
            <a:pPr marL="342900" indent="-342900">
              <a:buSzPct val="100000"/>
              <a:buChar char="•"/>
            </a:pPr>
            <a:r>
              <a:rPr lang="en-US" sz="1500" dirty="0">
                <a:solidFill>
                  <a:srgbClr val="1F2937"/>
                </a:solidFill>
                <a:latin typeface="Calibri" pitchFamily="34" charset="0"/>
                <a:ea typeface="Calibri" pitchFamily="34" charset="-122"/>
                <a:cs typeface="Calibri" pitchFamily="34" charset="-120"/>
              </a:rPr>
              <a:t>Merging adds copied samples and can cut the start of respiration.</a:t>
            </a:r>
            <a:endParaRPr lang="en-US" sz="1500" dirty="0"/>
          </a:p>
          <a:p>
            <a:pPr marL="342900" indent="-342900">
              <a:buSzPct val="100000"/>
              <a:buChar char="•"/>
            </a:pPr>
            <a:r>
              <a:rPr lang="en-US" sz="1500" dirty="0">
                <a:solidFill>
                  <a:srgbClr val="1F2937"/>
                </a:solidFill>
                <a:latin typeface="Calibri" pitchFamily="34" charset="0"/>
                <a:ea typeface="Calibri" pitchFamily="34" charset="-122"/>
                <a:cs typeface="Calibri" pitchFamily="34" charset="-120"/>
              </a:rPr>
              <a:t>Only timestamps line things up correctly.</a:t>
            </a:r>
            <a:endParaRPr lang="en-US" sz="1500" dirty="0"/>
          </a:p>
        </p:txBody>
      </p:sp>
      <p:sp>
        <p:nvSpPr>
          <p:cNvPr id="17" name="Text 15"/>
          <p:cNvSpPr txBox="1"/>
          <p:nvPr/>
        </p:nvSpPr>
        <p:spPr>
          <a:xfrm>
            <a:off x="457200" y="5486400"/>
            <a:ext cx="11274552" cy="457200"/>
          </a:xfrm>
          <a:prstGeom prst="rect">
            <a:avLst/>
          </a:prstGeom>
          <a:noFill/>
          <a:ln/>
        </p:spPr>
        <p:txBody>
          <a:bodyPr wrap="square" lIns="0" tIns="0" rIns="0" bIns="0" rtlCol="0" anchor="t"/>
          <a:lstStyle/>
          <a:p>
            <a:pPr indent="0" marL="0">
              <a:buNone/>
            </a:pPr>
            <a:r>
              <a:rPr lang="en-US" sz="1500" b="1" dirty="0">
                <a:solidFill>
                  <a:srgbClr val="1F2937"/>
                </a:solidFill>
                <a:latin typeface="Calibri" pitchFamily="34" charset="0"/>
                <a:ea typeface="Calibri" pitchFamily="34" charset="-122"/>
                <a:cs typeface="Calibri" pitchFamily="34" charset="-120"/>
              </a:rPr>
              <a:t>So: </a:t>
            </a:r>
            <a:pPr indent="0" marL="0">
              <a:buNone/>
            </a:pPr>
            <a:r>
              <a:rPr lang="en-US" sz="1500" dirty="0">
                <a:solidFill>
                  <a:srgbClr val="1F2937"/>
                </a:solidFill>
                <a:latin typeface="Calibri" pitchFamily="34" charset="0"/>
                <a:ea typeface="Calibri" pitchFamily="34" charset="-122"/>
                <a:cs typeface="Calibri" pitchFamily="34" charset="-120"/>
              </a:rPr>
              <a:t>use timestamps, not sample number ÷ 20,000 and not mp4 seconds. </a:t>
            </a:r>
            <a:pPr indent="0" marL="0">
              <a:buNone/>
            </a:pPr>
            <a:r>
              <a:rPr lang="en-US" sz="1500" dirty="0">
                <a:solidFill>
                  <a:srgbClr val="1F2937"/>
                </a:solidFill>
                <a:latin typeface="Calibri" pitchFamily="34" charset="0"/>
                <a:ea typeface="Calibri" pitchFamily="34" charset="-122"/>
                <a:cs typeface="Calibri" pitchFamily="34" charset="-120"/>
              </a:rPr>
              <a:t>Docs: </a:t>
            </a:r>
            <a:pPr indent="0" marL="0">
              <a:buNone/>
            </a:pPr>
            <a:r>
              <a:rPr lang="en-US" sz="1500" u="sng" dirty="0">
                <a:solidFill>
                  <a:srgbClr val="1D4E89"/>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Trodes camera module (video timestamps)</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11274552" cy="685800"/>
          </a:xfrm>
          <a:prstGeom prst="rect">
            <a:avLst/>
          </a:prstGeom>
          <a:noFill/>
          <a:ln/>
        </p:spPr>
        <p:txBody>
          <a:bodyPr wrap="square" lIns="0" tIns="0" rIns="0" bIns="0" rtlCol="0" anchor="ctr"/>
          <a:lstStyle/>
          <a:p>
            <a:pPr indent="0" marL="0">
              <a:buNone/>
            </a:pPr>
            <a:r>
              <a:rPr lang="en-US" sz="3200" b="1" dirty="0">
                <a:solidFill>
                  <a:srgbClr val="1F2937"/>
                </a:solidFill>
                <a:latin typeface="Calibri" pitchFamily="34" charset="0"/>
                <a:ea typeface="Calibri" pitchFamily="34" charset="-122"/>
                <a:cs typeface="Calibri" pitchFamily="34" charset="-120"/>
              </a:rPr>
              <a:t>The two timing problems, visually</a:t>
            </a:r>
            <a:endParaRPr lang="en-US" sz="3200" dirty="0"/>
          </a:p>
        </p:txBody>
      </p:sp>
      <p:sp>
        <p:nvSpPr>
          <p:cNvPr id="3" name="Text 1"/>
          <p:cNvSpPr txBox="1"/>
          <p:nvPr/>
        </p:nvSpPr>
        <p:spPr>
          <a:xfrm>
            <a:off x="457200" y="914400"/>
            <a:ext cx="11274552" cy="384048"/>
          </a:xfrm>
          <a:prstGeom prst="rect">
            <a:avLst/>
          </a:prstGeom>
          <a:noFill/>
          <a:ln/>
        </p:spPr>
        <p:txBody>
          <a:bodyPr wrap="square" lIns="0" tIns="0" rIns="0" bIns="0" rtlCol="0" anchor="ctr"/>
          <a:lstStyle/>
          <a:p>
            <a:pPr indent="0" marL="0">
              <a:buNone/>
            </a:pPr>
            <a:r>
              <a:rPr lang="en-US" sz="1700" dirty="0">
                <a:solidFill>
                  <a:srgbClr val="4B5563"/>
                </a:solidFill>
                <a:latin typeface="Calibri" pitchFamily="34" charset="0"/>
                <a:ea typeface="Calibri" pitchFamily="34" charset="-122"/>
                <a:cs typeface="Calibri" pitchFamily="34" charset="-120"/>
              </a:rPr>
              <a:t>Old Aim1 (wireless, merged) files only · cohort 2 has neither</a:t>
            </a:r>
            <a:endParaRPr lang="en-US" sz="1700" dirty="0"/>
          </a:p>
        </p:txBody>
      </p:sp>
      <p:sp>
        <p:nvSpPr>
          <p:cNvPr id="4" name="Text 2"/>
          <p:cNvSpPr txBox="1"/>
          <p:nvPr/>
        </p:nvSpPr>
        <p:spPr>
          <a:xfrm>
            <a:off x="457200" y="1417320"/>
            <a:ext cx="5577840" cy="365760"/>
          </a:xfrm>
          <a:prstGeom prst="rect">
            <a:avLst/>
          </a:prstGeom>
          <a:noFill/>
          <a:ln/>
        </p:spPr>
        <p:txBody>
          <a:bodyPr wrap="square" lIns="0" tIns="0" rIns="0" bIns="0" rtlCol="0" anchor="t"/>
          <a:lstStyle/>
          <a:p>
            <a:pPr indent="0" marL="0">
              <a:buNone/>
            </a:pPr>
            <a:r>
              <a:rPr lang="en-US" sz="1700" b="1" dirty="0">
                <a:solidFill>
                  <a:srgbClr val="1D4E89"/>
                </a:solidFill>
                <a:latin typeface="Calibri" pitchFamily="34" charset="0"/>
                <a:ea typeface="Calibri" pitchFamily="34" charset="-122"/>
                <a:cs typeface="Calibri" pitchFamily="34" charset="-120"/>
              </a:rPr>
              <a:t>1  Drift: copied samples stretch the time axis</a:t>
            </a:r>
            <a:endParaRPr lang="en-US" sz="1700" dirty="0"/>
          </a:p>
        </p:txBody>
      </p:sp>
      <p:sp>
        <p:nvSpPr>
          <p:cNvPr id="5" name="Shape 3"/>
          <p:cNvSpPr/>
          <p:nvPr/>
        </p:nvSpPr>
        <p:spPr>
          <a:xfrm>
            <a:off x="457200" y="1874520"/>
            <a:ext cx="402336" cy="402336"/>
          </a:xfrm>
          <a:prstGeom prst="rect">
            <a:avLst/>
          </a:prstGeom>
          <a:solidFill>
            <a:srgbClr val="DCE7F5"/>
          </a:solidFill>
          <a:ln w="12700">
            <a:solidFill>
              <a:srgbClr val="1D4E89"/>
            </a:solidFill>
            <a:prstDash val="solid"/>
          </a:ln>
        </p:spPr>
      </p:sp>
      <p:sp>
        <p:nvSpPr>
          <p:cNvPr id="6" name="Text 4"/>
          <p:cNvSpPr txBox="1"/>
          <p:nvPr/>
        </p:nvSpPr>
        <p:spPr>
          <a:xfrm>
            <a:off x="457200" y="1874520"/>
            <a:ext cx="402336" cy="402336"/>
          </a:xfrm>
          <a:prstGeom prst="rect">
            <a:avLst/>
          </a:prstGeom>
          <a:noFill/>
          <a:ln/>
        </p:spPr>
        <p:txBody>
          <a:bodyPr wrap="square" lIns="0" tIns="0" rIns="0" bIns="0" rtlCol="0" anchor="ctr"/>
          <a:lstStyle/>
          <a:p>
            <a:pPr algn="ctr" indent="0" marL="0">
              <a:buNone/>
            </a:pPr>
            <a:r>
              <a:rPr lang="en-US" sz="1300" b="1" dirty="0">
                <a:solidFill>
                  <a:srgbClr val="1D4E89"/>
                </a:solidFill>
                <a:latin typeface="Calibri" pitchFamily="34" charset="0"/>
                <a:ea typeface="Calibri" pitchFamily="34" charset="-122"/>
                <a:cs typeface="Calibri" pitchFamily="34" charset="-120"/>
              </a:rPr>
              <a:t>1</a:t>
            </a:r>
            <a:endParaRPr lang="en-US" sz="1300" dirty="0"/>
          </a:p>
        </p:txBody>
      </p:sp>
      <p:sp>
        <p:nvSpPr>
          <p:cNvPr id="7" name="Shape 5"/>
          <p:cNvSpPr/>
          <p:nvPr/>
        </p:nvSpPr>
        <p:spPr>
          <a:xfrm>
            <a:off x="914400" y="1874520"/>
            <a:ext cx="402336" cy="402336"/>
          </a:xfrm>
          <a:prstGeom prst="rect">
            <a:avLst/>
          </a:prstGeom>
          <a:solidFill>
            <a:srgbClr val="DCE7F5"/>
          </a:solidFill>
          <a:ln w="12700">
            <a:solidFill>
              <a:srgbClr val="1D4E89"/>
            </a:solidFill>
            <a:prstDash val="solid"/>
          </a:ln>
        </p:spPr>
      </p:sp>
      <p:sp>
        <p:nvSpPr>
          <p:cNvPr id="8" name="Text 6"/>
          <p:cNvSpPr txBox="1"/>
          <p:nvPr/>
        </p:nvSpPr>
        <p:spPr>
          <a:xfrm>
            <a:off x="914400" y="1874520"/>
            <a:ext cx="402336" cy="402336"/>
          </a:xfrm>
          <a:prstGeom prst="rect">
            <a:avLst/>
          </a:prstGeom>
          <a:noFill/>
          <a:ln/>
        </p:spPr>
        <p:txBody>
          <a:bodyPr wrap="square" lIns="0" tIns="0" rIns="0" bIns="0" rtlCol="0" anchor="ctr"/>
          <a:lstStyle/>
          <a:p>
            <a:pPr algn="ctr" indent="0" marL="0">
              <a:buNone/>
            </a:pPr>
            <a:r>
              <a:rPr lang="en-US" sz="1300" b="1" dirty="0">
                <a:solidFill>
                  <a:srgbClr val="1D4E89"/>
                </a:solidFill>
                <a:latin typeface="Calibri" pitchFamily="34" charset="0"/>
                <a:ea typeface="Calibri" pitchFamily="34" charset="-122"/>
                <a:cs typeface="Calibri" pitchFamily="34" charset="-120"/>
              </a:rPr>
              <a:t>2</a:t>
            </a:r>
            <a:endParaRPr lang="en-US" sz="1300" dirty="0"/>
          </a:p>
        </p:txBody>
      </p:sp>
      <p:sp>
        <p:nvSpPr>
          <p:cNvPr id="9" name="Shape 7"/>
          <p:cNvSpPr/>
          <p:nvPr/>
        </p:nvSpPr>
        <p:spPr>
          <a:xfrm>
            <a:off x="1371600" y="1874520"/>
            <a:ext cx="402336" cy="402336"/>
          </a:xfrm>
          <a:prstGeom prst="rect">
            <a:avLst/>
          </a:prstGeom>
          <a:solidFill>
            <a:srgbClr val="DCE7F5"/>
          </a:solidFill>
          <a:ln w="12700">
            <a:solidFill>
              <a:srgbClr val="1D4E89"/>
            </a:solidFill>
            <a:prstDash val="solid"/>
          </a:ln>
        </p:spPr>
      </p:sp>
      <p:sp>
        <p:nvSpPr>
          <p:cNvPr id="10" name="Text 8"/>
          <p:cNvSpPr txBox="1"/>
          <p:nvPr/>
        </p:nvSpPr>
        <p:spPr>
          <a:xfrm>
            <a:off x="1371600" y="1874520"/>
            <a:ext cx="402336" cy="402336"/>
          </a:xfrm>
          <a:prstGeom prst="rect">
            <a:avLst/>
          </a:prstGeom>
          <a:noFill/>
          <a:ln/>
        </p:spPr>
        <p:txBody>
          <a:bodyPr wrap="square" lIns="0" tIns="0" rIns="0" bIns="0" rtlCol="0" anchor="ctr"/>
          <a:lstStyle/>
          <a:p>
            <a:pPr algn="ctr" indent="0" marL="0">
              <a:buNone/>
            </a:pPr>
            <a:r>
              <a:rPr lang="en-US" sz="1300" b="1" dirty="0">
                <a:solidFill>
                  <a:srgbClr val="1D4E89"/>
                </a:solidFill>
                <a:latin typeface="Calibri" pitchFamily="34" charset="0"/>
                <a:ea typeface="Calibri" pitchFamily="34" charset="-122"/>
                <a:cs typeface="Calibri" pitchFamily="34" charset="-120"/>
              </a:rPr>
              <a:t>3</a:t>
            </a:r>
            <a:endParaRPr lang="en-US" sz="1300" dirty="0"/>
          </a:p>
        </p:txBody>
      </p:sp>
      <p:sp>
        <p:nvSpPr>
          <p:cNvPr id="11" name="Shape 9"/>
          <p:cNvSpPr/>
          <p:nvPr/>
        </p:nvSpPr>
        <p:spPr>
          <a:xfrm>
            <a:off x="1828800" y="1874520"/>
            <a:ext cx="402336" cy="402336"/>
          </a:xfrm>
          <a:prstGeom prst="rect">
            <a:avLst/>
          </a:prstGeom>
          <a:solidFill>
            <a:srgbClr val="DCE7F5"/>
          </a:solidFill>
          <a:ln w="12700">
            <a:solidFill>
              <a:srgbClr val="1D4E89"/>
            </a:solidFill>
            <a:prstDash val="solid"/>
          </a:ln>
        </p:spPr>
      </p:sp>
      <p:sp>
        <p:nvSpPr>
          <p:cNvPr id="12" name="Text 10"/>
          <p:cNvSpPr txBox="1"/>
          <p:nvPr/>
        </p:nvSpPr>
        <p:spPr>
          <a:xfrm>
            <a:off x="1828800" y="1874520"/>
            <a:ext cx="402336" cy="402336"/>
          </a:xfrm>
          <a:prstGeom prst="rect">
            <a:avLst/>
          </a:prstGeom>
          <a:noFill/>
          <a:ln/>
        </p:spPr>
        <p:txBody>
          <a:bodyPr wrap="square" lIns="0" tIns="0" rIns="0" bIns="0" rtlCol="0" anchor="ctr"/>
          <a:lstStyle/>
          <a:p>
            <a:pPr algn="ctr" indent="0" marL="0">
              <a:buNone/>
            </a:pPr>
            <a:r>
              <a:rPr lang="en-US" sz="1300" b="1" dirty="0">
                <a:solidFill>
                  <a:srgbClr val="1D4E89"/>
                </a:solidFill>
                <a:latin typeface="Calibri" pitchFamily="34" charset="0"/>
                <a:ea typeface="Calibri" pitchFamily="34" charset="-122"/>
                <a:cs typeface="Calibri" pitchFamily="34" charset="-120"/>
              </a:rPr>
              <a:t>4</a:t>
            </a:r>
            <a:endParaRPr lang="en-US" sz="1300" dirty="0"/>
          </a:p>
        </p:txBody>
      </p:sp>
      <p:sp>
        <p:nvSpPr>
          <p:cNvPr id="13" name="Shape 11"/>
          <p:cNvSpPr/>
          <p:nvPr/>
        </p:nvSpPr>
        <p:spPr>
          <a:xfrm>
            <a:off x="2286000" y="1874520"/>
            <a:ext cx="402336" cy="402336"/>
          </a:xfrm>
          <a:prstGeom prst="rect">
            <a:avLst/>
          </a:prstGeom>
          <a:solidFill>
            <a:srgbClr val="F8DCD9"/>
          </a:solidFill>
          <a:ln w="12700">
            <a:solidFill>
              <a:srgbClr val="B42318"/>
            </a:solidFill>
            <a:prstDash val="solid"/>
          </a:ln>
        </p:spPr>
      </p:sp>
      <p:sp>
        <p:nvSpPr>
          <p:cNvPr id="14" name="Text 12"/>
          <p:cNvSpPr txBox="1"/>
          <p:nvPr/>
        </p:nvSpPr>
        <p:spPr>
          <a:xfrm>
            <a:off x="2286000" y="1874520"/>
            <a:ext cx="402336" cy="402336"/>
          </a:xfrm>
          <a:prstGeom prst="rect">
            <a:avLst/>
          </a:prstGeom>
          <a:noFill/>
          <a:ln/>
        </p:spPr>
        <p:txBody>
          <a:bodyPr wrap="square" lIns="0" tIns="0" rIns="0" bIns="0" rtlCol="0" anchor="ctr"/>
          <a:lstStyle/>
          <a:p>
            <a:pPr algn="ctr" indent="0" marL="0">
              <a:buNone/>
            </a:pPr>
            <a:r>
              <a:rPr lang="en-US" sz="1300" b="1" dirty="0">
                <a:solidFill>
                  <a:srgbClr val="B42318"/>
                </a:solidFill>
                <a:latin typeface="Calibri" pitchFamily="34" charset="0"/>
                <a:ea typeface="Calibri" pitchFamily="34" charset="-122"/>
                <a:cs typeface="Calibri" pitchFamily="34" charset="-120"/>
              </a:rPr>
              <a:t>4</a:t>
            </a:r>
            <a:endParaRPr lang="en-US" sz="1300" dirty="0"/>
          </a:p>
        </p:txBody>
      </p:sp>
      <p:sp>
        <p:nvSpPr>
          <p:cNvPr id="15" name="Shape 13"/>
          <p:cNvSpPr/>
          <p:nvPr/>
        </p:nvSpPr>
        <p:spPr>
          <a:xfrm>
            <a:off x="2743200" y="1874520"/>
            <a:ext cx="402336" cy="402336"/>
          </a:xfrm>
          <a:prstGeom prst="rect">
            <a:avLst/>
          </a:prstGeom>
          <a:solidFill>
            <a:srgbClr val="F8DCD9"/>
          </a:solidFill>
          <a:ln w="12700">
            <a:solidFill>
              <a:srgbClr val="B42318"/>
            </a:solidFill>
            <a:prstDash val="solid"/>
          </a:ln>
        </p:spPr>
      </p:sp>
      <p:sp>
        <p:nvSpPr>
          <p:cNvPr id="16" name="Text 14"/>
          <p:cNvSpPr txBox="1"/>
          <p:nvPr/>
        </p:nvSpPr>
        <p:spPr>
          <a:xfrm>
            <a:off x="2743200" y="1874520"/>
            <a:ext cx="402336" cy="402336"/>
          </a:xfrm>
          <a:prstGeom prst="rect">
            <a:avLst/>
          </a:prstGeom>
          <a:noFill/>
          <a:ln/>
        </p:spPr>
        <p:txBody>
          <a:bodyPr wrap="square" lIns="0" tIns="0" rIns="0" bIns="0" rtlCol="0" anchor="ctr"/>
          <a:lstStyle/>
          <a:p>
            <a:pPr algn="ctr" indent="0" marL="0">
              <a:buNone/>
            </a:pPr>
            <a:r>
              <a:rPr lang="en-US" sz="1300" b="1" dirty="0">
                <a:solidFill>
                  <a:srgbClr val="B42318"/>
                </a:solidFill>
                <a:latin typeface="Calibri" pitchFamily="34" charset="0"/>
                <a:ea typeface="Calibri" pitchFamily="34" charset="-122"/>
                <a:cs typeface="Calibri" pitchFamily="34" charset="-120"/>
              </a:rPr>
              <a:t>4</a:t>
            </a:r>
            <a:endParaRPr lang="en-US" sz="1300" dirty="0"/>
          </a:p>
        </p:txBody>
      </p:sp>
      <p:sp>
        <p:nvSpPr>
          <p:cNvPr id="17" name="Shape 15"/>
          <p:cNvSpPr/>
          <p:nvPr/>
        </p:nvSpPr>
        <p:spPr>
          <a:xfrm>
            <a:off x="3200400" y="1874520"/>
            <a:ext cx="402336" cy="402336"/>
          </a:xfrm>
          <a:prstGeom prst="rect">
            <a:avLst/>
          </a:prstGeom>
          <a:solidFill>
            <a:srgbClr val="DCE7F5"/>
          </a:solidFill>
          <a:ln w="12700">
            <a:solidFill>
              <a:srgbClr val="1D4E89"/>
            </a:solidFill>
            <a:prstDash val="solid"/>
          </a:ln>
        </p:spPr>
      </p:sp>
      <p:sp>
        <p:nvSpPr>
          <p:cNvPr id="18" name="Text 16"/>
          <p:cNvSpPr txBox="1"/>
          <p:nvPr/>
        </p:nvSpPr>
        <p:spPr>
          <a:xfrm>
            <a:off x="3200400" y="1874520"/>
            <a:ext cx="402336" cy="402336"/>
          </a:xfrm>
          <a:prstGeom prst="rect">
            <a:avLst/>
          </a:prstGeom>
          <a:noFill/>
          <a:ln/>
        </p:spPr>
        <p:txBody>
          <a:bodyPr wrap="square" lIns="0" tIns="0" rIns="0" bIns="0" rtlCol="0" anchor="ctr"/>
          <a:lstStyle/>
          <a:p>
            <a:pPr algn="ctr" indent="0" marL="0">
              <a:buNone/>
            </a:pPr>
            <a:r>
              <a:rPr lang="en-US" sz="1300" b="1" dirty="0">
                <a:solidFill>
                  <a:srgbClr val="1D4E89"/>
                </a:solidFill>
                <a:latin typeface="Calibri" pitchFamily="34" charset="0"/>
                <a:ea typeface="Calibri" pitchFamily="34" charset="-122"/>
                <a:cs typeface="Calibri" pitchFamily="34" charset="-120"/>
              </a:rPr>
              <a:t>5</a:t>
            </a:r>
            <a:endParaRPr lang="en-US" sz="1300" dirty="0"/>
          </a:p>
        </p:txBody>
      </p:sp>
      <p:sp>
        <p:nvSpPr>
          <p:cNvPr id="19" name="Shape 17"/>
          <p:cNvSpPr/>
          <p:nvPr/>
        </p:nvSpPr>
        <p:spPr>
          <a:xfrm>
            <a:off x="3657600" y="1874520"/>
            <a:ext cx="402336" cy="402336"/>
          </a:xfrm>
          <a:prstGeom prst="rect">
            <a:avLst/>
          </a:prstGeom>
          <a:solidFill>
            <a:srgbClr val="DCE7F5"/>
          </a:solidFill>
          <a:ln w="12700">
            <a:solidFill>
              <a:srgbClr val="1D4E89"/>
            </a:solidFill>
            <a:prstDash val="solid"/>
          </a:ln>
        </p:spPr>
      </p:sp>
      <p:sp>
        <p:nvSpPr>
          <p:cNvPr id="20" name="Text 18"/>
          <p:cNvSpPr txBox="1"/>
          <p:nvPr/>
        </p:nvSpPr>
        <p:spPr>
          <a:xfrm>
            <a:off x="3657600" y="1874520"/>
            <a:ext cx="402336" cy="402336"/>
          </a:xfrm>
          <a:prstGeom prst="rect">
            <a:avLst/>
          </a:prstGeom>
          <a:noFill/>
          <a:ln/>
        </p:spPr>
        <p:txBody>
          <a:bodyPr wrap="square" lIns="0" tIns="0" rIns="0" bIns="0" rtlCol="0" anchor="ctr"/>
          <a:lstStyle/>
          <a:p>
            <a:pPr algn="ctr" indent="0" marL="0">
              <a:buNone/>
            </a:pPr>
            <a:r>
              <a:rPr lang="en-US" sz="1300" b="1" dirty="0">
                <a:solidFill>
                  <a:srgbClr val="1D4E89"/>
                </a:solidFill>
                <a:latin typeface="Calibri" pitchFamily="34" charset="0"/>
                <a:ea typeface="Calibri" pitchFamily="34" charset="-122"/>
                <a:cs typeface="Calibri" pitchFamily="34" charset="-120"/>
              </a:rPr>
              <a:t>6</a:t>
            </a:r>
            <a:endParaRPr lang="en-US" sz="1300" dirty="0"/>
          </a:p>
        </p:txBody>
      </p:sp>
      <p:sp>
        <p:nvSpPr>
          <p:cNvPr id="21" name="Shape 19"/>
          <p:cNvSpPr/>
          <p:nvPr/>
        </p:nvSpPr>
        <p:spPr>
          <a:xfrm>
            <a:off x="4114800" y="1874520"/>
            <a:ext cx="402336" cy="402336"/>
          </a:xfrm>
          <a:prstGeom prst="rect">
            <a:avLst/>
          </a:prstGeom>
          <a:solidFill>
            <a:srgbClr val="DCE7F5"/>
          </a:solidFill>
          <a:ln w="12700">
            <a:solidFill>
              <a:srgbClr val="1D4E89"/>
            </a:solidFill>
            <a:prstDash val="solid"/>
          </a:ln>
        </p:spPr>
      </p:sp>
      <p:sp>
        <p:nvSpPr>
          <p:cNvPr id="22" name="Text 20"/>
          <p:cNvSpPr txBox="1"/>
          <p:nvPr/>
        </p:nvSpPr>
        <p:spPr>
          <a:xfrm>
            <a:off x="4114800" y="1874520"/>
            <a:ext cx="402336" cy="402336"/>
          </a:xfrm>
          <a:prstGeom prst="rect">
            <a:avLst/>
          </a:prstGeom>
          <a:noFill/>
          <a:ln/>
        </p:spPr>
        <p:txBody>
          <a:bodyPr wrap="square" lIns="0" tIns="0" rIns="0" bIns="0" rtlCol="0" anchor="ctr"/>
          <a:lstStyle/>
          <a:p>
            <a:pPr algn="ctr" indent="0" marL="0">
              <a:buNone/>
            </a:pPr>
            <a:r>
              <a:rPr lang="en-US" sz="1300" b="1" dirty="0">
                <a:solidFill>
                  <a:srgbClr val="1D4E89"/>
                </a:solidFill>
                <a:latin typeface="Calibri" pitchFamily="34" charset="0"/>
                <a:ea typeface="Calibri" pitchFamily="34" charset="-122"/>
                <a:cs typeface="Calibri" pitchFamily="34" charset="-120"/>
              </a:rPr>
              <a:t>7</a:t>
            </a:r>
            <a:endParaRPr lang="en-US" sz="1300" dirty="0"/>
          </a:p>
        </p:txBody>
      </p:sp>
      <p:sp>
        <p:nvSpPr>
          <p:cNvPr id="23" name="Shape 21"/>
          <p:cNvSpPr/>
          <p:nvPr/>
        </p:nvSpPr>
        <p:spPr>
          <a:xfrm>
            <a:off x="4572000" y="1874520"/>
            <a:ext cx="402336" cy="402336"/>
          </a:xfrm>
          <a:prstGeom prst="rect">
            <a:avLst/>
          </a:prstGeom>
          <a:solidFill>
            <a:srgbClr val="DCE7F5"/>
          </a:solidFill>
          <a:ln w="12700">
            <a:solidFill>
              <a:srgbClr val="1D4E89"/>
            </a:solidFill>
            <a:prstDash val="solid"/>
          </a:ln>
        </p:spPr>
      </p:sp>
      <p:sp>
        <p:nvSpPr>
          <p:cNvPr id="24" name="Text 22"/>
          <p:cNvSpPr txBox="1"/>
          <p:nvPr/>
        </p:nvSpPr>
        <p:spPr>
          <a:xfrm>
            <a:off x="4572000" y="1874520"/>
            <a:ext cx="402336" cy="402336"/>
          </a:xfrm>
          <a:prstGeom prst="rect">
            <a:avLst/>
          </a:prstGeom>
          <a:noFill/>
          <a:ln/>
        </p:spPr>
        <p:txBody>
          <a:bodyPr wrap="square" lIns="0" tIns="0" rIns="0" bIns="0" rtlCol="0" anchor="ctr"/>
          <a:lstStyle/>
          <a:p>
            <a:pPr algn="ctr" indent="0" marL="0">
              <a:buNone/>
            </a:pPr>
            <a:r>
              <a:rPr lang="en-US" sz="1300" b="1" dirty="0">
                <a:solidFill>
                  <a:srgbClr val="1D4E89"/>
                </a:solidFill>
                <a:latin typeface="Calibri" pitchFamily="34" charset="0"/>
                <a:ea typeface="Calibri" pitchFamily="34" charset="-122"/>
                <a:cs typeface="Calibri" pitchFamily="34" charset="-120"/>
              </a:rPr>
              <a:t>8</a:t>
            </a:r>
            <a:endParaRPr lang="en-US" sz="1300" dirty="0"/>
          </a:p>
        </p:txBody>
      </p:sp>
      <p:sp>
        <p:nvSpPr>
          <p:cNvPr id="25" name="Shape 23"/>
          <p:cNvSpPr/>
          <p:nvPr/>
        </p:nvSpPr>
        <p:spPr>
          <a:xfrm>
            <a:off x="5029200" y="1874520"/>
            <a:ext cx="402336" cy="402336"/>
          </a:xfrm>
          <a:prstGeom prst="rect">
            <a:avLst/>
          </a:prstGeom>
          <a:solidFill>
            <a:srgbClr val="F8DCD9"/>
          </a:solidFill>
          <a:ln w="12700">
            <a:solidFill>
              <a:srgbClr val="B42318"/>
            </a:solidFill>
            <a:prstDash val="solid"/>
          </a:ln>
        </p:spPr>
      </p:sp>
      <p:sp>
        <p:nvSpPr>
          <p:cNvPr id="26" name="Text 24"/>
          <p:cNvSpPr txBox="1"/>
          <p:nvPr/>
        </p:nvSpPr>
        <p:spPr>
          <a:xfrm>
            <a:off x="5029200" y="1874520"/>
            <a:ext cx="402336" cy="402336"/>
          </a:xfrm>
          <a:prstGeom prst="rect">
            <a:avLst/>
          </a:prstGeom>
          <a:noFill/>
          <a:ln/>
        </p:spPr>
        <p:txBody>
          <a:bodyPr wrap="square" lIns="0" tIns="0" rIns="0" bIns="0" rtlCol="0" anchor="ctr"/>
          <a:lstStyle/>
          <a:p>
            <a:pPr algn="ctr" indent="0" marL="0">
              <a:buNone/>
            </a:pPr>
            <a:r>
              <a:rPr lang="en-US" sz="1300" b="1" dirty="0">
                <a:solidFill>
                  <a:srgbClr val="B42318"/>
                </a:solidFill>
                <a:latin typeface="Calibri" pitchFamily="34" charset="0"/>
                <a:ea typeface="Calibri" pitchFamily="34" charset="-122"/>
                <a:cs typeface="Calibri" pitchFamily="34" charset="-120"/>
              </a:rPr>
              <a:t>8</a:t>
            </a:r>
            <a:endParaRPr lang="en-US" sz="1300" dirty="0"/>
          </a:p>
        </p:txBody>
      </p:sp>
      <p:sp>
        <p:nvSpPr>
          <p:cNvPr id="27" name="Shape 25"/>
          <p:cNvSpPr/>
          <p:nvPr/>
        </p:nvSpPr>
        <p:spPr>
          <a:xfrm>
            <a:off x="5486400" y="1874520"/>
            <a:ext cx="402336" cy="402336"/>
          </a:xfrm>
          <a:prstGeom prst="rect">
            <a:avLst/>
          </a:prstGeom>
          <a:solidFill>
            <a:srgbClr val="DCE7F5"/>
          </a:solidFill>
          <a:ln w="12700">
            <a:solidFill>
              <a:srgbClr val="1D4E89"/>
            </a:solidFill>
            <a:prstDash val="solid"/>
          </a:ln>
        </p:spPr>
      </p:sp>
      <p:sp>
        <p:nvSpPr>
          <p:cNvPr id="28" name="Text 26"/>
          <p:cNvSpPr txBox="1"/>
          <p:nvPr/>
        </p:nvSpPr>
        <p:spPr>
          <a:xfrm>
            <a:off x="5486400" y="1874520"/>
            <a:ext cx="402336" cy="402336"/>
          </a:xfrm>
          <a:prstGeom prst="rect">
            <a:avLst/>
          </a:prstGeom>
          <a:noFill/>
          <a:ln/>
        </p:spPr>
        <p:txBody>
          <a:bodyPr wrap="square" lIns="0" tIns="0" rIns="0" bIns="0" rtlCol="0" anchor="ctr"/>
          <a:lstStyle/>
          <a:p>
            <a:pPr algn="ctr" indent="0" marL="0">
              <a:buNone/>
            </a:pPr>
            <a:r>
              <a:rPr lang="en-US" sz="1300" b="1" dirty="0">
                <a:solidFill>
                  <a:srgbClr val="1D4E89"/>
                </a:solidFill>
                <a:latin typeface="Calibri" pitchFamily="34" charset="0"/>
                <a:ea typeface="Calibri" pitchFamily="34" charset="-122"/>
                <a:cs typeface="Calibri" pitchFamily="34" charset="-120"/>
              </a:rPr>
              <a:t>9</a:t>
            </a:r>
            <a:endParaRPr lang="en-US" sz="1300" dirty="0"/>
          </a:p>
        </p:txBody>
      </p:sp>
      <p:sp>
        <p:nvSpPr>
          <p:cNvPr id="29" name="Text 27"/>
          <p:cNvSpPr txBox="1"/>
          <p:nvPr/>
        </p:nvSpPr>
        <p:spPr>
          <a:xfrm>
            <a:off x="457200" y="2331720"/>
            <a:ext cx="5577840" cy="320040"/>
          </a:xfrm>
          <a:prstGeom prst="rect">
            <a:avLst/>
          </a:prstGeom>
          <a:noFill/>
          <a:ln/>
        </p:spPr>
        <p:txBody>
          <a:bodyPr wrap="square" lIns="0" tIns="0" rIns="0" bIns="0" rtlCol="0" anchor="t"/>
          <a:lstStyle/>
          <a:p>
            <a:pPr indent="0" marL="0">
              <a:buNone/>
            </a:pPr>
            <a:r>
              <a:rPr lang="en-US" sz="1200" dirty="0">
                <a:solidFill>
                  <a:srgbClr val="4B5563"/>
                </a:solidFill>
                <a:latin typeface="Calibri" pitchFamily="34" charset="0"/>
                <a:ea typeface="Calibri" pitchFamily="34" charset="-122"/>
                <a:cs typeface="Calibri" pitchFamily="34" charset="-120"/>
              </a:rPr>
              <a:t>Trodes tick of each sample. </a:t>
            </a:r>
            <a:pPr indent="0" marL="0">
              <a:buNone/>
            </a:pPr>
            <a:r>
              <a:rPr lang="en-US" sz="1200" b="1" dirty="0">
                <a:solidFill>
                  <a:srgbClr val="B42318"/>
                </a:solidFill>
                <a:latin typeface="Calibri" pitchFamily="34" charset="0"/>
                <a:ea typeface="Calibri" pitchFamily="34" charset="-122"/>
                <a:cs typeface="Calibri" pitchFamily="34" charset="-120"/>
              </a:rPr>
              <a:t>Red = copy added by the merge</a:t>
            </a:r>
            <a:pPr indent="0" marL="0">
              <a:buNone/>
            </a:pPr>
            <a:r>
              <a:rPr lang="en-US" sz="1200" dirty="0">
                <a:solidFill>
                  <a:srgbClr val="4B5563"/>
                </a:solidFill>
                <a:latin typeface="Calibri" pitchFamily="34" charset="0"/>
                <a:ea typeface="Calibri" pitchFamily="34" charset="-122"/>
                <a:cs typeface="Calibri" pitchFamily="34" charset="-120"/>
              </a:rPr>
              <a:t> (same tick, same value).</a:t>
            </a:r>
            <a:endParaRPr lang="en-US" sz="1200" dirty="0"/>
          </a:p>
        </p:txBody>
      </p:sp>
      <p:sp>
        <p:nvSpPr>
          <p:cNvPr id="30" name="Text 28"/>
          <p:cNvSpPr txBox="1"/>
          <p:nvPr/>
        </p:nvSpPr>
        <p:spPr>
          <a:xfrm>
            <a:off x="457200" y="2651760"/>
            <a:ext cx="5577840" cy="548640"/>
          </a:xfrm>
          <a:prstGeom prst="rect">
            <a:avLst/>
          </a:prstGeom>
          <a:noFill/>
          <a:ln/>
        </p:spPr>
        <p:txBody>
          <a:bodyPr wrap="square" lIns="0" tIns="0" rIns="0" bIns="0" rtlCol="0" anchor="t"/>
          <a:lstStyle/>
          <a:p>
            <a:pPr indent="0" marL="0">
              <a:buNone/>
            </a:pPr>
            <a:r>
              <a:rPr lang="en-US" sz="1400" dirty="0">
                <a:solidFill>
                  <a:srgbClr val="1F2937"/>
                </a:solidFill>
                <a:latin typeface="Calibri" pitchFamily="34" charset="0"/>
                <a:ea typeface="Calibri" pitchFamily="34" charset="-122"/>
                <a:cs typeface="Calibri" pitchFamily="34" charset="-120"/>
              </a:rPr>
              <a:t>Old code: time = sample number ÷ 20,000, so each copy adds fake time: respiration is read too early (~27,000 copies per session):</a:t>
            </a:r>
            <a:endParaRPr lang="en-US" sz="1400" dirty="0"/>
          </a:p>
        </p:txBody>
      </p:sp>
      <p:pic>
        <p:nvPicPr>
          <p:cNvPr id="31" name="Image 0" descr="C:\Users\thoma\AppData\Local\Temp\claude\c--Users-thoma-Code-ResearchCode-respiratory-pilot\591ae50f-759d-4223-81d2-c1b1caa9b462\scratchpad\deck\drift2.png">    </p:cNvPr>
          <p:cNvPicPr>
            <a:picLocks noChangeAspect="1"/>
          </p:cNvPicPr>
          <p:nvPr/>
        </p:nvPicPr>
        <p:blipFill>
          <a:blip r:embed="rId1"/>
          <a:stretch>
            <a:fillRect/>
          </a:stretch>
        </p:blipFill>
        <p:spPr>
          <a:xfrm>
            <a:off x="548640" y="3200400"/>
            <a:ext cx="4572000" cy="2654710"/>
          </a:xfrm>
          <a:prstGeom prst="rect">
            <a:avLst/>
          </a:prstGeom>
        </p:spPr>
      </p:pic>
      <p:sp>
        <p:nvSpPr>
          <p:cNvPr id="32" name="Text 29"/>
          <p:cNvSpPr txBox="1"/>
          <p:nvPr/>
        </p:nvSpPr>
        <p:spPr>
          <a:xfrm>
            <a:off x="6355080" y="1417320"/>
            <a:ext cx="5394960" cy="365760"/>
          </a:xfrm>
          <a:prstGeom prst="rect">
            <a:avLst/>
          </a:prstGeom>
          <a:noFill/>
          <a:ln/>
        </p:spPr>
        <p:txBody>
          <a:bodyPr wrap="square" lIns="0" tIns="0" rIns="0" bIns="0" rtlCol="0" anchor="t"/>
          <a:lstStyle/>
          <a:p>
            <a:pPr indent="0" marL="0">
              <a:buNone/>
            </a:pPr>
            <a:r>
              <a:rPr lang="en-US" sz="1700" b="1" dirty="0">
                <a:solidFill>
                  <a:srgbClr val="1D4E89"/>
                </a:solidFill>
                <a:latin typeface="Calibri" pitchFamily="34" charset="0"/>
                <a:ea typeface="Calibri" pitchFamily="34" charset="-122"/>
                <a:cs typeface="Calibri" pitchFamily="34" charset="-120"/>
              </a:rPr>
              <a:t>2  Offset: the merge cuts the start of respiration</a:t>
            </a:r>
            <a:endParaRPr lang="en-US" sz="1700" dirty="0"/>
          </a:p>
        </p:txBody>
      </p:sp>
      <p:sp>
        <p:nvSpPr>
          <p:cNvPr id="33" name="Text 30"/>
          <p:cNvSpPr txBox="1"/>
          <p:nvPr/>
        </p:nvSpPr>
        <p:spPr>
          <a:xfrm>
            <a:off x="6355080" y="1874520"/>
            <a:ext cx="5349240" cy="274320"/>
          </a:xfrm>
          <a:prstGeom prst="rect">
            <a:avLst/>
          </a:prstGeom>
          <a:noFill/>
          <a:ln/>
        </p:spPr>
        <p:txBody>
          <a:bodyPr wrap="square" lIns="0" tIns="0" rIns="0" bIns="0" rtlCol="0" anchor="t"/>
          <a:lstStyle/>
          <a:p>
            <a:pPr indent="0" marL="0">
              <a:buNone/>
            </a:pPr>
            <a:r>
              <a:rPr lang="en-US" sz="1300" b="1" dirty="0">
                <a:solidFill>
                  <a:srgbClr val="1F2937"/>
                </a:solidFill>
                <a:latin typeface="Calibri" pitchFamily="34" charset="0"/>
                <a:ea typeface="Calibri" pitchFamily="34" charset="-122"/>
                <a:cs typeface="Calibri" pitchFamily="34" charset="-120"/>
              </a:rPr>
              <a:t>Camera frames</a:t>
            </a:r>
            <a:endParaRPr lang="en-US" sz="1300" dirty="0"/>
          </a:p>
        </p:txBody>
      </p:sp>
      <p:sp>
        <p:nvSpPr>
          <p:cNvPr id="34" name="Shape 31"/>
          <p:cNvSpPr/>
          <p:nvPr/>
        </p:nvSpPr>
        <p:spPr>
          <a:xfrm>
            <a:off x="6355080" y="2167128"/>
            <a:ext cx="5349240" cy="292608"/>
          </a:xfrm>
          <a:prstGeom prst="rect">
            <a:avLst/>
          </a:prstGeom>
          <a:solidFill>
            <a:srgbClr val="1D4E89"/>
          </a:solidFill>
          <a:ln w="12700">
            <a:solidFill>
              <a:srgbClr val="1D4E89"/>
            </a:solidFill>
            <a:prstDash val="solid"/>
          </a:ln>
        </p:spPr>
      </p:sp>
      <p:sp>
        <p:nvSpPr>
          <p:cNvPr id="35" name="Text 32"/>
          <p:cNvSpPr txBox="1"/>
          <p:nvPr/>
        </p:nvSpPr>
        <p:spPr>
          <a:xfrm>
            <a:off x="6355080" y="2651760"/>
            <a:ext cx="5349240" cy="274320"/>
          </a:xfrm>
          <a:prstGeom prst="rect">
            <a:avLst/>
          </a:prstGeom>
          <a:noFill/>
          <a:ln/>
        </p:spPr>
        <p:txBody>
          <a:bodyPr wrap="square" lIns="0" tIns="0" rIns="0" bIns="0" rtlCol="0" anchor="t"/>
          <a:lstStyle/>
          <a:p>
            <a:pPr indent="0" marL="0">
              <a:buNone/>
            </a:pPr>
            <a:r>
              <a:rPr lang="en-US" sz="1300" b="1" dirty="0">
                <a:solidFill>
                  <a:srgbClr val="1F2937"/>
                </a:solidFill>
                <a:latin typeface="Calibri" pitchFamily="34" charset="0"/>
                <a:ea typeface="Calibri" pitchFamily="34" charset="-122"/>
                <a:cs typeface="Calibri" pitchFamily="34" charset="-120"/>
              </a:rPr>
              <a:t>Respiration, unmerged</a:t>
            </a:r>
            <a:endParaRPr lang="en-US" sz="1300" dirty="0"/>
          </a:p>
        </p:txBody>
      </p:sp>
      <p:sp>
        <p:nvSpPr>
          <p:cNvPr id="36" name="Shape 33"/>
          <p:cNvSpPr/>
          <p:nvPr/>
        </p:nvSpPr>
        <p:spPr>
          <a:xfrm>
            <a:off x="6355080" y="2944368"/>
            <a:ext cx="5349240" cy="292608"/>
          </a:xfrm>
          <a:prstGeom prst="rect">
            <a:avLst/>
          </a:prstGeom>
          <a:solidFill>
            <a:srgbClr val="4B8B5E"/>
          </a:solidFill>
          <a:ln w="12700">
            <a:solidFill>
              <a:srgbClr val="4B8B5E"/>
            </a:solidFill>
            <a:prstDash val="solid"/>
          </a:ln>
        </p:spPr>
      </p:sp>
      <p:sp>
        <p:nvSpPr>
          <p:cNvPr id="37" name="Text 34"/>
          <p:cNvSpPr txBox="1"/>
          <p:nvPr/>
        </p:nvSpPr>
        <p:spPr>
          <a:xfrm>
            <a:off x="6355080" y="3429000"/>
            <a:ext cx="5349240" cy="274320"/>
          </a:xfrm>
          <a:prstGeom prst="rect">
            <a:avLst/>
          </a:prstGeom>
          <a:noFill/>
          <a:ln/>
        </p:spPr>
        <p:txBody>
          <a:bodyPr wrap="square" lIns="0" tIns="0" rIns="0" bIns="0" rtlCol="0" anchor="t"/>
          <a:lstStyle/>
          <a:p>
            <a:pPr indent="0" marL="0">
              <a:buNone/>
            </a:pPr>
            <a:r>
              <a:rPr lang="en-US" sz="1300" b="1" dirty="0">
                <a:solidFill>
                  <a:srgbClr val="1F2937"/>
                </a:solidFill>
                <a:latin typeface="Calibri" pitchFamily="34" charset="0"/>
                <a:ea typeface="Calibri" pitchFamily="34" charset="-122"/>
                <a:cs typeface="Calibri" pitchFamily="34" charset="-120"/>
              </a:rPr>
              <a:t>Respiration, merged (old h5s)</a:t>
            </a:r>
            <a:endParaRPr lang="en-US" sz="1300" dirty="0"/>
          </a:p>
        </p:txBody>
      </p:sp>
      <p:sp>
        <p:nvSpPr>
          <p:cNvPr id="38" name="Shape 35"/>
          <p:cNvSpPr/>
          <p:nvPr/>
        </p:nvSpPr>
        <p:spPr>
          <a:xfrm>
            <a:off x="6355080" y="3721608"/>
            <a:ext cx="1950690" cy="292608"/>
          </a:xfrm>
          <a:prstGeom prst="rect">
            <a:avLst/>
          </a:prstGeom>
          <a:solidFill>
            <a:srgbClr val="E5E7EB"/>
          </a:solidFill>
          <a:ln w="12700">
            <a:solidFill>
              <a:srgbClr val="9CA3AF"/>
            </a:solidFill>
            <a:prstDash val="dash"/>
          </a:ln>
        </p:spPr>
      </p:sp>
      <p:sp>
        <p:nvSpPr>
          <p:cNvPr id="39" name="Text 36"/>
          <p:cNvSpPr txBox="1"/>
          <p:nvPr/>
        </p:nvSpPr>
        <p:spPr>
          <a:xfrm>
            <a:off x="6355080" y="3721608"/>
            <a:ext cx="1950690" cy="292608"/>
          </a:xfrm>
          <a:prstGeom prst="rect">
            <a:avLst/>
          </a:prstGeom>
          <a:noFill/>
          <a:ln/>
        </p:spPr>
        <p:txBody>
          <a:bodyPr wrap="square" lIns="0" tIns="0" rIns="0" bIns="0" rtlCol="0" anchor="ctr"/>
          <a:lstStyle/>
          <a:p>
            <a:pPr algn="ctr" indent="0" marL="0">
              <a:buNone/>
            </a:pPr>
            <a:r>
              <a:rPr lang="en-US" sz="1100" i="1" dirty="0">
                <a:solidFill>
                  <a:srgbClr val="4B5563"/>
                </a:solidFill>
                <a:latin typeface="Calibri" pitchFamily="34" charset="0"/>
                <a:ea typeface="Calibri" pitchFamily="34" charset="-122"/>
                <a:cs typeface="Calibri" pitchFamily="34" charset="-120"/>
              </a:rPr>
              <a:t>cut by merge</a:t>
            </a:r>
            <a:endParaRPr lang="en-US" sz="1100" dirty="0"/>
          </a:p>
        </p:txBody>
      </p:sp>
      <p:sp>
        <p:nvSpPr>
          <p:cNvPr id="40" name="Shape 37"/>
          <p:cNvSpPr/>
          <p:nvPr/>
        </p:nvSpPr>
        <p:spPr>
          <a:xfrm>
            <a:off x="8305770" y="3721608"/>
            <a:ext cx="3398550" cy="292608"/>
          </a:xfrm>
          <a:prstGeom prst="rect">
            <a:avLst/>
          </a:prstGeom>
          <a:solidFill>
            <a:srgbClr val="B45A1C"/>
          </a:solidFill>
          <a:ln w="12700">
            <a:solidFill>
              <a:srgbClr val="B45A1C"/>
            </a:solidFill>
            <a:prstDash val="solid"/>
          </a:ln>
        </p:spPr>
      </p:sp>
      <p:sp>
        <p:nvSpPr>
          <p:cNvPr id="41" name="Shape 38"/>
          <p:cNvSpPr/>
          <p:nvPr/>
        </p:nvSpPr>
        <p:spPr>
          <a:xfrm>
            <a:off x="6355080" y="4343400"/>
            <a:ext cx="5349240" cy="0"/>
          </a:xfrm>
          <a:prstGeom prst="line">
            <a:avLst/>
          </a:prstGeom>
          <a:noFill/>
          <a:ln w="15875">
            <a:solidFill>
              <a:srgbClr val="1F2937"/>
            </a:solidFill>
            <a:prstDash val="solid"/>
          </a:ln>
        </p:spPr>
      </p:sp>
      <p:sp>
        <p:nvSpPr>
          <p:cNvPr id="42" name="Shape 39"/>
          <p:cNvSpPr/>
          <p:nvPr/>
        </p:nvSpPr>
        <p:spPr>
          <a:xfrm>
            <a:off x="6355080" y="4343400"/>
            <a:ext cx="0" cy="91440"/>
          </a:xfrm>
          <a:prstGeom prst="line">
            <a:avLst/>
          </a:prstGeom>
          <a:noFill/>
          <a:ln w="15875">
            <a:solidFill>
              <a:srgbClr val="1F2937"/>
            </a:solidFill>
            <a:prstDash val="solid"/>
          </a:ln>
        </p:spPr>
      </p:sp>
      <p:sp>
        <p:nvSpPr>
          <p:cNvPr id="43" name="Text 40"/>
          <p:cNvSpPr txBox="1"/>
          <p:nvPr/>
        </p:nvSpPr>
        <p:spPr>
          <a:xfrm>
            <a:off x="6080760" y="4462272"/>
            <a:ext cx="548640" cy="274320"/>
          </a:xfrm>
          <a:prstGeom prst="rect">
            <a:avLst/>
          </a:prstGeom>
          <a:noFill/>
          <a:ln/>
        </p:spPr>
        <p:txBody>
          <a:bodyPr wrap="square" lIns="0" tIns="0" rIns="0" bIns="0" rtlCol="0" anchor="t"/>
          <a:lstStyle/>
          <a:p>
            <a:pPr algn="ctr" indent="0" marL="0">
              <a:buNone/>
            </a:pPr>
            <a:r>
              <a:rPr lang="en-US" sz="1200" dirty="0">
                <a:solidFill>
                  <a:srgbClr val="4B5563"/>
                </a:solidFill>
                <a:latin typeface="Calibri" pitchFamily="34" charset="0"/>
                <a:ea typeface="Calibri" pitchFamily="34" charset="-122"/>
                <a:cs typeface="Calibri" pitchFamily="34" charset="-120"/>
              </a:rPr>
              <a:t>0 s</a:t>
            </a:r>
            <a:endParaRPr lang="en-US" sz="1200" dirty="0"/>
          </a:p>
        </p:txBody>
      </p:sp>
      <p:sp>
        <p:nvSpPr>
          <p:cNvPr id="44" name="Shape 41"/>
          <p:cNvSpPr/>
          <p:nvPr/>
        </p:nvSpPr>
        <p:spPr>
          <a:xfrm>
            <a:off x="8138160" y="4343400"/>
            <a:ext cx="0" cy="91440"/>
          </a:xfrm>
          <a:prstGeom prst="line">
            <a:avLst/>
          </a:prstGeom>
          <a:noFill/>
          <a:ln w="15875">
            <a:solidFill>
              <a:srgbClr val="1F2937"/>
            </a:solidFill>
            <a:prstDash val="solid"/>
          </a:ln>
        </p:spPr>
      </p:sp>
      <p:sp>
        <p:nvSpPr>
          <p:cNvPr id="45" name="Text 42"/>
          <p:cNvSpPr txBox="1"/>
          <p:nvPr/>
        </p:nvSpPr>
        <p:spPr>
          <a:xfrm>
            <a:off x="7863840" y="4462272"/>
            <a:ext cx="548640" cy="274320"/>
          </a:xfrm>
          <a:prstGeom prst="rect">
            <a:avLst/>
          </a:prstGeom>
          <a:noFill/>
          <a:ln/>
        </p:spPr>
        <p:txBody>
          <a:bodyPr wrap="square" lIns="0" tIns="0" rIns="0" bIns="0" rtlCol="0" anchor="t"/>
          <a:lstStyle/>
          <a:p>
            <a:pPr algn="ctr" indent="0" marL="0">
              <a:buNone/>
            </a:pPr>
            <a:r>
              <a:rPr lang="en-US" sz="1200" dirty="0">
                <a:solidFill>
                  <a:srgbClr val="4B5563"/>
                </a:solidFill>
                <a:latin typeface="Calibri" pitchFamily="34" charset="0"/>
                <a:ea typeface="Calibri" pitchFamily="34" charset="-122"/>
                <a:cs typeface="Calibri" pitchFamily="34" charset="-120"/>
              </a:rPr>
              <a:t>1 s</a:t>
            </a:r>
            <a:endParaRPr lang="en-US" sz="1200" dirty="0"/>
          </a:p>
        </p:txBody>
      </p:sp>
      <p:sp>
        <p:nvSpPr>
          <p:cNvPr id="46" name="Shape 43"/>
          <p:cNvSpPr/>
          <p:nvPr/>
        </p:nvSpPr>
        <p:spPr>
          <a:xfrm>
            <a:off x="9921240" y="4343400"/>
            <a:ext cx="0" cy="91440"/>
          </a:xfrm>
          <a:prstGeom prst="line">
            <a:avLst/>
          </a:prstGeom>
          <a:noFill/>
          <a:ln w="15875">
            <a:solidFill>
              <a:srgbClr val="1F2937"/>
            </a:solidFill>
            <a:prstDash val="solid"/>
          </a:ln>
        </p:spPr>
      </p:sp>
      <p:sp>
        <p:nvSpPr>
          <p:cNvPr id="47" name="Text 44"/>
          <p:cNvSpPr txBox="1"/>
          <p:nvPr/>
        </p:nvSpPr>
        <p:spPr>
          <a:xfrm>
            <a:off x="9646920" y="4462272"/>
            <a:ext cx="548640" cy="274320"/>
          </a:xfrm>
          <a:prstGeom prst="rect">
            <a:avLst/>
          </a:prstGeom>
          <a:noFill/>
          <a:ln/>
        </p:spPr>
        <p:txBody>
          <a:bodyPr wrap="square" lIns="0" tIns="0" rIns="0" bIns="0" rtlCol="0" anchor="t"/>
          <a:lstStyle/>
          <a:p>
            <a:pPr algn="ctr" indent="0" marL="0">
              <a:buNone/>
            </a:pPr>
            <a:r>
              <a:rPr lang="en-US" sz="1200" dirty="0">
                <a:solidFill>
                  <a:srgbClr val="4B5563"/>
                </a:solidFill>
                <a:latin typeface="Calibri" pitchFamily="34" charset="0"/>
                <a:ea typeface="Calibri" pitchFamily="34" charset="-122"/>
                <a:cs typeface="Calibri" pitchFamily="34" charset="-120"/>
              </a:rPr>
              <a:t>2 s</a:t>
            </a:r>
            <a:endParaRPr lang="en-US" sz="1200" dirty="0"/>
          </a:p>
        </p:txBody>
      </p:sp>
      <p:sp>
        <p:nvSpPr>
          <p:cNvPr id="48" name="Shape 45"/>
          <p:cNvSpPr/>
          <p:nvPr/>
        </p:nvSpPr>
        <p:spPr>
          <a:xfrm>
            <a:off x="11704320" y="4343400"/>
            <a:ext cx="0" cy="91440"/>
          </a:xfrm>
          <a:prstGeom prst="line">
            <a:avLst/>
          </a:prstGeom>
          <a:noFill/>
          <a:ln w="15875">
            <a:solidFill>
              <a:srgbClr val="1F2937"/>
            </a:solidFill>
            <a:prstDash val="solid"/>
          </a:ln>
        </p:spPr>
      </p:sp>
      <p:sp>
        <p:nvSpPr>
          <p:cNvPr id="49" name="Text 46"/>
          <p:cNvSpPr txBox="1"/>
          <p:nvPr/>
        </p:nvSpPr>
        <p:spPr>
          <a:xfrm>
            <a:off x="11430000" y="4462272"/>
            <a:ext cx="548640" cy="274320"/>
          </a:xfrm>
          <a:prstGeom prst="rect">
            <a:avLst/>
          </a:prstGeom>
          <a:noFill/>
          <a:ln/>
        </p:spPr>
        <p:txBody>
          <a:bodyPr wrap="square" lIns="0" tIns="0" rIns="0" bIns="0" rtlCol="0" anchor="t"/>
          <a:lstStyle/>
          <a:p>
            <a:pPr algn="ctr" indent="0" marL="0">
              <a:buNone/>
            </a:pPr>
            <a:r>
              <a:rPr lang="en-US" sz="1200" dirty="0">
                <a:solidFill>
                  <a:srgbClr val="4B5563"/>
                </a:solidFill>
                <a:latin typeface="Calibri" pitchFamily="34" charset="0"/>
                <a:ea typeface="Calibri" pitchFamily="34" charset="-122"/>
                <a:cs typeface="Calibri" pitchFamily="34" charset="-120"/>
              </a:rPr>
              <a:t>3 s</a:t>
            </a:r>
            <a:endParaRPr lang="en-US" sz="1200" dirty="0"/>
          </a:p>
        </p:txBody>
      </p:sp>
      <p:sp>
        <p:nvSpPr>
          <p:cNvPr id="50" name="Text 47"/>
          <p:cNvSpPr txBox="1"/>
          <p:nvPr/>
        </p:nvSpPr>
        <p:spPr>
          <a:xfrm>
            <a:off x="6355080" y="4041648"/>
            <a:ext cx="1950690" cy="274320"/>
          </a:xfrm>
          <a:prstGeom prst="rect">
            <a:avLst/>
          </a:prstGeom>
          <a:noFill/>
          <a:ln/>
        </p:spPr>
        <p:txBody>
          <a:bodyPr wrap="square" lIns="0" tIns="0" rIns="0" bIns="0" rtlCol="0" anchor="t"/>
          <a:lstStyle/>
          <a:p>
            <a:pPr algn="ctr" indent="0" marL="0">
              <a:buNone/>
            </a:pPr>
            <a:r>
              <a:rPr lang="en-US" sz="1300" b="1" dirty="0">
                <a:solidFill>
                  <a:srgbClr val="B45A1C"/>
                </a:solidFill>
                <a:latin typeface="Calibri" pitchFamily="34" charset="0"/>
                <a:ea typeface="Calibri" pitchFamily="34" charset="-122"/>
                <a:cs typeface="Calibri" pitchFamily="34" charset="-120"/>
              </a:rPr>
              <a:t>1.094 s</a:t>
            </a:r>
            <a:endParaRPr lang="en-US" sz="1300" dirty="0"/>
          </a:p>
        </p:txBody>
      </p:sp>
      <p:sp>
        <p:nvSpPr>
          <p:cNvPr id="51" name="Text 48"/>
          <p:cNvSpPr txBox="1"/>
          <p:nvPr/>
        </p:nvSpPr>
        <p:spPr>
          <a:xfrm>
            <a:off x="6355080" y="4846320"/>
            <a:ext cx="5394960" cy="731520"/>
          </a:xfrm>
          <a:prstGeom prst="rect">
            <a:avLst/>
          </a:prstGeom>
          <a:noFill/>
          <a:ln/>
        </p:spPr>
        <p:txBody>
          <a:bodyPr wrap="square" lIns="0" tIns="0" rIns="0" bIns="0" rtlCol="0" anchor="t"/>
          <a:lstStyle/>
          <a:p>
            <a:pPr indent="0" marL="0">
              <a:buNone/>
            </a:pPr>
            <a:r>
              <a:rPr lang="en-US" sz="1400" b="1" dirty="0">
                <a:solidFill>
                  <a:srgbClr val="1F2937"/>
                </a:solidFill>
                <a:latin typeface="Calibri" pitchFamily="34" charset="0"/>
                <a:ea typeface="Calibri" pitchFamily="34" charset="-122"/>
                <a:cs typeface="Calibri" pitchFamily="34" charset="-120"/>
              </a:rPr>
              <a:t>Example: </a:t>
            </a:r>
            <a:pPr indent="0" marL="0">
              <a:buNone/>
            </a:pPr>
            <a:r>
              <a:rPr lang="en-US" sz="1400" dirty="0">
                <a:solidFill>
                  <a:srgbClr val="1F2937"/>
                </a:solidFill>
                <a:latin typeface="Calibri" pitchFamily="34" charset="0"/>
                <a:ea typeface="Calibri" pitchFamily="34" charset="-122"/>
                <a:cs typeface="Calibri" pitchFamily="34" charset="-120"/>
              </a:rPr>
              <a:t>a BORIS event at 2.0 s of video. Old code read merged respiration at 2.0 s, which is really 3.09 s: </a:t>
            </a:r>
            <a:pPr indent="0" marL="0">
              <a:buNone/>
            </a:pPr>
            <a:r>
              <a:rPr lang="en-US" sz="1400" b="1" dirty="0">
                <a:solidFill>
                  <a:srgbClr val="B42318"/>
                </a:solidFill>
                <a:latin typeface="Calibri" pitchFamily="34" charset="0"/>
                <a:ea typeface="Calibri" pitchFamily="34" charset="-122"/>
                <a:cs typeface="Calibri" pitchFamily="34" charset="-120"/>
              </a:rPr>
              <a:t>1.09 s late.</a:t>
            </a:r>
            <a:endParaRPr lang="en-US" sz="1400" dirty="0"/>
          </a:p>
        </p:txBody>
      </p:sp>
      <p:sp>
        <p:nvSpPr>
          <p:cNvPr id="52" name="Text 49"/>
          <p:cNvSpPr txBox="1"/>
          <p:nvPr/>
        </p:nvSpPr>
        <p:spPr>
          <a:xfrm>
            <a:off x="6355080" y="5577840"/>
            <a:ext cx="5394960" cy="320040"/>
          </a:xfrm>
          <a:prstGeom prst="rect">
            <a:avLst/>
          </a:prstGeom>
          <a:noFill/>
          <a:ln/>
        </p:spPr>
        <p:txBody>
          <a:bodyPr wrap="square" lIns="0" tIns="0" rIns="0" bIns="0" rtlCol="0" anchor="t"/>
          <a:lstStyle/>
          <a:p>
            <a:pPr indent="0" marL="0">
              <a:buNone/>
            </a:pPr>
            <a:r>
              <a:rPr lang="en-US" sz="1300" dirty="0">
                <a:solidFill>
                  <a:srgbClr val="4B5563"/>
                </a:solidFill>
                <a:latin typeface="Calibri" pitchFamily="34" charset="0"/>
                <a:ea typeface="Calibri" pitchFamily="34" charset="-122"/>
                <a:cs typeface="Calibri" pitchFamily="34" charset="-120"/>
              </a:rPr>
              <a:t>Aim1 offsets ranged 0–1.1 s across 25 sessions.</a:t>
            </a:r>
            <a:endParaRPr lang="en-US" sz="1300" dirty="0"/>
          </a:p>
        </p:txBody>
      </p:sp>
      <p:sp>
        <p:nvSpPr>
          <p:cNvPr id="53" name="Shape 50"/>
          <p:cNvSpPr/>
          <p:nvPr/>
        </p:nvSpPr>
        <p:spPr>
          <a:xfrm>
            <a:off x="457200" y="6035040"/>
            <a:ext cx="11292840" cy="548640"/>
          </a:xfrm>
          <a:prstGeom prst="roundRect">
            <a:avLst>
              <a:gd name="adj" fmla="val 11667"/>
            </a:avLst>
          </a:prstGeom>
          <a:solidFill>
            <a:srgbClr val="DDEFE3"/>
          </a:solidFill>
          <a:ln w="12700">
            <a:solidFill>
              <a:srgbClr val="DDEFE3"/>
            </a:solidFill>
            <a:prstDash val="solid"/>
          </a:ln>
        </p:spPr>
      </p:sp>
      <p:sp>
        <p:nvSpPr>
          <p:cNvPr id="54" name="Text 51"/>
          <p:cNvSpPr txBox="1"/>
          <p:nvPr/>
        </p:nvSpPr>
        <p:spPr>
          <a:xfrm>
            <a:off x="640080" y="6035040"/>
            <a:ext cx="10972800" cy="548640"/>
          </a:xfrm>
          <a:prstGeom prst="rect">
            <a:avLst/>
          </a:prstGeom>
          <a:noFill/>
          <a:ln/>
        </p:spPr>
        <p:txBody>
          <a:bodyPr wrap="square" lIns="0" tIns="0" rIns="0" bIns="0"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Opposite directions: </a:t>
            </a:r>
            <a:pPr indent="0" marL="0">
              <a:buNone/>
            </a:pPr>
            <a:r>
              <a:rPr lang="en-US" sz="1400" dirty="0">
                <a:solidFill>
                  <a:srgbClr val="1F2937"/>
                </a:solidFill>
                <a:latin typeface="Calibri" pitchFamily="34" charset="0"/>
                <a:ea typeface="Calibri" pitchFamily="34" charset="-122"/>
                <a:cs typeface="Calibri" pitchFamily="34" charset="-120"/>
              </a:rPr>
              <a:t>offset → read too late, copies → read too early. </a:t>
            </a:r>
            <a:pPr indent="0" marL="0">
              <a:buNone/>
            </a:pPr>
            <a:r>
              <a:rPr lang="en-US" sz="1400" b="1" dirty="0">
                <a:solidFill>
                  <a:srgbClr val="2E7D4F"/>
                </a:solidFill>
                <a:latin typeface="Calibri" pitchFamily="34" charset="0"/>
                <a:ea typeface="Calibri" pitchFamily="34" charset="-122"/>
                <a:cs typeface="Calibri" pitchFamily="34" charset="-120"/>
              </a:rPr>
              <a:t>Fix for both: </a:t>
            </a:r>
            <a:pPr indent="0" marL="0">
              <a:buNone/>
            </a:pPr>
            <a:r>
              <a:rPr lang="en-US" sz="1400" dirty="0">
                <a:solidFill>
                  <a:srgbClr val="1F2937"/>
                </a:solidFill>
                <a:latin typeface="Calibri" pitchFamily="34" charset="0"/>
                <a:ea typeface="Calibri" pitchFamily="34" charset="-122"/>
                <a:cs typeface="Calibri" pitchFamily="34" charset="-120"/>
              </a:rPr>
              <a:t>remove copies; match via Trodes timestamps.</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11274552" cy="685800"/>
          </a:xfrm>
          <a:prstGeom prst="rect">
            <a:avLst/>
          </a:prstGeom>
          <a:noFill/>
          <a:ln/>
        </p:spPr>
        <p:txBody>
          <a:bodyPr wrap="square" lIns="0" tIns="0" rIns="0" bIns="0" rtlCol="0" anchor="ctr"/>
          <a:lstStyle/>
          <a:p>
            <a:pPr indent="0" marL="0">
              <a:buNone/>
            </a:pPr>
            <a:r>
              <a:rPr lang="en-US" sz="3200" b="1" dirty="0">
                <a:solidFill>
                  <a:srgbClr val="1F2937"/>
                </a:solidFill>
                <a:latin typeface="Calibri" pitchFamily="34" charset="0"/>
                <a:ea typeface="Calibri" pitchFamily="34" charset="-122"/>
                <a:cs typeface="Calibri" pitchFamily="34" charset="-120"/>
              </a:rPr>
              <a:t>Real BORIS events: how far off the old alignment was</a:t>
            </a:r>
            <a:endParaRPr lang="en-US" sz="3200" dirty="0"/>
          </a:p>
        </p:txBody>
      </p:sp>
      <p:sp>
        <p:nvSpPr>
          <p:cNvPr id="3" name="Text 1"/>
          <p:cNvSpPr txBox="1"/>
          <p:nvPr/>
        </p:nvSpPr>
        <p:spPr>
          <a:xfrm>
            <a:off x="457200" y="914400"/>
            <a:ext cx="11274552" cy="384048"/>
          </a:xfrm>
          <a:prstGeom prst="rect">
            <a:avLst/>
          </a:prstGeom>
          <a:noFill/>
          <a:ln/>
        </p:spPr>
        <p:txBody>
          <a:bodyPr wrap="square" lIns="0" tIns="0" rIns="0" bIns="0" rtlCol="0" anchor="ctr"/>
          <a:lstStyle/>
          <a:p>
            <a:pPr indent="0" marL="0">
              <a:buNone/>
            </a:pPr>
            <a:r>
              <a:rPr lang="en-US" sz="1700" dirty="0">
                <a:solidFill>
                  <a:srgbClr val="4B5563"/>
                </a:solidFill>
                <a:latin typeface="Calibri" pitchFamily="34" charset="0"/>
                <a:ea typeface="Calibri" pitchFamily="34" charset="-122"/>
                <a:cs typeface="Calibri" pitchFamily="34" charset="-120"/>
              </a:rPr>
              <a:t>Aim1 baseline cagemate sessions · subject sniff onsets · old pipeline vs. corrected</a:t>
            </a:r>
            <a:endParaRPr lang="en-US" sz="1700" dirty="0"/>
          </a:p>
        </p:txBody>
      </p:sp>
      <p:sp>
        <p:nvSpPr>
          <p:cNvPr id="4" name="Text 2"/>
          <p:cNvSpPr txBox="1"/>
          <p:nvPr/>
        </p:nvSpPr>
        <p:spPr>
          <a:xfrm>
            <a:off x="457200" y="1371600"/>
            <a:ext cx="5852160" cy="320040"/>
          </a:xfrm>
          <a:prstGeom prst="rect">
            <a:avLst/>
          </a:prstGeom>
          <a:noFill/>
          <a:ln/>
        </p:spPr>
        <p:txBody>
          <a:bodyPr wrap="square" lIns="0" tIns="0" rIns="0" bIns="0" rtlCol="0" anchor="t"/>
          <a:lstStyle/>
          <a:p>
            <a:pPr indent="0" marL="0">
              <a:buNone/>
            </a:pPr>
            <a:r>
              <a:rPr lang="en-US" sz="1600" b="1" dirty="0">
                <a:solidFill>
                  <a:srgbClr val="1D4E89"/>
                </a:solidFill>
                <a:latin typeface="Calibri" pitchFamily="34" charset="0"/>
                <a:ea typeface="Calibri" pitchFamily="34" charset="-122"/>
                <a:cs typeface="Calibri" pitchFamily="34" charset="-120"/>
              </a:rPr>
              <a:t>Error for every BORIS event (old pipeline)</a:t>
            </a:r>
            <a:endParaRPr lang="en-US" sz="1600" dirty="0"/>
          </a:p>
        </p:txBody>
      </p:sp>
      <p:pic>
        <p:nvPicPr>
          <p:cNvPr id="5" name="Image 0" descr="C:\Users\thoma\AppData\Local\Temp\claude\c--Users-thoma-Code-ResearchCode-respiratory-pilot\591ae50f-759d-4223-81d2-c1b1caa9b462\scratchpad\deck\misalign_events.png">    </p:cNvPr>
          <p:cNvPicPr>
            <a:picLocks noChangeAspect="1"/>
          </p:cNvPicPr>
          <p:nvPr/>
        </p:nvPicPr>
        <p:blipFill>
          <a:blip r:embed="rId1"/>
          <a:stretch>
            <a:fillRect/>
          </a:stretch>
        </p:blipFill>
        <p:spPr>
          <a:xfrm>
            <a:off x="457200" y="1737360"/>
            <a:ext cx="5852160" cy="3576320"/>
          </a:xfrm>
          <a:prstGeom prst="rect">
            <a:avLst/>
          </a:prstGeom>
        </p:spPr>
      </p:pic>
      <p:sp>
        <p:nvSpPr>
          <p:cNvPr id="6" name="Text 3"/>
          <p:cNvSpPr txBox="1"/>
          <p:nvPr/>
        </p:nvSpPr>
        <p:spPr>
          <a:xfrm>
            <a:off x="457200" y="5349240"/>
            <a:ext cx="5852160" cy="548640"/>
          </a:xfrm>
          <a:prstGeom prst="rect">
            <a:avLst/>
          </a:prstGeom>
          <a:noFill/>
          <a:ln/>
        </p:spPr>
        <p:txBody>
          <a:bodyPr wrap="square" lIns="0" tIns="0" rIns="0" bIns="0" rtlCol="0" anchor="t"/>
          <a:lstStyle/>
          <a:p>
            <a:pPr indent="0" marL="0">
              <a:buNone/>
            </a:pPr>
            <a:r>
              <a:rPr lang="en-US" sz="1300" dirty="0">
                <a:solidFill>
                  <a:srgbClr val="4B5563"/>
                </a:solidFill>
                <a:latin typeface="Calibri" pitchFamily="34" charset="0"/>
                <a:ea typeface="Calibri" pitchFamily="34" charset="-122"/>
                <a:cs typeface="Calibri" pitchFamily="34" charset="-120"/>
              </a:rPr>
              <a:t>Each line is one session: starts at the merge offset (late), then the copies pull it early. Net −1.3 s to +0.4 s.</a:t>
            </a:r>
            <a:endParaRPr lang="en-US" sz="1300" dirty="0"/>
          </a:p>
        </p:txBody>
      </p:sp>
      <p:sp>
        <p:nvSpPr>
          <p:cNvPr id="7" name="Text 4"/>
          <p:cNvSpPr txBox="1"/>
          <p:nvPr/>
        </p:nvSpPr>
        <p:spPr>
          <a:xfrm>
            <a:off x="6537960" y="1371600"/>
            <a:ext cx="5212080" cy="320040"/>
          </a:xfrm>
          <a:prstGeom prst="rect">
            <a:avLst/>
          </a:prstGeom>
          <a:noFill/>
          <a:ln/>
        </p:spPr>
        <p:txBody>
          <a:bodyPr wrap="square" lIns="0" tIns="0" rIns="0" bIns="0" rtlCol="0" anchor="t"/>
          <a:lstStyle/>
          <a:p>
            <a:pPr indent="0" marL="0">
              <a:buNone/>
            </a:pPr>
            <a:r>
              <a:rPr lang="en-US" sz="1600" b="1" dirty="0">
                <a:solidFill>
                  <a:srgbClr val="1D4E89"/>
                </a:solidFill>
                <a:latin typeface="Calibri" pitchFamily="34" charset="0"/>
                <a:ea typeface="Calibri" pitchFamily="34" charset="-122"/>
                <a:cs typeface="Calibri" pitchFamily="34" charset="-120"/>
              </a:rPr>
              <a:t>Physiology check: breathing rate at sniff onset</a:t>
            </a:r>
            <a:endParaRPr lang="en-US" sz="1600" dirty="0"/>
          </a:p>
        </p:txBody>
      </p:sp>
      <p:pic>
        <p:nvPicPr>
          <p:cNvPr id="8" name="Image 1" descr="C:\Users\thoma\AppData\Local\Temp\claude\c--Users-thoma-Code-ResearchCode-respiratory-pilot\591ae50f-759d-4223-81d2-c1b1caa9b462\scratchpad\deck\misalign_eta.png">    </p:cNvPr>
          <p:cNvPicPr>
            <a:picLocks noChangeAspect="1"/>
          </p:cNvPicPr>
          <p:nvPr/>
        </p:nvPicPr>
        <p:blipFill>
          <a:blip r:embed="rId2"/>
          <a:stretch>
            <a:fillRect/>
          </a:stretch>
        </p:blipFill>
        <p:spPr>
          <a:xfrm>
            <a:off x="6537960" y="1737360"/>
            <a:ext cx="5212080" cy="3698895"/>
          </a:xfrm>
          <a:prstGeom prst="rect">
            <a:avLst/>
          </a:prstGeom>
        </p:spPr>
      </p:pic>
      <p:sp>
        <p:nvSpPr>
          <p:cNvPr id="9" name="Text 5"/>
          <p:cNvSpPr txBox="1"/>
          <p:nvPr/>
        </p:nvSpPr>
        <p:spPr>
          <a:xfrm>
            <a:off x="6537960" y="5440680"/>
            <a:ext cx="5212080" cy="548640"/>
          </a:xfrm>
          <a:prstGeom prst="rect">
            <a:avLst/>
          </a:prstGeom>
          <a:noFill/>
          <a:ln/>
        </p:spPr>
        <p:txBody>
          <a:bodyPr wrap="square" lIns="0" tIns="0" rIns="0" bIns="0" rtlCol="0" anchor="t"/>
          <a:lstStyle/>
          <a:p>
            <a:pPr indent="0" marL="0">
              <a:buNone/>
            </a:pPr>
            <a:r>
              <a:rPr lang="en-US" sz="1300" dirty="0">
                <a:solidFill>
                  <a:srgbClr val="4B5563"/>
                </a:solidFill>
                <a:latin typeface="Calibri" pitchFamily="34" charset="0"/>
                <a:ea typeface="Calibri" pitchFamily="34" charset="-122"/>
                <a:cs typeface="Calibri" pitchFamily="34" charset="-120"/>
              </a:rPr>
              <a:t>Corrected: the breathing-rate peak sits at the BORIS onset. Old: lower and less sharply aligned. A modest effect, because the two errors partly cancel.</a:t>
            </a:r>
            <a:endParaRPr lang="en-US" sz="1300" dirty="0"/>
          </a:p>
        </p:txBody>
      </p:sp>
      <p:sp>
        <p:nvSpPr>
          <p:cNvPr id="10" name="Shape 6"/>
          <p:cNvSpPr/>
          <p:nvPr/>
        </p:nvSpPr>
        <p:spPr>
          <a:xfrm>
            <a:off x="457200" y="6035040"/>
            <a:ext cx="11292840" cy="548640"/>
          </a:xfrm>
          <a:prstGeom prst="roundRect">
            <a:avLst>
              <a:gd name="adj" fmla="val 11667"/>
            </a:avLst>
          </a:prstGeom>
          <a:solidFill>
            <a:srgbClr val="F8DCD9"/>
          </a:solidFill>
          <a:ln w="12700">
            <a:solidFill>
              <a:srgbClr val="F8DCD9"/>
            </a:solidFill>
            <a:prstDash val="solid"/>
          </a:ln>
        </p:spPr>
      </p:sp>
      <p:sp>
        <p:nvSpPr>
          <p:cNvPr id="11" name="Text 7"/>
          <p:cNvSpPr txBox="1"/>
          <p:nvPr/>
        </p:nvSpPr>
        <p:spPr>
          <a:xfrm>
            <a:off x="640080" y="6035040"/>
            <a:ext cx="10972800" cy="548640"/>
          </a:xfrm>
          <a:prstGeom prst="rect">
            <a:avLst/>
          </a:prstGeom>
          <a:noFill/>
          <a:ln/>
        </p:spPr>
        <p:txBody>
          <a:bodyPr wrap="square" lIns="0" tIns="0" rIns="0" bIns="0" rtlCol="0" anchor="ctr"/>
          <a:lstStyle/>
          <a:p>
            <a:pPr indent="0" marL="0">
              <a:buNone/>
            </a:pPr>
            <a:r>
              <a:rPr lang="en-US" sz="1400" b="1" dirty="0">
                <a:solidFill>
                  <a:srgbClr val="B42318"/>
                </a:solidFill>
                <a:latin typeface="Calibri" pitchFamily="34" charset="0"/>
                <a:ea typeface="Calibri" pitchFamily="34" charset="-122"/>
                <a:cs typeface="Calibri" pitchFamily="34" charset="-120"/>
              </a:rPr>
              <a:t>CM_s4_7_d4_8 (baseline): </a:t>
            </a:r>
            <a:pPr indent="0" marL="0">
              <a:buNone/>
            </a:pPr>
            <a:r>
              <a:rPr lang="en-US" sz="1400" dirty="0">
                <a:solidFill>
                  <a:srgbClr val="1F2937"/>
                </a:solidFill>
                <a:latin typeface="Calibri" pitchFamily="34" charset="0"/>
                <a:ea typeface="Calibri" pitchFamily="34" charset="-122"/>
                <a:cs typeface="Calibri" pitchFamily="34" charset="-120"/>
              </a:rPr>
              <a:t>BORIS was scored on a 23 fps mp4 (camera captured 30 fps), so old alignment was off by 45–125 s. Every old behavior-locked result for this session is wrong.</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11274552" cy="685800"/>
          </a:xfrm>
          <a:prstGeom prst="rect">
            <a:avLst/>
          </a:prstGeom>
          <a:noFill/>
          <a:ln/>
        </p:spPr>
        <p:txBody>
          <a:bodyPr wrap="square" lIns="0" tIns="0" rIns="0" bIns="0" rtlCol="0" anchor="ctr"/>
          <a:lstStyle/>
          <a:p>
            <a:pPr indent="0" marL="0">
              <a:buNone/>
            </a:pPr>
            <a:r>
              <a:rPr lang="en-US" sz="3200" b="1" dirty="0">
                <a:solidFill>
                  <a:srgbClr val="1F2937"/>
                </a:solidFill>
                <a:latin typeface="Calibri" pitchFamily="34" charset="0"/>
                <a:ea typeface="Calibri" pitchFamily="34" charset="-122"/>
                <a:cs typeface="Calibri" pitchFamily="34" charset="-120"/>
              </a:rPr>
              <a:t>What was wrong, and the rules going forward</a:t>
            </a:r>
            <a:endParaRPr lang="en-US" sz="3200" dirty="0"/>
          </a:p>
        </p:txBody>
      </p:sp>
      <p:sp>
        <p:nvSpPr>
          <p:cNvPr id="3" name="Text 1"/>
          <p:cNvSpPr txBox="1"/>
          <p:nvPr/>
        </p:nvSpPr>
        <p:spPr>
          <a:xfrm>
            <a:off x="457200" y="914400"/>
            <a:ext cx="11274552" cy="384048"/>
          </a:xfrm>
          <a:prstGeom prst="rect">
            <a:avLst/>
          </a:prstGeom>
          <a:noFill/>
          <a:ln/>
        </p:spPr>
        <p:txBody>
          <a:bodyPr wrap="square" lIns="0" tIns="0" rIns="0" bIns="0" rtlCol="0" anchor="ctr"/>
          <a:lstStyle/>
          <a:p>
            <a:pPr indent="0" marL="0">
              <a:buNone/>
            </a:pPr>
            <a:r>
              <a:rPr lang="en-US" sz="1700" dirty="0">
                <a:solidFill>
                  <a:srgbClr val="4B5563"/>
                </a:solidFill>
                <a:latin typeface="Calibri" pitchFamily="34" charset="0"/>
                <a:ea typeface="Calibri" pitchFamily="34" charset="-122"/>
                <a:cs typeface="Calibri" pitchFamily="34" charset="-120"/>
              </a:rPr>
              <a:t>Both problems affected the old Aim1 (wireless) h5s; cohort 2 is not affected</a:t>
            </a:r>
            <a:endParaRPr lang="en-US" sz="1700" dirty="0"/>
          </a:p>
        </p:txBody>
      </p:sp>
      <p:sp>
        <p:nvSpPr>
          <p:cNvPr id="4" name="Shape 2"/>
          <p:cNvSpPr/>
          <p:nvPr/>
        </p:nvSpPr>
        <p:spPr>
          <a:xfrm>
            <a:off x="457200" y="1417320"/>
            <a:ext cx="5852160" cy="1188720"/>
          </a:xfrm>
          <a:prstGeom prst="roundRect">
            <a:avLst>
              <a:gd name="adj" fmla="val 5385"/>
            </a:avLst>
          </a:prstGeom>
          <a:solidFill>
            <a:srgbClr val="F8DCD9"/>
          </a:solidFill>
          <a:ln w="12700">
            <a:solidFill>
              <a:srgbClr val="F8DCD9"/>
            </a:solidFill>
            <a:prstDash val="solid"/>
          </a:ln>
        </p:spPr>
      </p:sp>
      <p:sp>
        <p:nvSpPr>
          <p:cNvPr id="5" name="Text 3"/>
          <p:cNvSpPr txBox="1"/>
          <p:nvPr/>
        </p:nvSpPr>
        <p:spPr>
          <a:xfrm>
            <a:off x="640080" y="1490472"/>
            <a:ext cx="5486400" cy="1325880"/>
          </a:xfrm>
          <a:prstGeom prst="rect">
            <a:avLst/>
          </a:prstGeom>
          <a:noFill/>
          <a:ln/>
        </p:spPr>
        <p:txBody>
          <a:bodyPr wrap="square" lIns="0" tIns="0" rIns="0" bIns="0" rtlCol="0" anchor="t"/>
          <a:lstStyle/>
          <a:p>
            <a:pPr indent="0" marL="0">
              <a:buNone/>
            </a:pPr>
            <a:r>
              <a:rPr lang="en-US" sz="1600" b="1" dirty="0">
                <a:solidFill>
                  <a:srgbClr val="B42318"/>
                </a:solidFill>
                <a:latin typeface="Calibri" pitchFamily="34" charset="0"/>
                <a:ea typeface="Calibri" pitchFamily="34" charset="-122"/>
                <a:cs typeface="Calibri" pitchFamily="34" charset="-120"/>
              </a:rPr>
              <a:t>Problem 1: duplicate samples → drifting time</a:t>
            </a:r>
            <a:endParaRPr lang="en-US" sz="1400" dirty="0"/>
          </a:p>
          <a:p>
            <a:pPr indent="0" marL="0">
              <a:buNone/>
            </a:pPr>
            <a:r>
              <a:rPr lang="en-US" sz="1400" dirty="0">
                <a:solidFill>
                  <a:srgbClr val="1F2937"/>
                </a:solidFill>
                <a:latin typeface="Calibri" pitchFamily="34" charset="0"/>
                <a:ea typeface="Calibri" pitchFamily="34" charset="-122"/>
                <a:cs typeface="Calibri" pitchFamily="34" charset="-120"/>
              </a:rPr>
              <a:t>Merging padded respiration with ~27,000 copied samples per session. Treating sample number as time matched BORIS events to respiration up to ~1.3 s too early by the end. </a:t>
            </a:r>
            <a:endParaRPr lang="en-US" sz="1400" dirty="0"/>
          </a:p>
          <a:p>
            <a:pPr indent="0" marL="0">
              <a:buNone/>
            </a:pPr>
            <a:r>
              <a:rPr lang="en-US" sz="1300" u="sng" dirty="0">
                <a:solidFill>
                  <a:srgbClr val="1D4E89"/>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Trodes untethered sync docs</a:t>
            </a:r>
            <a:endParaRPr lang="en-US" sz="1400" dirty="0"/>
          </a:p>
        </p:txBody>
      </p:sp>
      <p:sp>
        <p:nvSpPr>
          <p:cNvPr id="6" name="Shape 4"/>
          <p:cNvSpPr/>
          <p:nvPr/>
        </p:nvSpPr>
        <p:spPr>
          <a:xfrm>
            <a:off x="457200" y="2743200"/>
            <a:ext cx="5852160" cy="1188720"/>
          </a:xfrm>
          <a:prstGeom prst="roundRect">
            <a:avLst>
              <a:gd name="adj" fmla="val 5385"/>
            </a:avLst>
          </a:prstGeom>
          <a:solidFill>
            <a:srgbClr val="F8DCD9"/>
          </a:solidFill>
          <a:ln w="12700">
            <a:solidFill>
              <a:srgbClr val="F8DCD9"/>
            </a:solidFill>
            <a:prstDash val="solid"/>
          </a:ln>
        </p:spPr>
      </p:sp>
      <p:sp>
        <p:nvSpPr>
          <p:cNvPr id="7" name="Text 5"/>
          <p:cNvSpPr txBox="1"/>
          <p:nvPr/>
        </p:nvSpPr>
        <p:spPr>
          <a:xfrm>
            <a:off x="640080" y="2816352"/>
            <a:ext cx="5486400" cy="1325880"/>
          </a:xfrm>
          <a:prstGeom prst="rect">
            <a:avLst/>
          </a:prstGeom>
          <a:noFill/>
          <a:ln/>
        </p:spPr>
        <p:txBody>
          <a:bodyPr wrap="square" lIns="0" tIns="0" rIns="0" bIns="0" rtlCol="0" anchor="t"/>
          <a:lstStyle/>
          <a:p>
            <a:pPr indent="0" marL="0">
              <a:buNone/>
            </a:pPr>
            <a:r>
              <a:rPr lang="en-US" sz="1600" b="1" dirty="0">
                <a:solidFill>
                  <a:srgbClr val="B42318"/>
                </a:solidFill>
                <a:latin typeface="Calibri" pitchFamily="34" charset="0"/>
                <a:ea typeface="Calibri" pitchFamily="34" charset="-122"/>
                <a:cs typeface="Calibri" pitchFamily="34" charset="-120"/>
              </a:rPr>
              <a:t>Problem 2: respiration started after video</a:t>
            </a:r>
            <a:endParaRPr lang="en-US" sz="1400" dirty="0"/>
          </a:p>
          <a:p>
            <a:pPr indent="0" marL="0">
              <a:buNone/>
            </a:pPr>
            <a:r>
              <a:rPr lang="en-US" sz="1400" dirty="0">
                <a:solidFill>
                  <a:srgbClr val="1F2937"/>
                </a:solidFill>
                <a:latin typeface="Calibri" pitchFamily="34" charset="0"/>
                <a:ea typeface="Calibri" pitchFamily="34" charset="-122"/>
                <a:cs typeface="Calibri" pitchFamily="34" charset="-120"/>
              </a:rPr>
              <a:t>The merge cut 0–1.1 s from the start of respiration, so BORIS events were matched to respiration up to 1.1 s late.</a:t>
            </a:r>
            <a:endParaRPr lang="en-US" sz="1400" dirty="0"/>
          </a:p>
        </p:txBody>
      </p:sp>
      <p:sp>
        <p:nvSpPr>
          <p:cNvPr id="8" name="Shape 6"/>
          <p:cNvSpPr/>
          <p:nvPr/>
        </p:nvSpPr>
        <p:spPr>
          <a:xfrm>
            <a:off x="457200" y="4069080"/>
            <a:ext cx="5852160" cy="1188720"/>
          </a:xfrm>
          <a:prstGeom prst="roundRect">
            <a:avLst>
              <a:gd name="adj" fmla="val 5385"/>
            </a:avLst>
          </a:prstGeom>
          <a:solidFill>
            <a:srgbClr val="DDEFE3"/>
          </a:solidFill>
          <a:ln w="12700">
            <a:solidFill>
              <a:srgbClr val="DDEFE3"/>
            </a:solidFill>
            <a:prstDash val="solid"/>
          </a:ln>
        </p:spPr>
      </p:sp>
      <p:sp>
        <p:nvSpPr>
          <p:cNvPr id="9" name="Text 7"/>
          <p:cNvSpPr txBox="1"/>
          <p:nvPr/>
        </p:nvSpPr>
        <p:spPr>
          <a:xfrm>
            <a:off x="640080" y="4142232"/>
            <a:ext cx="5486400" cy="1097280"/>
          </a:xfrm>
          <a:prstGeom prst="rect">
            <a:avLst/>
          </a:prstGeom>
          <a:noFill/>
          <a:ln/>
        </p:spPr>
        <p:txBody>
          <a:bodyPr wrap="square" lIns="0" tIns="0" rIns="0" bIns="0" rtlCol="0" anchor="t"/>
          <a:lstStyle/>
          <a:p>
            <a:pPr indent="0" marL="0">
              <a:buNone/>
            </a:pPr>
            <a:r>
              <a:rPr lang="en-US" sz="1600" b="1" dirty="0">
                <a:solidFill>
                  <a:srgbClr val="2E7D4F"/>
                </a:solidFill>
                <a:latin typeface="Calibri" pitchFamily="34" charset="0"/>
                <a:ea typeface="Calibri" pitchFamily="34" charset="-122"/>
                <a:cs typeface="Calibri" pitchFamily="34" charset="-120"/>
              </a:rPr>
              <a:t>Fix</a:t>
            </a:r>
            <a:endParaRPr lang="en-US" sz="1400" dirty="0"/>
          </a:p>
          <a:p>
            <a:pPr indent="0" marL="0">
              <a:buNone/>
            </a:pPr>
            <a:r>
              <a:rPr lang="en-US" sz="1400" dirty="0">
                <a:solidFill>
                  <a:srgbClr val="1F2937"/>
                </a:solidFill>
                <a:latin typeface="Calibri" pitchFamily="34" charset="0"/>
                <a:ea typeface="Calibri" pitchFamily="34" charset="-122"/>
                <a:cs typeface="Calibri" pitchFamily="34" charset="-120"/>
              </a:rPr>
              <a:t>Remove the copies (result matches the unmerged recording exactly), keep Trodes timestamps, and map video frame → Trodes tick → respiration sample.</a:t>
            </a:r>
            <a:endParaRPr lang="en-US" sz="1400" dirty="0"/>
          </a:p>
        </p:txBody>
      </p:sp>
      <p:sp>
        <p:nvSpPr>
          <p:cNvPr id="10" name="Shape 8"/>
          <p:cNvSpPr/>
          <p:nvPr/>
        </p:nvSpPr>
        <p:spPr>
          <a:xfrm>
            <a:off x="6583680" y="1417320"/>
            <a:ext cx="5166360" cy="3840480"/>
          </a:xfrm>
          <a:prstGeom prst="roundRect">
            <a:avLst>
              <a:gd name="adj" fmla="val 1667"/>
            </a:avLst>
          </a:prstGeom>
          <a:solidFill>
            <a:srgbClr val="EAF0F7"/>
          </a:solidFill>
          <a:ln w="19050">
            <a:solidFill>
              <a:srgbClr val="1D4E89"/>
            </a:solidFill>
            <a:prstDash val="solid"/>
          </a:ln>
        </p:spPr>
      </p:sp>
      <p:sp>
        <p:nvSpPr>
          <p:cNvPr id="11" name="Text 9"/>
          <p:cNvSpPr txBox="1"/>
          <p:nvPr/>
        </p:nvSpPr>
        <p:spPr>
          <a:xfrm>
            <a:off x="6812280" y="1554480"/>
            <a:ext cx="4754880" cy="3657600"/>
          </a:xfrm>
          <a:prstGeom prst="rect">
            <a:avLst/>
          </a:prstGeom>
          <a:noFill/>
          <a:ln/>
        </p:spPr>
        <p:txBody>
          <a:bodyPr wrap="square" lIns="0" tIns="0" rIns="0" bIns="0" rtlCol="0" anchor="t"/>
          <a:lstStyle/>
          <a:p>
            <a:pPr indent="0" marL="0">
              <a:buNone/>
            </a:pPr>
            <a:r>
              <a:rPr lang="en-US" sz="2000" b="1" dirty="0">
                <a:solidFill>
                  <a:srgbClr val="1D4E89"/>
                </a:solidFill>
                <a:latin typeface="Calibri" pitchFamily="34" charset="0"/>
                <a:ea typeface="Calibri" pitchFamily="34" charset="-122"/>
                <a:cs typeface="Calibri" pitchFamily="34" charset="-120"/>
              </a:rPr>
              <a:t>Rules to remember</a:t>
            </a:r>
            <a:endParaRPr lang="en-US" sz="1600" dirty="0"/>
          </a:p>
          <a:p>
            <a:pPr marL="342900" indent="-342900">
              <a:spcBef>
                <a:spcPts val="600"/>
              </a:spcBef>
              <a:buSzPct val="100000"/>
              <a:buFont typeface="+mj-lt"/>
              <a:buAutoNum type="arabicPeriod" startAt="1"/>
            </a:pPr>
            <a:r>
              <a:rPr lang="en-US" sz="1600" dirty="0">
                <a:solidFill>
                  <a:srgbClr val="1F2937"/>
                </a:solidFill>
                <a:latin typeface="Calibri" pitchFamily="34" charset="0"/>
                <a:ea typeface="Calibri" pitchFamily="34" charset="-122"/>
                <a:cs typeface="Calibri" pitchFamily="34" charset="-120"/>
              </a:rPr>
              <a:t>Use Trodes timestamps for alignment.</a:t>
            </a:r>
            <a:endParaRPr lang="en-US" sz="1600" dirty="0"/>
          </a:p>
          <a:p>
            <a:pPr marL="342900" indent="-342900">
              <a:spcBef>
                <a:spcPts val="600"/>
              </a:spcBef>
              <a:buSzPct val="100000"/>
              <a:buFont typeface="+mj-lt"/>
              <a:buAutoNum type="arabicPeriod" startAt="1"/>
            </a:pPr>
            <a:r>
              <a:rPr lang="en-US" sz="1600" dirty="0">
                <a:solidFill>
                  <a:srgbClr val="1F2937"/>
                </a:solidFill>
                <a:latin typeface="Calibri" pitchFamily="34" charset="0"/>
                <a:ea typeface="Calibri" pitchFamily="34" charset="-122"/>
                <a:cs typeface="Calibri" pitchFamily="34" charset="-120"/>
              </a:rPr>
              <a:t>Don't compute time as sample index ÷ 20,000.</a:t>
            </a:r>
            <a:endParaRPr lang="en-US" sz="1600" dirty="0"/>
          </a:p>
          <a:p>
            <a:pPr marL="342900" indent="-342900">
              <a:spcBef>
                <a:spcPts val="600"/>
              </a:spcBef>
              <a:buSzPct val="100000"/>
              <a:buFont typeface="+mj-lt"/>
              <a:buAutoNum type="arabicPeriod" startAt="1"/>
            </a:pPr>
            <a:r>
              <a:rPr lang="en-US" sz="1600" dirty="0">
                <a:solidFill>
                  <a:srgbClr val="1F2937"/>
                </a:solidFill>
                <a:latin typeface="Calibri" pitchFamily="34" charset="0"/>
                <a:ea typeface="Calibri" pitchFamily="34" charset="-122"/>
                <a:cs typeface="Calibri" pitchFamily="34" charset="-120"/>
              </a:rPr>
              <a:t>Don't trust mp4 fps for precise behavioral alignment.</a:t>
            </a:r>
            <a:endParaRPr lang="en-US" sz="1600" dirty="0"/>
          </a:p>
          <a:p>
            <a:pPr marL="342900" indent="-342900">
              <a:spcBef>
                <a:spcPts val="600"/>
              </a:spcBef>
              <a:buSzPct val="100000"/>
              <a:buFont typeface="+mj-lt"/>
              <a:buAutoNum type="arabicPeriod" startAt="1"/>
            </a:pPr>
            <a:r>
              <a:rPr lang="en-US" sz="1600" dirty="0">
                <a:solidFill>
                  <a:srgbClr val="1F2937"/>
                </a:solidFill>
                <a:latin typeface="Calibri" pitchFamily="34" charset="0"/>
                <a:ea typeface="Calibri" pitchFamily="34" charset="-122"/>
                <a:cs typeface="Calibri" pitchFamily="34" charset="-120"/>
              </a:rPr>
              <a:t>Respiration values are raw ADC counts (a.u.), not volts.</a:t>
            </a:r>
            <a:endParaRPr lang="en-US" sz="1600" dirty="0"/>
          </a:p>
          <a:p>
            <a:pPr marL="342900" indent="-342900">
              <a:spcBef>
                <a:spcPts val="600"/>
              </a:spcBef>
              <a:buSzPct val="100000"/>
              <a:buFont typeface="+mj-lt"/>
              <a:buAutoNum type="arabicPeriod" startAt="1"/>
            </a:pPr>
            <a:r>
              <a:rPr lang="en-US" sz="1600" dirty="0">
                <a:solidFill>
                  <a:srgbClr val="1F2937"/>
                </a:solidFill>
                <a:latin typeface="Calibri" pitchFamily="34" charset="0"/>
                <a:ea typeface="Calibri" pitchFamily="34" charset="-122"/>
                <a:cs typeface="Calibri" pitchFamily="34" charset="-120"/>
              </a:rPr>
              <a:t>Cohort 2 is tethered: no Aim1 merge correction needed.</a:t>
            </a:r>
            <a:endParaRPr lang="en-US" sz="1600" dirty="0"/>
          </a:p>
          <a:p>
            <a:pPr marL="342900" indent="-342900">
              <a:spcBef>
                <a:spcPts val="600"/>
              </a:spcBef>
              <a:buSzPct val="100000"/>
              <a:buFont typeface="+mj-lt"/>
              <a:buAutoNum type="arabicPeriod" startAt="1"/>
            </a:pPr>
            <a:r>
              <a:rPr lang="en-US" sz="1600" dirty="0">
                <a:solidFill>
                  <a:srgbClr val="1F2937"/>
                </a:solidFill>
                <a:latin typeface="Calibri" pitchFamily="34" charset="0"/>
                <a:ea typeface="Calibri" pitchFamily="34" charset="-122"/>
                <a:cs typeface="Calibri" pitchFamily="34" charset="-120"/>
              </a:rPr>
              <a:t>Keep /timestamps and /video mappings in every h5.</a:t>
            </a:r>
            <a:endParaRPr lang="en-US" sz="1600" dirty="0"/>
          </a:p>
          <a:p>
            <a:pPr marL="342900" indent="-342900">
              <a:spcBef>
                <a:spcPts val="600"/>
              </a:spcBef>
              <a:buSzPct val="100000"/>
              <a:buFont typeface="+mj-lt"/>
              <a:buAutoNum type="arabicPeriod" startAt="1"/>
            </a:pPr>
            <a:r>
              <a:rPr lang="en-US" sz="1600" dirty="0">
                <a:solidFill>
                  <a:srgbClr val="1F2937"/>
                </a:solidFill>
                <a:latin typeface="Calibri" pitchFamily="34" charset="0"/>
                <a:ea typeface="Calibri" pitchFamily="34" charset="-122"/>
                <a:cs typeface="Calibri" pitchFamily="34" charset="-120"/>
              </a:rPr>
              <a:t>Check respiration QC before downstream analysis.</a:t>
            </a:r>
            <a:endParaRPr lang="en-US" sz="1600" dirty="0"/>
          </a:p>
        </p:txBody>
      </p:sp>
      <p:sp>
        <p:nvSpPr>
          <p:cNvPr id="12" name="Text 10"/>
          <p:cNvSpPr txBox="1"/>
          <p:nvPr/>
        </p:nvSpPr>
        <p:spPr>
          <a:xfrm>
            <a:off x="457200" y="5577840"/>
            <a:ext cx="11292840" cy="411480"/>
          </a:xfrm>
          <a:prstGeom prst="rect">
            <a:avLst/>
          </a:prstGeom>
          <a:noFill/>
          <a:ln/>
        </p:spPr>
        <p:txBody>
          <a:bodyPr wrap="square" lIns="0" tIns="0" rIns="0" bIns="0" rtlCol="0" anchor="t"/>
          <a:lstStyle/>
          <a:p>
            <a:pPr indent="0" marL="0">
              <a:buNone/>
            </a:pPr>
            <a:r>
              <a:rPr lang="en-US" sz="1400" b="1" dirty="0">
                <a:solidFill>
                  <a:srgbClr val="1F2937"/>
                </a:solidFill>
                <a:latin typeface="Calibri" pitchFamily="34" charset="0"/>
                <a:ea typeface="Calibri" pitchFamily="34" charset="-122"/>
                <a:cs typeface="Calibri" pitchFamily="34" charset="-120"/>
              </a:rPr>
              <a:t>Trodes docs: </a:t>
            </a:r>
            <a:pPr indent="0" marL="0">
              <a:buNone/>
            </a:pPr>
            <a:r>
              <a:rPr lang="en-US" sz="1400" u="sng" dirty="0">
                <a:solidFill>
                  <a:srgbClr val="1D4E89"/>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untethered data sync</a:t>
            </a:r>
            <a:pPr indent="0" marL="0">
              <a:buNone/>
            </a:pPr>
            <a:r>
              <a:rPr lang="en-US" sz="1400" dirty="0">
                <a:solidFill>
                  <a:srgbClr val="1F2937"/>
                </a:solidFill>
                <a:latin typeface="Calibri" pitchFamily="34" charset="0"/>
                <a:ea typeface="Calibri" pitchFamily="34" charset="-122"/>
                <a:cs typeface="Calibri" pitchFamily="34" charset="-120"/>
              </a:rPr>
              <a:t> · </a:t>
            </a:r>
            <a:pPr indent="0" marL="0">
              <a:buNone/>
            </a:pPr>
            <a:r>
              <a:rPr lang="en-US" sz="1400" u="sng" dirty="0">
                <a:solidFill>
                  <a:srgbClr val="1D4E89"/>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camera module</a:t>
            </a:r>
            <a:pPr indent="0" marL="0">
              <a:buNone/>
            </a:pPr>
            <a:r>
              <a:rPr lang="en-US" sz="1400" dirty="0">
                <a:solidFill>
                  <a:srgbClr val="1F2937"/>
                </a:solidFill>
                <a:latin typeface="Calibri" pitchFamily="34" charset="0"/>
                <a:ea typeface="Calibri" pitchFamily="34" charset="-122"/>
                <a:cs typeface="Calibri" pitchFamily="34" charset="-120"/>
              </a:rPr>
              <a:t> · </a:t>
            </a:r>
            <a:pPr indent="0" marL="0">
              <a:buNone/>
            </a:pPr>
            <a:r>
              <a:rPr lang="en-US" sz="1400" u="sng" dirty="0">
                <a:solidFill>
                  <a:srgbClr val="1D4E89"/>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export functions</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11274552" cy="685800"/>
          </a:xfrm>
          <a:prstGeom prst="rect">
            <a:avLst/>
          </a:prstGeom>
          <a:noFill/>
          <a:ln/>
        </p:spPr>
        <p:txBody>
          <a:bodyPr wrap="square" lIns="0" tIns="0" rIns="0" bIns="0" rtlCol="0" anchor="ctr"/>
          <a:lstStyle/>
          <a:p>
            <a:pPr indent="0" marL="0">
              <a:buNone/>
            </a:pPr>
            <a:r>
              <a:rPr lang="en-US" sz="3200" b="1" dirty="0">
                <a:solidFill>
                  <a:srgbClr val="1F2937"/>
                </a:solidFill>
                <a:latin typeface="Calibri" pitchFamily="34" charset="0"/>
                <a:ea typeface="Calibri" pitchFamily="34" charset="-122"/>
                <a:cs typeface="Calibri" pitchFamily="34" charset="-120"/>
              </a:rPr>
              <a:t>Next step: what SSLD would do with our data</a:t>
            </a:r>
            <a:endParaRPr lang="en-US" sz="3200" dirty="0"/>
          </a:p>
        </p:txBody>
      </p:sp>
      <p:sp>
        <p:nvSpPr>
          <p:cNvPr id="3" name="Text 1"/>
          <p:cNvSpPr txBox="1"/>
          <p:nvPr/>
        </p:nvSpPr>
        <p:spPr>
          <a:xfrm>
            <a:off x="457200" y="914400"/>
            <a:ext cx="11274552" cy="384048"/>
          </a:xfrm>
          <a:prstGeom prst="rect">
            <a:avLst/>
          </a:prstGeom>
          <a:noFill/>
          <a:ln/>
        </p:spPr>
        <p:txBody>
          <a:bodyPr wrap="square" lIns="0" tIns="0" rIns="0" bIns="0" rtlCol="0" anchor="ctr"/>
          <a:lstStyle/>
          <a:p>
            <a:pPr indent="0" marL="0">
              <a:buNone/>
            </a:pPr>
            <a:r>
              <a:rPr lang="en-US" sz="1700" dirty="0">
                <a:solidFill>
                  <a:srgbClr val="4B5563"/>
                </a:solidFill>
                <a:latin typeface="Calibri" pitchFamily="34" charset="0"/>
                <a:ea typeface="Calibri" pitchFamily="34" charset="-122"/>
                <a:cs typeface="Calibri" pitchFamily="34" charset="-120"/>
              </a:rPr>
              <a:t>Switching Shared Latent Dynamics · planned, not yet tested</a:t>
            </a:r>
            <a:endParaRPr lang="en-US" sz="1700" dirty="0"/>
          </a:p>
        </p:txBody>
      </p:sp>
      <p:sp>
        <p:nvSpPr>
          <p:cNvPr id="4" name="Shape 2"/>
          <p:cNvSpPr/>
          <p:nvPr/>
        </p:nvSpPr>
        <p:spPr>
          <a:xfrm>
            <a:off x="457200" y="1600200"/>
            <a:ext cx="2514600" cy="1417320"/>
          </a:xfrm>
          <a:prstGeom prst="roundRect">
            <a:avLst>
              <a:gd name="adj" fmla="val 4516"/>
            </a:avLst>
          </a:prstGeom>
          <a:solidFill>
            <a:srgbClr val="DCE7F5"/>
          </a:solidFill>
          <a:ln w="12700">
            <a:solidFill>
              <a:srgbClr val="DCE7F5"/>
            </a:solidFill>
            <a:prstDash val="solid"/>
          </a:ln>
        </p:spPr>
      </p:sp>
      <p:sp>
        <p:nvSpPr>
          <p:cNvPr id="5" name="Text 3"/>
          <p:cNvSpPr txBox="1"/>
          <p:nvPr/>
        </p:nvSpPr>
        <p:spPr>
          <a:xfrm>
            <a:off x="548640" y="1600200"/>
            <a:ext cx="2331720" cy="1417320"/>
          </a:xfrm>
          <a:prstGeom prst="rect">
            <a:avLst/>
          </a:prstGeom>
          <a:noFill/>
          <a:ln/>
        </p:spPr>
        <p:txBody>
          <a:bodyPr wrap="square" lIns="0" tIns="0" rIns="0" bIns="0" rtlCol="0" anchor="ctr"/>
          <a:lstStyle/>
          <a:p>
            <a:pPr algn="ctr" indent="0" marL="0">
              <a:buNone/>
            </a:pPr>
            <a:r>
              <a:rPr lang="en-US" sz="1800" b="1" dirty="0">
                <a:solidFill>
                  <a:srgbClr val="1D4E89"/>
                </a:solidFill>
                <a:latin typeface="Calibri" pitchFamily="34" charset="0"/>
                <a:ea typeface="Calibri" pitchFamily="34" charset="-122"/>
                <a:cs typeface="Calibri" pitchFamily="34" charset="-120"/>
              </a:rPr>
              <a:t>Respiration</a:t>
            </a:r>
            <a:endParaRPr lang="en-US" sz="1500" dirty="0"/>
          </a:p>
          <a:p>
            <a:pPr algn="ctr" indent="0" marL="0">
              <a:buNone/>
            </a:pPr>
            <a:r>
              <a:rPr lang="en-US" sz="1300" dirty="0">
                <a:solidFill>
                  <a:srgbClr val="4B5563"/>
                </a:solidFill>
                <a:latin typeface="Calibri" pitchFamily="34" charset="0"/>
                <a:ea typeface="Calibri" pitchFamily="34" charset="-122"/>
                <a:cs typeface="Calibri" pitchFamily="34" charset="-120"/>
              </a:rPr>
              <a:t>physiological time series</a:t>
            </a:r>
            <a:endParaRPr lang="en-US" sz="1500" dirty="0"/>
          </a:p>
          <a:p>
            <a:pPr algn="ctr" indent="0" marL="0">
              <a:buNone/>
            </a:pPr>
            <a:r>
              <a:rPr lang="en-US" sz="1300" dirty="0">
                <a:solidFill>
                  <a:srgbClr val="4B5563"/>
                </a:solidFill>
                <a:latin typeface="Calibri" pitchFamily="34" charset="0"/>
                <a:ea typeface="Calibri" pitchFamily="34" charset="-122"/>
                <a:cs typeface="Calibri" pitchFamily="34" charset="-120"/>
              </a:rPr>
              <a:t>analyzed at 50 Hz</a:t>
            </a:r>
            <a:endParaRPr lang="en-US" sz="1500" dirty="0"/>
          </a:p>
        </p:txBody>
      </p:sp>
      <p:sp>
        <p:nvSpPr>
          <p:cNvPr id="6" name="Shape 4"/>
          <p:cNvSpPr/>
          <p:nvPr/>
        </p:nvSpPr>
        <p:spPr>
          <a:xfrm>
            <a:off x="457200" y="4069080"/>
            <a:ext cx="2514600" cy="1600200"/>
          </a:xfrm>
          <a:prstGeom prst="roundRect">
            <a:avLst>
              <a:gd name="adj" fmla="val 4000"/>
            </a:avLst>
          </a:prstGeom>
          <a:solidFill>
            <a:srgbClr val="FBE6D6"/>
          </a:solidFill>
          <a:ln w="12700">
            <a:solidFill>
              <a:srgbClr val="FBE6D6"/>
            </a:solidFill>
            <a:prstDash val="solid"/>
          </a:ln>
        </p:spPr>
      </p:sp>
      <p:sp>
        <p:nvSpPr>
          <p:cNvPr id="7" name="Text 5"/>
          <p:cNvSpPr txBox="1"/>
          <p:nvPr/>
        </p:nvSpPr>
        <p:spPr>
          <a:xfrm>
            <a:off x="548640" y="4069080"/>
            <a:ext cx="2331720" cy="1600200"/>
          </a:xfrm>
          <a:prstGeom prst="rect">
            <a:avLst/>
          </a:prstGeom>
          <a:noFill/>
          <a:ln/>
        </p:spPr>
        <p:txBody>
          <a:bodyPr wrap="square" lIns="0" tIns="0" rIns="0" bIns="0" rtlCol="0" anchor="ctr"/>
          <a:lstStyle/>
          <a:p>
            <a:pPr algn="ctr" indent="0" marL="0">
              <a:buNone/>
            </a:pPr>
            <a:r>
              <a:rPr lang="en-US" sz="1800" b="1" dirty="0">
                <a:solidFill>
                  <a:srgbClr val="B45A1C"/>
                </a:solidFill>
                <a:latin typeface="Calibri" pitchFamily="34" charset="0"/>
                <a:ea typeface="Calibri" pitchFamily="34" charset="-122"/>
                <a:cs typeface="Calibri" pitchFamily="34" charset="-120"/>
              </a:rPr>
              <a:t>SLEAP / movement</a:t>
            </a:r>
            <a:endParaRPr lang="en-US" sz="1500" dirty="0"/>
          </a:p>
          <a:p>
            <a:pPr algn="ctr" indent="0" marL="0">
              <a:buNone/>
            </a:pPr>
            <a:r>
              <a:rPr lang="en-US" sz="1200" dirty="0">
                <a:solidFill>
                  <a:srgbClr val="4B5563"/>
                </a:solidFill>
                <a:latin typeface="Calibri" pitchFamily="34" charset="0"/>
                <a:ea typeface="Calibri" pitchFamily="34" charset="-122"/>
                <a:cs typeface="Calibri" pitchFamily="34" charset="-120"/>
              </a:rPr>
              <a:t>tracked body nodes, 15 or 20 fps</a:t>
            </a:r>
            <a:endParaRPr lang="en-US" sz="1500" dirty="0"/>
          </a:p>
          <a:p>
            <a:pPr algn="ctr" indent="0" marL="0">
              <a:buNone/>
            </a:pPr>
            <a:r>
              <a:rPr lang="en-US" sz="1200" dirty="0">
                <a:solidFill>
                  <a:srgbClr val="4B5563"/>
                </a:solidFill>
                <a:latin typeface="Calibri" pitchFamily="34" charset="0"/>
                <a:ea typeface="Calibri" pitchFamily="34" charset="-122"/>
                <a:cs typeface="Calibri" pitchFamily="34" charset="-120"/>
              </a:rPr>
              <a:t>→ distance, velocity, orientation,</a:t>
            </a:r>
            <a:endParaRPr lang="en-US" sz="1500" dirty="0"/>
          </a:p>
          <a:p>
            <a:pPr algn="ctr" indent="0" marL="0">
              <a:buNone/>
            </a:pPr>
            <a:r>
              <a:rPr lang="en-US" sz="1200" dirty="0">
                <a:solidFill>
                  <a:srgbClr val="4B5563"/>
                </a:solidFill>
                <a:latin typeface="Calibri" pitchFamily="34" charset="0"/>
                <a:ea typeface="Calibri" pitchFamily="34" charset="-122"/>
                <a:cs typeface="Calibri" pitchFamily="34" charset="-120"/>
              </a:rPr>
              <a:t>approach / withdrawal</a:t>
            </a:r>
            <a:endParaRPr lang="en-US" sz="1500" dirty="0"/>
          </a:p>
        </p:txBody>
      </p:sp>
      <p:sp>
        <p:nvSpPr>
          <p:cNvPr id="8" name="Shape 6"/>
          <p:cNvSpPr/>
          <p:nvPr/>
        </p:nvSpPr>
        <p:spPr>
          <a:xfrm>
            <a:off x="3429000" y="1783080"/>
            <a:ext cx="1463040" cy="1051560"/>
          </a:xfrm>
          <a:prstGeom prst="roundRect">
            <a:avLst>
              <a:gd name="adj" fmla="val 6087"/>
            </a:avLst>
          </a:prstGeom>
          <a:solidFill>
            <a:srgbClr val="DCE7F5"/>
          </a:solidFill>
          <a:ln w="12700">
            <a:solidFill>
              <a:srgbClr val="DCE7F5"/>
            </a:solidFill>
            <a:prstDash val="solid"/>
          </a:ln>
        </p:spPr>
      </p:sp>
      <p:sp>
        <p:nvSpPr>
          <p:cNvPr id="9" name="Text 7"/>
          <p:cNvSpPr txBox="1"/>
          <p:nvPr/>
        </p:nvSpPr>
        <p:spPr>
          <a:xfrm>
            <a:off x="3520440" y="1783080"/>
            <a:ext cx="1280160" cy="1051560"/>
          </a:xfrm>
          <a:prstGeom prst="rect">
            <a:avLst/>
          </a:prstGeom>
          <a:noFill/>
          <a:ln/>
        </p:spPr>
        <p:txBody>
          <a:bodyPr wrap="square" lIns="0" tIns="0" rIns="0" bIns="0" rtlCol="0" anchor="ctr"/>
          <a:lstStyle/>
          <a:p>
            <a:pPr algn="ctr" indent="0" marL="0">
              <a:buNone/>
            </a:pPr>
            <a:r>
              <a:rPr lang="en-US" sz="1500" b="1" dirty="0">
                <a:solidFill>
                  <a:srgbClr val="1D4E89"/>
                </a:solidFill>
                <a:latin typeface="Calibri" pitchFamily="34" charset="0"/>
                <a:ea typeface="Calibri" pitchFamily="34" charset="-122"/>
                <a:cs typeface="Calibri" pitchFamily="34" charset="-120"/>
              </a:rPr>
              <a:t>Encoder</a:t>
            </a:r>
            <a:endParaRPr lang="en-US" sz="1500" dirty="0"/>
          </a:p>
        </p:txBody>
      </p:sp>
      <p:sp>
        <p:nvSpPr>
          <p:cNvPr id="10" name="Shape 8"/>
          <p:cNvSpPr/>
          <p:nvPr/>
        </p:nvSpPr>
        <p:spPr>
          <a:xfrm>
            <a:off x="3429000" y="4343400"/>
            <a:ext cx="1463040" cy="1051560"/>
          </a:xfrm>
          <a:prstGeom prst="roundRect">
            <a:avLst>
              <a:gd name="adj" fmla="val 6087"/>
            </a:avLst>
          </a:prstGeom>
          <a:solidFill>
            <a:srgbClr val="FBE6D6"/>
          </a:solidFill>
          <a:ln w="12700">
            <a:solidFill>
              <a:srgbClr val="FBE6D6"/>
            </a:solidFill>
            <a:prstDash val="solid"/>
          </a:ln>
        </p:spPr>
      </p:sp>
      <p:sp>
        <p:nvSpPr>
          <p:cNvPr id="11" name="Text 9"/>
          <p:cNvSpPr txBox="1"/>
          <p:nvPr/>
        </p:nvSpPr>
        <p:spPr>
          <a:xfrm>
            <a:off x="3520440" y="4343400"/>
            <a:ext cx="1280160" cy="1051560"/>
          </a:xfrm>
          <a:prstGeom prst="rect">
            <a:avLst/>
          </a:prstGeom>
          <a:noFill/>
          <a:ln/>
        </p:spPr>
        <p:txBody>
          <a:bodyPr wrap="square" lIns="0" tIns="0" rIns="0" bIns="0" rtlCol="0" anchor="ctr"/>
          <a:lstStyle/>
          <a:p>
            <a:pPr algn="ctr" indent="0" marL="0">
              <a:buNone/>
            </a:pPr>
            <a:r>
              <a:rPr lang="en-US" sz="1500" b="1" dirty="0">
                <a:solidFill>
                  <a:srgbClr val="B45A1C"/>
                </a:solidFill>
                <a:latin typeface="Calibri" pitchFamily="34" charset="0"/>
                <a:ea typeface="Calibri" pitchFamily="34" charset="-122"/>
                <a:cs typeface="Calibri" pitchFamily="34" charset="-120"/>
              </a:rPr>
              <a:t>Encoder</a:t>
            </a:r>
            <a:endParaRPr lang="en-US" sz="1500" dirty="0"/>
          </a:p>
        </p:txBody>
      </p:sp>
      <p:sp>
        <p:nvSpPr>
          <p:cNvPr id="12" name="Shape 10"/>
          <p:cNvSpPr/>
          <p:nvPr/>
        </p:nvSpPr>
        <p:spPr>
          <a:xfrm>
            <a:off x="2990088" y="2304288"/>
            <a:ext cx="411480" cy="0"/>
          </a:xfrm>
          <a:prstGeom prst="line">
            <a:avLst/>
          </a:prstGeom>
          <a:noFill/>
          <a:ln w="25400">
            <a:solidFill>
              <a:srgbClr val="1D4E89"/>
            </a:solidFill>
            <a:prstDash val="solid"/>
            <a:tailEnd type="triangle"/>
          </a:ln>
        </p:spPr>
      </p:sp>
      <p:sp>
        <p:nvSpPr>
          <p:cNvPr id="13" name="Shape 11"/>
          <p:cNvSpPr/>
          <p:nvPr/>
        </p:nvSpPr>
        <p:spPr>
          <a:xfrm>
            <a:off x="2990088" y="4864608"/>
            <a:ext cx="411480" cy="0"/>
          </a:xfrm>
          <a:prstGeom prst="line">
            <a:avLst/>
          </a:prstGeom>
          <a:noFill/>
          <a:ln w="25400">
            <a:solidFill>
              <a:srgbClr val="B45A1C"/>
            </a:solidFill>
            <a:prstDash val="solid"/>
            <a:tailEnd type="triangle"/>
          </a:ln>
        </p:spPr>
      </p:sp>
      <p:sp>
        <p:nvSpPr>
          <p:cNvPr id="14" name="Shape 12"/>
          <p:cNvSpPr/>
          <p:nvPr/>
        </p:nvSpPr>
        <p:spPr>
          <a:xfrm>
            <a:off x="5440680" y="1463040"/>
            <a:ext cx="2560320" cy="1005840"/>
          </a:xfrm>
          <a:prstGeom prst="roundRect">
            <a:avLst>
              <a:gd name="adj" fmla="val 6364"/>
            </a:avLst>
          </a:prstGeom>
          <a:solidFill>
            <a:srgbClr val="DCE7F5"/>
          </a:solidFill>
          <a:ln w="12700">
            <a:solidFill>
              <a:srgbClr val="1D4E89"/>
            </a:solidFill>
            <a:prstDash val="solid"/>
          </a:ln>
        </p:spPr>
      </p:sp>
      <p:sp>
        <p:nvSpPr>
          <p:cNvPr id="15" name="Text 13"/>
          <p:cNvSpPr txBox="1"/>
          <p:nvPr/>
        </p:nvSpPr>
        <p:spPr>
          <a:xfrm>
            <a:off x="5532120" y="1463040"/>
            <a:ext cx="2377440" cy="1005840"/>
          </a:xfrm>
          <a:prstGeom prst="rect">
            <a:avLst/>
          </a:prstGeom>
          <a:noFill/>
          <a:ln/>
        </p:spPr>
        <p:txBody>
          <a:bodyPr wrap="square" lIns="0" tIns="0" rIns="0" bIns="0" rtlCol="0" anchor="ctr"/>
          <a:lstStyle/>
          <a:p>
            <a:pPr algn="ctr" indent="0" marL="0">
              <a:buNone/>
            </a:pPr>
            <a:r>
              <a:rPr lang="en-US" sz="1500" b="1" dirty="0">
                <a:solidFill>
                  <a:srgbClr val="1D4E89"/>
                </a:solidFill>
                <a:latin typeface="Calibri" pitchFamily="34" charset="0"/>
                <a:ea typeface="Calibri" pitchFamily="34" charset="-122"/>
                <a:cs typeface="Calibri" pitchFamily="34" charset="-120"/>
              </a:rPr>
              <a:t>Respiration-private</a:t>
            </a:r>
            <a:endParaRPr lang="en-US" sz="1500" dirty="0"/>
          </a:p>
          <a:p>
            <a:pPr algn="ctr" indent="0" marL="0">
              <a:buNone/>
            </a:pPr>
            <a:r>
              <a:rPr lang="en-US" sz="1200" dirty="0">
                <a:solidFill>
                  <a:srgbClr val="4B5563"/>
                </a:solidFill>
                <a:latin typeface="Calibri" pitchFamily="34" charset="0"/>
                <a:ea typeface="Calibri" pitchFamily="34" charset="-122"/>
                <a:cs typeface="Calibri" pitchFamily="34" charset="-120"/>
              </a:rPr>
              <a:t>mainly in respiration</a:t>
            </a:r>
            <a:endParaRPr lang="en-US" sz="1500" dirty="0"/>
          </a:p>
        </p:txBody>
      </p:sp>
      <p:sp>
        <p:nvSpPr>
          <p:cNvPr id="16" name="Shape 14"/>
          <p:cNvSpPr/>
          <p:nvPr/>
        </p:nvSpPr>
        <p:spPr>
          <a:xfrm>
            <a:off x="5440680" y="2788920"/>
            <a:ext cx="2560320" cy="1600200"/>
          </a:xfrm>
          <a:prstGeom prst="roundRect">
            <a:avLst>
              <a:gd name="adj" fmla="val 4000"/>
            </a:avLst>
          </a:prstGeom>
          <a:solidFill>
            <a:srgbClr val="ECE5F6"/>
          </a:solidFill>
          <a:ln w="25400">
            <a:solidFill>
              <a:srgbClr val="6B4FA0"/>
            </a:solidFill>
            <a:prstDash val="solid"/>
          </a:ln>
        </p:spPr>
      </p:sp>
      <p:sp>
        <p:nvSpPr>
          <p:cNvPr id="17" name="Text 15"/>
          <p:cNvSpPr txBox="1"/>
          <p:nvPr/>
        </p:nvSpPr>
        <p:spPr>
          <a:xfrm>
            <a:off x="5532120" y="2788920"/>
            <a:ext cx="2377440" cy="1600200"/>
          </a:xfrm>
          <a:prstGeom prst="rect">
            <a:avLst/>
          </a:prstGeom>
          <a:noFill/>
          <a:ln/>
        </p:spPr>
        <p:txBody>
          <a:bodyPr wrap="square" lIns="0" tIns="0" rIns="0" bIns="0" rtlCol="0" anchor="ctr"/>
          <a:lstStyle/>
          <a:p>
            <a:pPr algn="ctr" indent="0" marL="0">
              <a:buNone/>
            </a:pPr>
            <a:r>
              <a:rPr lang="en-US" sz="1700" b="1" dirty="0">
                <a:solidFill>
                  <a:srgbClr val="6B4FA0"/>
                </a:solidFill>
                <a:latin typeface="Calibri" pitchFamily="34" charset="0"/>
                <a:ea typeface="Calibri" pitchFamily="34" charset="-122"/>
                <a:cs typeface="Calibri" pitchFamily="34" charset="-120"/>
              </a:rPr>
              <a:t>Shared latent</a:t>
            </a:r>
            <a:endParaRPr lang="en-US" sz="1500" dirty="0"/>
          </a:p>
          <a:p>
            <a:pPr algn="ctr" indent="0" marL="0">
              <a:buNone/>
            </a:pPr>
            <a:r>
              <a:rPr lang="en-US" sz="1200" dirty="0">
                <a:solidFill>
                  <a:srgbClr val="4B5563"/>
                </a:solidFill>
                <a:latin typeface="Calibri" pitchFamily="34" charset="0"/>
                <a:ea typeface="Calibri" pitchFamily="34" charset="-122"/>
                <a:cs typeface="Calibri" pitchFamily="34" charset="-120"/>
              </a:rPr>
              <a:t>present in both</a:t>
            </a:r>
            <a:endParaRPr lang="en-US" sz="1500" dirty="0"/>
          </a:p>
        </p:txBody>
      </p:sp>
      <p:sp>
        <p:nvSpPr>
          <p:cNvPr id="18" name="Shape 16"/>
          <p:cNvSpPr/>
          <p:nvPr/>
        </p:nvSpPr>
        <p:spPr>
          <a:xfrm>
            <a:off x="5440680" y="4709160"/>
            <a:ext cx="2560320" cy="1005840"/>
          </a:xfrm>
          <a:prstGeom prst="roundRect">
            <a:avLst>
              <a:gd name="adj" fmla="val 6364"/>
            </a:avLst>
          </a:prstGeom>
          <a:solidFill>
            <a:srgbClr val="FBE6D6"/>
          </a:solidFill>
          <a:ln w="12700">
            <a:solidFill>
              <a:srgbClr val="B45A1C"/>
            </a:solidFill>
            <a:prstDash val="solid"/>
          </a:ln>
        </p:spPr>
      </p:sp>
      <p:sp>
        <p:nvSpPr>
          <p:cNvPr id="19" name="Text 17"/>
          <p:cNvSpPr txBox="1"/>
          <p:nvPr/>
        </p:nvSpPr>
        <p:spPr>
          <a:xfrm>
            <a:off x="5532120" y="4709160"/>
            <a:ext cx="2377440" cy="1005840"/>
          </a:xfrm>
          <a:prstGeom prst="rect">
            <a:avLst/>
          </a:prstGeom>
          <a:noFill/>
          <a:ln/>
        </p:spPr>
        <p:txBody>
          <a:bodyPr wrap="square" lIns="0" tIns="0" rIns="0" bIns="0" rtlCol="0" anchor="ctr"/>
          <a:lstStyle/>
          <a:p>
            <a:pPr algn="ctr" indent="0" marL="0">
              <a:buNone/>
            </a:pPr>
            <a:r>
              <a:rPr lang="en-US" sz="1500" b="1" dirty="0">
                <a:solidFill>
                  <a:srgbClr val="B45A1C"/>
                </a:solidFill>
                <a:latin typeface="Calibri" pitchFamily="34" charset="0"/>
                <a:ea typeface="Calibri" pitchFamily="34" charset="-122"/>
                <a:cs typeface="Calibri" pitchFamily="34" charset="-120"/>
              </a:rPr>
              <a:t>Behavior-private</a:t>
            </a:r>
            <a:endParaRPr lang="en-US" sz="1500" dirty="0"/>
          </a:p>
          <a:p>
            <a:pPr algn="ctr" indent="0" marL="0">
              <a:buNone/>
            </a:pPr>
            <a:r>
              <a:rPr lang="en-US" sz="1200" dirty="0">
                <a:solidFill>
                  <a:srgbClr val="4B5563"/>
                </a:solidFill>
                <a:latin typeface="Calibri" pitchFamily="34" charset="0"/>
                <a:ea typeface="Calibri" pitchFamily="34" charset="-122"/>
                <a:cs typeface="Calibri" pitchFamily="34" charset="-120"/>
              </a:rPr>
              <a:t>mainly in visible movement</a:t>
            </a:r>
            <a:endParaRPr lang="en-US" sz="1500" dirty="0"/>
          </a:p>
        </p:txBody>
      </p:sp>
      <p:sp>
        <p:nvSpPr>
          <p:cNvPr id="20" name="Shape 18"/>
          <p:cNvSpPr/>
          <p:nvPr/>
        </p:nvSpPr>
        <p:spPr>
          <a:xfrm flipV="1">
            <a:off x="4910328" y="1965960"/>
            <a:ext cx="502920" cy="228600"/>
          </a:xfrm>
          <a:prstGeom prst="line">
            <a:avLst/>
          </a:prstGeom>
          <a:noFill/>
          <a:ln w="25400">
            <a:solidFill>
              <a:srgbClr val="1D4E89"/>
            </a:solidFill>
            <a:prstDash val="solid"/>
            <a:tailEnd type="triangle"/>
          </a:ln>
        </p:spPr>
      </p:sp>
      <p:sp>
        <p:nvSpPr>
          <p:cNvPr id="21" name="Shape 19"/>
          <p:cNvSpPr/>
          <p:nvPr/>
        </p:nvSpPr>
        <p:spPr>
          <a:xfrm>
            <a:off x="4910328" y="2514600"/>
            <a:ext cx="502920" cy="731520"/>
          </a:xfrm>
          <a:prstGeom prst="line">
            <a:avLst/>
          </a:prstGeom>
          <a:noFill/>
          <a:ln w="25400">
            <a:solidFill>
              <a:srgbClr val="1D4E89"/>
            </a:solidFill>
            <a:prstDash val="solid"/>
            <a:tailEnd type="triangle"/>
          </a:ln>
        </p:spPr>
      </p:sp>
      <p:sp>
        <p:nvSpPr>
          <p:cNvPr id="22" name="Shape 20"/>
          <p:cNvSpPr/>
          <p:nvPr/>
        </p:nvSpPr>
        <p:spPr>
          <a:xfrm>
            <a:off x="4910328" y="5074920"/>
            <a:ext cx="502920" cy="137160"/>
          </a:xfrm>
          <a:prstGeom prst="line">
            <a:avLst/>
          </a:prstGeom>
          <a:noFill/>
          <a:ln w="25400">
            <a:solidFill>
              <a:srgbClr val="B45A1C"/>
            </a:solidFill>
            <a:prstDash val="solid"/>
            <a:tailEnd type="triangle"/>
          </a:ln>
        </p:spPr>
      </p:sp>
      <p:sp>
        <p:nvSpPr>
          <p:cNvPr id="23" name="Shape 21"/>
          <p:cNvSpPr/>
          <p:nvPr/>
        </p:nvSpPr>
        <p:spPr>
          <a:xfrm flipV="1">
            <a:off x="4910328" y="3931920"/>
            <a:ext cx="502920" cy="777240"/>
          </a:xfrm>
          <a:prstGeom prst="line">
            <a:avLst/>
          </a:prstGeom>
          <a:noFill/>
          <a:ln w="25400">
            <a:solidFill>
              <a:srgbClr val="B45A1C"/>
            </a:solidFill>
            <a:prstDash val="solid"/>
            <a:tailEnd type="triangle"/>
          </a:ln>
        </p:spPr>
      </p:sp>
      <p:sp>
        <p:nvSpPr>
          <p:cNvPr id="24" name="Shape 22"/>
          <p:cNvSpPr/>
          <p:nvPr/>
        </p:nvSpPr>
        <p:spPr>
          <a:xfrm>
            <a:off x="5623560" y="3840480"/>
            <a:ext cx="640080" cy="292608"/>
          </a:xfrm>
          <a:prstGeom prst="rect">
            <a:avLst/>
          </a:prstGeom>
          <a:solidFill>
            <a:srgbClr val="C9B8E8"/>
          </a:solidFill>
          <a:ln w="12700">
            <a:solidFill>
              <a:srgbClr val="FFFFFF"/>
            </a:solidFill>
            <a:prstDash val="solid"/>
          </a:ln>
        </p:spPr>
      </p:sp>
      <p:sp>
        <p:nvSpPr>
          <p:cNvPr id="25" name="Text 23"/>
          <p:cNvSpPr txBox="1"/>
          <p:nvPr/>
        </p:nvSpPr>
        <p:spPr>
          <a:xfrm>
            <a:off x="5623560" y="3840480"/>
            <a:ext cx="640080"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a:t>
            </a:r>
            <a:endParaRPr lang="en-US" sz="1100" dirty="0"/>
          </a:p>
        </p:txBody>
      </p:sp>
      <p:sp>
        <p:nvSpPr>
          <p:cNvPr id="26" name="Shape 24"/>
          <p:cNvSpPr/>
          <p:nvPr/>
        </p:nvSpPr>
        <p:spPr>
          <a:xfrm>
            <a:off x="6263640" y="3840480"/>
            <a:ext cx="457200" cy="292608"/>
          </a:xfrm>
          <a:prstGeom prst="rect">
            <a:avLst/>
          </a:prstGeom>
          <a:solidFill>
            <a:srgbClr val="A68BD6"/>
          </a:solidFill>
          <a:ln w="12700">
            <a:solidFill>
              <a:srgbClr val="FFFFFF"/>
            </a:solidFill>
            <a:prstDash val="solid"/>
          </a:ln>
        </p:spPr>
      </p:sp>
      <p:sp>
        <p:nvSpPr>
          <p:cNvPr id="27" name="Text 25"/>
          <p:cNvSpPr txBox="1"/>
          <p:nvPr/>
        </p:nvSpPr>
        <p:spPr>
          <a:xfrm>
            <a:off x="6263640" y="3840480"/>
            <a:ext cx="457200"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B</a:t>
            </a:r>
            <a:endParaRPr lang="en-US" sz="1100" dirty="0"/>
          </a:p>
        </p:txBody>
      </p:sp>
      <p:sp>
        <p:nvSpPr>
          <p:cNvPr id="28" name="Shape 26"/>
          <p:cNvSpPr/>
          <p:nvPr/>
        </p:nvSpPr>
        <p:spPr>
          <a:xfrm>
            <a:off x="6720840" y="3840480"/>
            <a:ext cx="411480" cy="292608"/>
          </a:xfrm>
          <a:prstGeom prst="rect">
            <a:avLst/>
          </a:prstGeom>
          <a:solidFill>
            <a:srgbClr val="C9B8E8"/>
          </a:solidFill>
          <a:ln w="12700">
            <a:solidFill>
              <a:srgbClr val="FFFFFF"/>
            </a:solidFill>
            <a:prstDash val="solid"/>
          </a:ln>
        </p:spPr>
      </p:sp>
      <p:sp>
        <p:nvSpPr>
          <p:cNvPr id="29" name="Text 27"/>
          <p:cNvSpPr txBox="1"/>
          <p:nvPr/>
        </p:nvSpPr>
        <p:spPr>
          <a:xfrm>
            <a:off x="6720840" y="3840480"/>
            <a:ext cx="411480"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a:t>
            </a:r>
            <a:endParaRPr lang="en-US" sz="1100" dirty="0"/>
          </a:p>
        </p:txBody>
      </p:sp>
      <p:sp>
        <p:nvSpPr>
          <p:cNvPr id="30" name="Shape 28"/>
          <p:cNvSpPr/>
          <p:nvPr/>
        </p:nvSpPr>
        <p:spPr>
          <a:xfrm>
            <a:off x="7132320" y="3840480"/>
            <a:ext cx="685800" cy="292608"/>
          </a:xfrm>
          <a:prstGeom prst="rect">
            <a:avLst/>
          </a:prstGeom>
          <a:solidFill>
            <a:srgbClr val="8466C2"/>
          </a:solidFill>
          <a:ln w="12700">
            <a:solidFill>
              <a:srgbClr val="FFFFFF"/>
            </a:solidFill>
            <a:prstDash val="solid"/>
          </a:ln>
        </p:spPr>
      </p:sp>
      <p:sp>
        <p:nvSpPr>
          <p:cNvPr id="31" name="Text 29"/>
          <p:cNvSpPr txBox="1"/>
          <p:nvPr/>
        </p:nvSpPr>
        <p:spPr>
          <a:xfrm>
            <a:off x="7132320" y="3840480"/>
            <a:ext cx="685800"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C</a:t>
            </a:r>
            <a:endParaRPr lang="en-US" sz="1100" dirty="0"/>
          </a:p>
        </p:txBody>
      </p:sp>
      <p:sp>
        <p:nvSpPr>
          <p:cNvPr id="32" name="Text 30"/>
          <p:cNvSpPr txBox="1"/>
          <p:nvPr/>
        </p:nvSpPr>
        <p:spPr>
          <a:xfrm>
            <a:off x="5440680" y="4160520"/>
            <a:ext cx="2560320" cy="228600"/>
          </a:xfrm>
          <a:prstGeom prst="rect">
            <a:avLst/>
          </a:prstGeom>
          <a:noFill/>
          <a:ln/>
        </p:spPr>
        <p:txBody>
          <a:bodyPr wrap="square" lIns="0" tIns="0" rIns="0" bIns="0" rtlCol="0" anchor="t"/>
          <a:lstStyle/>
          <a:p>
            <a:pPr algn="ctr" indent="0" marL="0">
              <a:buNone/>
            </a:pPr>
            <a:r>
              <a:rPr lang="en-US" sz="1100" i="1" dirty="0">
                <a:solidFill>
                  <a:srgbClr val="6B4FA0"/>
                </a:solidFill>
                <a:latin typeface="Calibri" pitchFamily="34" charset="0"/>
                <a:ea typeface="Calibri" pitchFamily="34" charset="-122"/>
                <a:cs typeface="Calibri" pitchFamily="34" charset="-120"/>
              </a:rPr>
              <a:t>switching dynamics: regimes over time</a:t>
            </a:r>
            <a:endParaRPr lang="en-US" sz="1100" dirty="0"/>
          </a:p>
        </p:txBody>
      </p:sp>
      <p:sp>
        <p:nvSpPr>
          <p:cNvPr id="33" name="Shape 31"/>
          <p:cNvSpPr/>
          <p:nvPr/>
        </p:nvSpPr>
        <p:spPr>
          <a:xfrm>
            <a:off x="8412480" y="1463040"/>
            <a:ext cx="1508760" cy="4251960"/>
          </a:xfrm>
          <a:prstGeom prst="roundRect">
            <a:avLst>
              <a:gd name="adj" fmla="val 4242"/>
            </a:avLst>
          </a:prstGeom>
          <a:solidFill>
            <a:srgbClr val="F3F4F6"/>
          </a:solidFill>
          <a:ln w="12700">
            <a:solidFill>
              <a:srgbClr val="C9D1DB"/>
            </a:solidFill>
            <a:prstDash val="solid"/>
          </a:ln>
        </p:spPr>
      </p:sp>
      <p:sp>
        <p:nvSpPr>
          <p:cNvPr id="34" name="Text 32"/>
          <p:cNvSpPr txBox="1"/>
          <p:nvPr/>
        </p:nvSpPr>
        <p:spPr>
          <a:xfrm>
            <a:off x="8503920" y="1463040"/>
            <a:ext cx="1325880" cy="4251960"/>
          </a:xfrm>
          <a:prstGeom prst="rect">
            <a:avLst/>
          </a:prstGeom>
          <a:noFill/>
          <a:ln/>
        </p:spPr>
        <p:txBody>
          <a:bodyPr wrap="square" lIns="0" tIns="0" rIns="0" bIns="0" rtlCol="0" anchor="ctr"/>
          <a:lstStyle/>
          <a:p>
            <a:pPr algn="ctr" indent="0" marL="0">
              <a:buNone/>
            </a:pPr>
            <a:r>
              <a:rPr lang="en-US" sz="1500" b="1" dirty="0">
                <a:solidFill>
                  <a:srgbClr val="1F2937"/>
                </a:solidFill>
                <a:latin typeface="Calibri" pitchFamily="34" charset="0"/>
                <a:ea typeface="Calibri" pitchFamily="34" charset="-122"/>
                <a:cs typeface="Calibri" pitchFamily="34" charset="-120"/>
              </a:rPr>
              <a:t>Learned representation</a:t>
            </a:r>
            <a:endParaRPr lang="en-US" sz="1500" dirty="0"/>
          </a:p>
          <a:p>
            <a:pPr algn="ctr" indent="0" marL="0">
              <a:buNone/>
            </a:pPr>
            <a:r>
              <a:rPr lang="en-US" sz="1200" dirty="0">
                <a:solidFill>
                  <a:srgbClr val="4B5563"/>
                </a:solidFill>
                <a:latin typeface="Calibri" pitchFamily="34" charset="0"/>
                <a:ea typeface="Calibri" pitchFamily="34" charset="-122"/>
                <a:cs typeface="Calibri" pitchFamily="34" charset="-120"/>
              </a:rPr>
              <a:t>private + shared latents, regime sequence</a:t>
            </a:r>
            <a:endParaRPr lang="en-US" sz="1500" dirty="0"/>
          </a:p>
        </p:txBody>
      </p:sp>
      <p:sp>
        <p:nvSpPr>
          <p:cNvPr id="35" name="Shape 33"/>
          <p:cNvSpPr/>
          <p:nvPr/>
        </p:nvSpPr>
        <p:spPr>
          <a:xfrm>
            <a:off x="8028432" y="1965960"/>
            <a:ext cx="402336" cy="0"/>
          </a:xfrm>
          <a:prstGeom prst="line">
            <a:avLst/>
          </a:prstGeom>
          <a:noFill/>
          <a:ln w="25400">
            <a:solidFill>
              <a:srgbClr val="1F2937"/>
            </a:solidFill>
            <a:prstDash val="solid"/>
            <a:tailEnd type="triangle"/>
          </a:ln>
        </p:spPr>
      </p:sp>
      <p:sp>
        <p:nvSpPr>
          <p:cNvPr id="36" name="Shape 34"/>
          <p:cNvSpPr/>
          <p:nvPr/>
        </p:nvSpPr>
        <p:spPr>
          <a:xfrm>
            <a:off x="8028432" y="3566160"/>
            <a:ext cx="402336" cy="0"/>
          </a:xfrm>
          <a:prstGeom prst="line">
            <a:avLst/>
          </a:prstGeom>
          <a:noFill/>
          <a:ln w="25400">
            <a:solidFill>
              <a:srgbClr val="1F2937"/>
            </a:solidFill>
            <a:prstDash val="solid"/>
            <a:tailEnd type="triangle"/>
          </a:ln>
        </p:spPr>
      </p:sp>
      <p:sp>
        <p:nvSpPr>
          <p:cNvPr id="37" name="Shape 35"/>
          <p:cNvSpPr/>
          <p:nvPr/>
        </p:nvSpPr>
        <p:spPr>
          <a:xfrm>
            <a:off x="8028432" y="5212080"/>
            <a:ext cx="402336" cy="0"/>
          </a:xfrm>
          <a:prstGeom prst="line">
            <a:avLst/>
          </a:prstGeom>
          <a:noFill/>
          <a:ln w="25400">
            <a:solidFill>
              <a:srgbClr val="1F2937"/>
            </a:solidFill>
            <a:prstDash val="solid"/>
            <a:tailEnd type="triangle"/>
          </a:ln>
        </p:spPr>
      </p:sp>
      <p:sp>
        <p:nvSpPr>
          <p:cNvPr id="38" name="Shape 36"/>
          <p:cNvSpPr/>
          <p:nvPr/>
        </p:nvSpPr>
        <p:spPr>
          <a:xfrm>
            <a:off x="9948672" y="3584448"/>
            <a:ext cx="411480" cy="0"/>
          </a:xfrm>
          <a:prstGeom prst="line">
            <a:avLst/>
          </a:prstGeom>
          <a:noFill/>
          <a:ln w="25400">
            <a:solidFill>
              <a:srgbClr val="4B5563"/>
            </a:solidFill>
            <a:prstDash val="dash"/>
            <a:tailEnd type="triangle"/>
          </a:ln>
        </p:spPr>
      </p:sp>
      <p:sp>
        <p:nvSpPr>
          <p:cNvPr id="39" name="Shape 37"/>
          <p:cNvSpPr/>
          <p:nvPr/>
        </p:nvSpPr>
        <p:spPr>
          <a:xfrm>
            <a:off x="10405872" y="2606040"/>
            <a:ext cx="1344168" cy="1965960"/>
          </a:xfrm>
          <a:prstGeom prst="roundRect">
            <a:avLst>
              <a:gd name="adj" fmla="val 4762"/>
            </a:avLst>
          </a:prstGeom>
          <a:solidFill>
            <a:srgbClr val="EEF0F3"/>
          </a:solidFill>
          <a:ln w="12700">
            <a:solidFill>
              <a:srgbClr val="4B5563"/>
            </a:solidFill>
            <a:prstDash val="dash"/>
          </a:ln>
        </p:spPr>
      </p:sp>
      <p:sp>
        <p:nvSpPr>
          <p:cNvPr id="40" name="Text 38"/>
          <p:cNvSpPr txBox="1"/>
          <p:nvPr/>
        </p:nvSpPr>
        <p:spPr>
          <a:xfrm>
            <a:off x="10497312" y="2606040"/>
            <a:ext cx="1161288" cy="1965960"/>
          </a:xfrm>
          <a:prstGeom prst="rect">
            <a:avLst/>
          </a:prstGeom>
          <a:noFill/>
          <a:ln/>
        </p:spPr>
        <p:txBody>
          <a:bodyPr wrap="square" lIns="0" tIns="0" rIns="0" bIns="0" rtlCol="0" anchor="ctr"/>
          <a:lstStyle/>
          <a:p>
            <a:pPr algn="ctr" indent="0" marL="0">
              <a:buNone/>
            </a:pPr>
            <a:r>
              <a:rPr lang="en-US" sz="1500" b="1" dirty="0">
                <a:solidFill>
                  <a:srgbClr val="4B5563"/>
                </a:solidFill>
                <a:latin typeface="Calibri" pitchFamily="34" charset="0"/>
                <a:ea typeface="Calibri" pitchFamily="34" charset="-122"/>
                <a:cs typeface="Calibri" pitchFamily="34" charset="-120"/>
              </a:rPr>
              <a:t>Test</a:t>
            </a:r>
            <a:endParaRPr lang="en-US" sz="1500" dirty="0"/>
          </a:p>
          <a:p>
            <a:pPr algn="ctr" indent="0" marL="0">
              <a:buNone/>
            </a:pPr>
            <a:r>
              <a:rPr lang="en-US" sz="1200" dirty="0">
                <a:solidFill>
                  <a:srgbClr val="4B5563"/>
                </a:solidFill>
                <a:latin typeface="Calibri" pitchFamily="34" charset="0"/>
                <a:ea typeface="Calibri" pitchFamily="34" charset="-122"/>
                <a:cs typeface="Calibri" pitchFamily="34" charset="-120"/>
              </a:rPr>
              <a:t>Rank</a:t>
            </a:r>
            <a:endParaRPr lang="en-US" sz="1500" dirty="0"/>
          </a:p>
          <a:p>
            <a:pPr algn="ctr" indent="0" marL="0">
              <a:buNone/>
            </a:pPr>
            <a:r>
              <a:rPr lang="en-US" sz="1200" dirty="0">
                <a:solidFill>
                  <a:srgbClr val="4B5563"/>
                </a:solidFill>
                <a:latin typeface="Calibri" pitchFamily="34" charset="0"/>
                <a:ea typeface="Calibri" pitchFamily="34" charset="-122"/>
                <a:cs typeface="Calibri" pitchFamily="34" charset="-120"/>
              </a:rPr>
              <a:t>(D vs S)</a:t>
            </a:r>
            <a:endParaRPr lang="en-US" sz="1500" dirty="0"/>
          </a:p>
          <a:p>
            <a:pPr algn="ctr" indent="0" marL="0">
              <a:buNone/>
            </a:pPr>
            <a:r>
              <a:rPr lang="en-US" sz="1200" dirty="0">
                <a:solidFill>
                  <a:srgbClr val="4B5563"/>
                </a:solidFill>
                <a:latin typeface="Calibri" pitchFamily="34" charset="0"/>
                <a:ea typeface="Calibri" pitchFamily="34" charset="-122"/>
                <a:cs typeface="Calibri" pitchFamily="34" charset="-120"/>
              </a:rPr>
              <a:t>Valence</a:t>
            </a:r>
            <a:endParaRPr lang="en-US" sz="1500" dirty="0"/>
          </a:p>
          <a:p>
            <a:pPr algn="ctr" indent="0" marL="0">
              <a:buNone/>
            </a:pPr>
            <a:r>
              <a:rPr lang="en-US" sz="1200" dirty="0">
                <a:solidFill>
                  <a:srgbClr val="4B5563"/>
                </a:solidFill>
                <a:latin typeface="Calibri" pitchFamily="34" charset="0"/>
                <a:ea typeface="Calibri" pitchFamily="34" charset="-122"/>
                <a:cs typeface="Calibri" pitchFamily="34" charset="-120"/>
              </a:rPr>
              <a:t>(+ vs −)</a:t>
            </a:r>
            <a:endParaRPr lang="en-US" sz="1500" dirty="0"/>
          </a:p>
        </p:txBody>
      </p:sp>
      <p:sp>
        <p:nvSpPr>
          <p:cNvPr id="41" name="Text 39"/>
          <p:cNvSpPr txBox="1"/>
          <p:nvPr/>
        </p:nvSpPr>
        <p:spPr>
          <a:xfrm>
            <a:off x="10405872" y="4663440"/>
            <a:ext cx="1344168" cy="548640"/>
          </a:xfrm>
          <a:prstGeom prst="rect">
            <a:avLst/>
          </a:prstGeom>
          <a:noFill/>
          <a:ln/>
        </p:spPr>
        <p:txBody>
          <a:bodyPr wrap="square" lIns="0" tIns="0" rIns="0" bIns="0" rtlCol="0" anchor="t"/>
          <a:lstStyle/>
          <a:p>
            <a:pPr algn="ctr" indent="0" marL="0">
              <a:buNone/>
            </a:pPr>
            <a:r>
              <a:rPr lang="en-US" sz="1100" i="1" dirty="0">
                <a:solidFill>
                  <a:srgbClr val="4B5563"/>
                </a:solidFill>
                <a:latin typeface="Calibri" pitchFamily="34" charset="0"/>
                <a:ea typeface="Calibri" pitchFamily="34" charset="-122"/>
                <a:cs typeface="Calibri" pitchFamily="34" charset="-120"/>
              </a:rPr>
              <a:t>downstream test, not an input</a:t>
            </a:r>
            <a:endParaRPr lang="en-US" sz="1100" dirty="0"/>
          </a:p>
        </p:txBody>
      </p:sp>
      <p:sp>
        <p:nvSpPr>
          <p:cNvPr id="42" name="Text 40"/>
          <p:cNvSpPr txBox="1"/>
          <p:nvPr/>
        </p:nvSpPr>
        <p:spPr>
          <a:xfrm>
            <a:off x="457200" y="5943600"/>
            <a:ext cx="9144000" cy="640080"/>
          </a:xfrm>
          <a:prstGeom prst="rect">
            <a:avLst/>
          </a:prstGeom>
          <a:noFill/>
          <a:ln/>
        </p:spPr>
        <p:txBody>
          <a:bodyPr wrap="square" lIns="0" tIns="0" rIns="0" bIns="0" rtlCol="0" anchor="t"/>
          <a:lstStyle/>
          <a:p>
            <a:pPr indent="0" marL="0">
              <a:buNone/>
            </a:pPr>
            <a:r>
              <a:rPr lang="en-US" sz="1500" b="1" dirty="0">
                <a:solidFill>
                  <a:srgbClr val="1F2937"/>
                </a:solidFill>
                <a:latin typeface="Calibri" pitchFamily="34" charset="0"/>
                <a:ea typeface="Calibri" pitchFamily="34" charset="-122"/>
                <a:cs typeface="Calibri" pitchFamily="34" charset="-120"/>
              </a:rPr>
              <a:t>SSLD lets us ask whether socially relevant information is carried uniquely by respiration, uniquely by behavior, or by their shared dynamics.</a:t>
            </a:r>
            <a:endParaRPr lang="en-US" sz="1500" dirty="0"/>
          </a:p>
        </p:txBody>
      </p:sp>
      <p:sp>
        <p:nvSpPr>
          <p:cNvPr id="43" name="Text 41"/>
          <p:cNvSpPr txBox="1"/>
          <p:nvPr/>
        </p:nvSpPr>
        <p:spPr>
          <a:xfrm>
            <a:off x="9692640" y="6035040"/>
            <a:ext cx="2103120" cy="365760"/>
          </a:xfrm>
          <a:prstGeom prst="rect">
            <a:avLst/>
          </a:prstGeom>
          <a:noFill/>
          <a:ln/>
        </p:spPr>
        <p:txBody>
          <a:bodyPr wrap="square" lIns="0" tIns="0" rIns="0" bIns="0" rtlCol="0" anchor="t"/>
          <a:lstStyle/>
          <a:p>
            <a:pPr algn="r" indent="0" marL="0">
              <a:buNone/>
            </a:pPr>
            <a:r>
              <a:rPr lang="en-US" sz="1200" dirty="0">
                <a:solidFill>
                  <a:srgbClr val="1F2937"/>
                </a:solidFill>
                <a:latin typeface="Calibri" pitchFamily="34" charset="0"/>
                <a:ea typeface="Calibri" pitchFamily="34" charset="-122"/>
                <a:cs typeface="Calibri" pitchFamily="34" charset="-120"/>
              </a:rPr>
              <a:t>Paper: </a:t>
            </a:r>
            <a:pPr algn="r" indent="0" marL="0">
              <a:buNone/>
            </a:pPr>
            <a:r>
              <a:rPr lang="en-US" sz="1200" b="1" dirty="0">
                <a:solidFill>
                  <a:srgbClr val="B45309"/>
                </a:solidFill>
                <a:latin typeface="Calibri" pitchFamily="34" charset="0"/>
                <a:ea typeface="Calibri" pitchFamily="34" charset="-122"/>
                <a:cs typeface="Calibri" pitchFamily="34" charset="-120"/>
              </a:rPr>
              <a:t>[add SSLD paper link]</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11274552" cy="685800"/>
          </a:xfrm>
          <a:prstGeom prst="rect">
            <a:avLst/>
          </a:prstGeom>
          <a:noFill/>
          <a:ln/>
        </p:spPr>
        <p:txBody>
          <a:bodyPr wrap="square" lIns="0" tIns="0" rIns="0" bIns="0" rtlCol="0" anchor="ctr"/>
          <a:lstStyle/>
          <a:p>
            <a:pPr indent="0" marL="0">
              <a:buNone/>
            </a:pPr>
            <a:r>
              <a:rPr lang="en-US" sz="3200" b="1" dirty="0">
                <a:solidFill>
                  <a:srgbClr val="1F2937"/>
                </a:solidFill>
                <a:latin typeface="Calibri" pitchFamily="34" charset="0"/>
                <a:ea typeface="Calibri" pitchFamily="34" charset="-122"/>
                <a:cs typeface="Calibri" pitchFamily="34" charset="-120"/>
              </a:rPr>
              <a:t>How much does respiration actually contribute?</a:t>
            </a:r>
            <a:endParaRPr lang="en-US" sz="3200" dirty="0"/>
          </a:p>
        </p:txBody>
      </p:sp>
      <p:sp>
        <p:nvSpPr>
          <p:cNvPr id="3" name="Text 1"/>
          <p:cNvSpPr txBox="1"/>
          <p:nvPr/>
        </p:nvSpPr>
        <p:spPr>
          <a:xfrm>
            <a:off x="457200" y="914400"/>
            <a:ext cx="11274552" cy="384048"/>
          </a:xfrm>
          <a:prstGeom prst="rect">
            <a:avLst/>
          </a:prstGeom>
          <a:noFill/>
          <a:ln/>
        </p:spPr>
        <p:txBody>
          <a:bodyPr wrap="square" lIns="0" tIns="0" rIns="0" bIns="0" rtlCol="0" anchor="ctr"/>
          <a:lstStyle/>
          <a:p>
            <a:pPr indent="0" marL="0">
              <a:buNone/>
            </a:pPr>
            <a:r>
              <a:rPr lang="en-US" sz="1700" dirty="0">
                <a:solidFill>
                  <a:srgbClr val="4B5563"/>
                </a:solidFill>
                <a:latin typeface="Calibri" pitchFamily="34" charset="0"/>
                <a:ea typeface="Calibri" pitchFamily="34" charset="-122"/>
                <a:cs typeface="Calibri" pitchFamily="34" charset="-120"/>
              </a:rPr>
              <a:t>Does respiration carry social information beyond what is already visible in behavior?</a:t>
            </a:r>
            <a:endParaRPr lang="en-US" sz="17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457200" y="1463040"/>
          <a:ext cx="6766560" cy="914400"/>
        </p:xfrm>
        <a:graphic>
          <a:graphicData uri="http://schemas.openxmlformats.org/drawingml/2006/table">
            <a:tbl>
              <a:tblPr/>
              <a:tblGrid>
                <a:gridCol w="2011680"/>
                <a:gridCol w="640080"/>
                <a:gridCol w="640080"/>
                <a:gridCol w="731520"/>
                <a:gridCol w="2743200"/>
              </a:tblGrid>
              <a:tr h="457200">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Input set</a:t>
                      </a:r>
                      <a:endParaRPr lang="en-US" sz="1400" dirty="0">
                        <a:latin typeface="Calibri" charset="0"/>
                        <a:ea typeface="Calibri" charset="0"/>
                        <a:cs typeface="Calibri" charset="0"/>
                      </a:endParaRPr>
                    </a:p>
                  </a:txBody>
                  <a:tcPr marL="73152" marR="73152" marT="27432" marB="27432"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solidFill>
                      <a:srgbClr val="1D4E89"/>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Resp</a:t>
                      </a:r>
                      <a:endParaRPr lang="en-US" sz="1400" dirty="0">
                        <a:latin typeface="Calibri" charset="0"/>
                        <a:ea typeface="Calibri" charset="0"/>
                        <a:cs typeface="Calibri" charset="0"/>
                      </a:endParaRPr>
                    </a:p>
                  </a:txBody>
                  <a:tcPr marL="73152" marR="73152" marT="27432" marB="27432"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solidFill>
                      <a:srgbClr val="1D4E89"/>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Pose</a:t>
                      </a:r>
                      <a:endParaRPr lang="en-US" sz="1400" dirty="0">
                        <a:latin typeface="Calibri" charset="0"/>
                        <a:ea typeface="Calibri" charset="0"/>
                        <a:cs typeface="Calibri" charset="0"/>
                      </a:endParaRPr>
                    </a:p>
                  </a:txBody>
                  <a:tcPr marL="73152" marR="73152" marT="27432" marB="27432"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solidFill>
                      <a:srgbClr val="1D4E89"/>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States</a:t>
                      </a:r>
                      <a:endParaRPr lang="en-US" sz="1400" dirty="0">
                        <a:latin typeface="Calibri" charset="0"/>
                        <a:ea typeface="Calibri" charset="0"/>
                        <a:cs typeface="Calibri" charset="0"/>
                      </a:endParaRPr>
                    </a:p>
                  </a:txBody>
                  <a:tcPr marL="73152" marR="73152" marT="27432" marB="27432"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solidFill>
                      <a:srgbClr val="1D4E89"/>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Purpose</a:t>
                      </a:r>
                      <a:endParaRPr lang="en-US" sz="1400" dirty="0">
                        <a:latin typeface="Calibri" charset="0"/>
                        <a:ea typeface="Calibri" charset="0"/>
                        <a:cs typeface="Calibri" charset="0"/>
                      </a:endParaRPr>
                    </a:p>
                  </a:txBody>
                  <a:tcPr marL="73152" marR="73152" marT="27432" marB="27432"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solidFill>
                      <a:srgbClr val="1D4E89"/>
                    </a:solidFill>
                  </a:tcPr>
                </a:tc>
              </a:tr>
              <a:tr h="457200">
                <a:tc>
                  <a:txBody>
                    <a:bodyPr/>
                    <a:lstStyle/>
                    <a:p>
                      <a:pPr algn="l" indent="0" marL="0">
                        <a:buNone/>
                      </a:pPr>
                      <a:r>
                        <a:rPr lang="en-US" sz="1400" b="1" dirty="0">
                          <a:solidFill>
                            <a:srgbClr val="1F2937"/>
                          </a:solidFill>
                          <a:latin typeface="Calibri" pitchFamily="34" charset="0"/>
                          <a:ea typeface="Calibri" pitchFamily="34" charset="-122"/>
                          <a:cs typeface="Calibri" pitchFamily="34" charset="-120"/>
                        </a:rPr>
                        <a:t>Respiration only</a:t>
                      </a:r>
                      <a:endParaRPr lang="en-US" sz="1400" dirty="0">
                        <a:latin typeface="Calibri" charset="0"/>
                        <a:ea typeface="Calibri" charset="0"/>
                        <a:cs typeface="Calibri" charset="0"/>
                      </a:endParaRPr>
                    </a:p>
                  </a:txBody>
                  <a:tcPr marL="73152" marR="73152" marT="27432" marB="27432"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tc>
                  <a:txBody>
                    <a:bodyPr/>
                    <a:lstStyle/>
                    <a:p>
                      <a:pPr algn="ctr" indent="0" marL="0">
                        <a:buNone/>
                      </a:pPr>
                      <a:r>
                        <a:rPr lang="en-US" sz="1800" b="1" dirty="0">
                          <a:solidFill>
                            <a:srgbClr val="1D4E89"/>
                          </a:solidFill>
                          <a:latin typeface="Calibri" pitchFamily="34" charset="0"/>
                          <a:ea typeface="Calibri" pitchFamily="34" charset="-122"/>
                          <a:cs typeface="Calibri" pitchFamily="34" charset="-120"/>
                        </a:rPr>
                        <a:t>●</a:t>
                      </a:r>
                      <a:endParaRPr lang="en-US" sz="1800" dirty="0">
                        <a:latin typeface="Calibri" charset="0"/>
                        <a:ea typeface="Calibri" charset="0"/>
                        <a:cs typeface="Calibri" charset="0"/>
                      </a:endParaRPr>
                    </a:p>
                  </a:txBody>
                  <a:tcPr marL="73152" marR="73152" marT="27432" marB="27432"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tc>
                  <a:txBody>
                    <a:bodyPr/>
                    <a:lstStyle/>
                    <a:p>
                      <a:pPr algn="ctr" indent="0" marL="0">
                        <a:buNone/>
                      </a:pPr>
                      <a:endParaRPr lang="en-US" sz="1800" dirty="0">
                        <a:latin typeface="Calibri" charset="0"/>
                        <a:ea typeface="Calibri" charset="0"/>
                        <a:cs typeface="Calibri" charset="0"/>
                      </a:endParaRPr>
                    </a:p>
                  </a:txBody>
                  <a:tcPr marL="73152" marR="73152" marT="27432" marB="27432"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tc>
                  <a:txBody>
                    <a:bodyPr/>
                    <a:lstStyle/>
                    <a:p>
                      <a:pPr algn="ctr" indent="0" marL="0">
                        <a:buNone/>
                      </a:pPr>
                      <a:endParaRPr lang="en-US" sz="1800" dirty="0">
                        <a:latin typeface="Calibri" charset="0"/>
                        <a:ea typeface="Calibri" charset="0"/>
                        <a:cs typeface="Calibri" charset="0"/>
                      </a:endParaRPr>
                    </a:p>
                  </a:txBody>
                  <a:tcPr marL="73152" marR="73152" marT="27432" marB="27432"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tc>
                  <a:txBody>
                    <a:bodyPr/>
                    <a:lstStyle/>
                    <a:p>
                      <a:pPr algn="l" indent="0" marL="0">
                        <a:buNone/>
                      </a:pPr>
                      <a:r>
                        <a:rPr lang="en-US" sz="1400" dirty="0">
                          <a:solidFill>
                            <a:srgbClr val="1F2937"/>
                          </a:solidFill>
                          <a:latin typeface="Calibri" pitchFamily="34" charset="0"/>
                          <a:ea typeface="Calibri" pitchFamily="34" charset="-122"/>
                          <a:cs typeface="Calibri" pitchFamily="34" charset="-120"/>
                        </a:rPr>
                        <a:t>Physiological information</a:t>
                      </a:r>
                      <a:endParaRPr lang="en-US" sz="1400" dirty="0">
                        <a:latin typeface="Calibri" charset="0"/>
                        <a:ea typeface="Calibri" charset="0"/>
                        <a:cs typeface="Calibri" charset="0"/>
                      </a:endParaRPr>
                    </a:p>
                  </a:txBody>
                  <a:tcPr marL="73152" marR="73152" marT="27432" marB="27432"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tr>
              <a:tr h="457200">
                <a:tc>
                  <a:txBody>
                    <a:bodyPr/>
                    <a:lstStyle/>
                    <a:p>
                      <a:pPr algn="l" indent="0" marL="0">
                        <a:buNone/>
                      </a:pPr>
                      <a:r>
                        <a:rPr lang="en-US" sz="1400" b="1" dirty="0">
                          <a:solidFill>
                            <a:srgbClr val="1F2937"/>
                          </a:solidFill>
                          <a:latin typeface="Calibri" pitchFamily="34" charset="0"/>
                          <a:ea typeface="Calibri" pitchFamily="34" charset="-122"/>
                          <a:cs typeface="Calibri" pitchFamily="34" charset="-120"/>
                        </a:rPr>
                        <a:t>Pose only</a:t>
                      </a:r>
                      <a:endParaRPr lang="en-US" sz="1400" dirty="0">
                        <a:latin typeface="Calibri" charset="0"/>
                        <a:ea typeface="Calibri" charset="0"/>
                        <a:cs typeface="Calibri" charset="0"/>
                      </a:endParaRPr>
                    </a:p>
                  </a:txBody>
                  <a:tcPr marL="73152" marR="73152" marT="27432" marB="27432"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tc>
                  <a:txBody>
                    <a:bodyPr/>
                    <a:lstStyle/>
                    <a:p>
                      <a:pPr algn="ctr" indent="0" marL="0">
                        <a:buNone/>
                      </a:pPr>
                      <a:endParaRPr lang="en-US" sz="1800" dirty="0">
                        <a:latin typeface="Calibri" charset="0"/>
                        <a:ea typeface="Calibri" charset="0"/>
                        <a:cs typeface="Calibri" charset="0"/>
                      </a:endParaRPr>
                    </a:p>
                  </a:txBody>
                  <a:tcPr marL="73152" marR="73152" marT="27432" marB="27432"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tc>
                  <a:txBody>
                    <a:bodyPr/>
                    <a:lstStyle/>
                    <a:p>
                      <a:pPr algn="ctr" indent="0" marL="0">
                        <a:buNone/>
                      </a:pPr>
                      <a:r>
                        <a:rPr lang="en-US" sz="1800" b="1" dirty="0">
                          <a:solidFill>
                            <a:srgbClr val="B45A1C"/>
                          </a:solidFill>
                          <a:latin typeface="Calibri" pitchFamily="34" charset="0"/>
                          <a:ea typeface="Calibri" pitchFamily="34" charset="-122"/>
                          <a:cs typeface="Calibri" pitchFamily="34" charset="-120"/>
                        </a:rPr>
                        <a:t>●</a:t>
                      </a:r>
                      <a:endParaRPr lang="en-US" sz="1800" dirty="0">
                        <a:latin typeface="Calibri" charset="0"/>
                        <a:ea typeface="Calibri" charset="0"/>
                        <a:cs typeface="Calibri" charset="0"/>
                      </a:endParaRPr>
                    </a:p>
                  </a:txBody>
                  <a:tcPr marL="73152" marR="73152" marT="27432" marB="27432"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tc>
                  <a:txBody>
                    <a:bodyPr/>
                    <a:lstStyle/>
                    <a:p>
                      <a:pPr algn="ctr" indent="0" marL="0">
                        <a:buNone/>
                      </a:pPr>
                      <a:endParaRPr lang="en-US" sz="1800" dirty="0">
                        <a:latin typeface="Calibri" charset="0"/>
                        <a:ea typeface="Calibri" charset="0"/>
                        <a:cs typeface="Calibri" charset="0"/>
                      </a:endParaRPr>
                    </a:p>
                  </a:txBody>
                  <a:tcPr marL="73152" marR="73152" marT="27432" marB="27432"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tc>
                  <a:txBody>
                    <a:bodyPr/>
                    <a:lstStyle/>
                    <a:p>
                      <a:pPr algn="l" indent="0" marL="0">
                        <a:buNone/>
                      </a:pPr>
                      <a:r>
                        <a:rPr lang="en-US" sz="1400" dirty="0">
                          <a:solidFill>
                            <a:srgbClr val="1F2937"/>
                          </a:solidFill>
                          <a:latin typeface="Calibri" pitchFamily="34" charset="0"/>
                          <a:ea typeface="Calibri" pitchFamily="34" charset="-122"/>
                          <a:cs typeface="Calibri" pitchFamily="34" charset="-120"/>
                        </a:rPr>
                        <a:t>Visible movement information</a:t>
                      </a:r>
                      <a:endParaRPr lang="en-US" sz="1400" dirty="0">
                        <a:latin typeface="Calibri" charset="0"/>
                        <a:ea typeface="Calibri" charset="0"/>
                        <a:cs typeface="Calibri" charset="0"/>
                      </a:endParaRPr>
                    </a:p>
                  </a:txBody>
                  <a:tcPr marL="73152" marR="73152" marT="27432" marB="27432"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tr>
              <a:tr h="457200">
                <a:tc>
                  <a:txBody>
                    <a:bodyPr/>
                    <a:lstStyle/>
                    <a:p>
                      <a:pPr algn="l" indent="0" marL="0">
                        <a:buNone/>
                      </a:pPr>
                      <a:r>
                        <a:rPr lang="en-US" sz="1400" b="1" dirty="0">
                          <a:solidFill>
                            <a:srgbClr val="1F2937"/>
                          </a:solidFill>
                          <a:latin typeface="Calibri" pitchFamily="34" charset="0"/>
                          <a:ea typeface="Calibri" pitchFamily="34" charset="-122"/>
                          <a:cs typeface="Calibri" pitchFamily="34" charset="-120"/>
                        </a:rPr>
                        <a:t>Behavioral states only</a:t>
                      </a:r>
                      <a:endParaRPr lang="en-US" sz="1400" dirty="0">
                        <a:latin typeface="Calibri" charset="0"/>
                        <a:ea typeface="Calibri" charset="0"/>
                        <a:cs typeface="Calibri" charset="0"/>
                      </a:endParaRPr>
                    </a:p>
                  </a:txBody>
                  <a:tcPr marL="73152" marR="73152" marT="27432" marB="27432"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tc>
                  <a:txBody>
                    <a:bodyPr/>
                    <a:lstStyle/>
                    <a:p>
                      <a:pPr algn="ctr" indent="0" marL="0">
                        <a:buNone/>
                      </a:pPr>
                      <a:endParaRPr lang="en-US" sz="1800" dirty="0">
                        <a:latin typeface="Calibri" charset="0"/>
                        <a:ea typeface="Calibri" charset="0"/>
                        <a:cs typeface="Calibri" charset="0"/>
                      </a:endParaRPr>
                    </a:p>
                  </a:txBody>
                  <a:tcPr marL="73152" marR="73152" marT="27432" marB="27432"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tc>
                  <a:txBody>
                    <a:bodyPr/>
                    <a:lstStyle/>
                    <a:p>
                      <a:pPr algn="ctr" indent="0" marL="0">
                        <a:buNone/>
                      </a:pPr>
                      <a:endParaRPr lang="en-US" sz="1800" dirty="0">
                        <a:latin typeface="Calibri" charset="0"/>
                        <a:ea typeface="Calibri" charset="0"/>
                        <a:cs typeface="Calibri" charset="0"/>
                      </a:endParaRPr>
                    </a:p>
                  </a:txBody>
                  <a:tcPr marL="73152" marR="73152" marT="27432" marB="27432"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tc>
                  <a:txBody>
                    <a:bodyPr/>
                    <a:lstStyle/>
                    <a:p>
                      <a:pPr algn="ctr" indent="0" marL="0">
                        <a:buNone/>
                      </a:pPr>
                      <a:r>
                        <a:rPr lang="en-US" sz="1800" b="1" dirty="0">
                          <a:solidFill>
                            <a:srgbClr val="8A5A2B"/>
                          </a:solidFill>
                          <a:latin typeface="Calibri" pitchFamily="34" charset="0"/>
                          <a:ea typeface="Calibri" pitchFamily="34" charset="-122"/>
                          <a:cs typeface="Calibri" pitchFamily="34" charset="-120"/>
                        </a:rPr>
                        <a:t>●</a:t>
                      </a:r>
                      <a:endParaRPr lang="en-US" sz="1800" dirty="0">
                        <a:latin typeface="Calibri" charset="0"/>
                        <a:ea typeface="Calibri" charset="0"/>
                        <a:cs typeface="Calibri" charset="0"/>
                      </a:endParaRPr>
                    </a:p>
                  </a:txBody>
                  <a:tcPr marL="73152" marR="73152" marT="27432" marB="27432"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tc>
                  <a:txBody>
                    <a:bodyPr/>
                    <a:lstStyle/>
                    <a:p>
                      <a:pPr algn="l" indent="0" marL="0">
                        <a:buNone/>
                      </a:pPr>
                      <a:r>
                        <a:rPr lang="en-US" sz="1400" dirty="0">
                          <a:solidFill>
                            <a:srgbClr val="1F2937"/>
                          </a:solidFill>
                          <a:latin typeface="Calibri" pitchFamily="34" charset="0"/>
                          <a:ea typeface="Calibri" pitchFamily="34" charset="-122"/>
                          <a:cs typeface="Calibri" pitchFamily="34" charset="-120"/>
                        </a:rPr>
                        <a:t>Interpretable behavior categories</a:t>
                      </a:r>
                      <a:endParaRPr lang="en-US" sz="1400" dirty="0">
                        <a:latin typeface="Calibri" charset="0"/>
                        <a:ea typeface="Calibri" charset="0"/>
                        <a:cs typeface="Calibri" charset="0"/>
                      </a:endParaRPr>
                    </a:p>
                  </a:txBody>
                  <a:tcPr marL="73152" marR="73152" marT="27432" marB="27432"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tr>
              <a:tr h="457200">
                <a:tc>
                  <a:txBody>
                    <a:bodyPr/>
                    <a:lstStyle/>
                    <a:p>
                      <a:pPr algn="l" indent="0" marL="0">
                        <a:buNone/>
                      </a:pPr>
                      <a:r>
                        <a:rPr lang="en-US" sz="1400" b="1" dirty="0">
                          <a:solidFill>
                            <a:srgbClr val="1F2937"/>
                          </a:solidFill>
                          <a:latin typeface="Calibri" pitchFamily="34" charset="0"/>
                          <a:ea typeface="Calibri" pitchFamily="34" charset="-122"/>
                          <a:cs typeface="Calibri" pitchFamily="34" charset="-120"/>
                        </a:rPr>
                        <a:t>Respiration + pose</a:t>
                      </a:r>
                      <a:endParaRPr lang="en-US" sz="1400" dirty="0">
                        <a:latin typeface="Calibri" charset="0"/>
                        <a:ea typeface="Calibri" charset="0"/>
                        <a:cs typeface="Calibri" charset="0"/>
                      </a:endParaRPr>
                    </a:p>
                  </a:txBody>
                  <a:tcPr marL="73152" marR="73152" marT="27432" marB="27432"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solidFill>
                      <a:srgbClr val="ECE5F6"/>
                    </a:solidFill>
                  </a:tcPr>
                </a:tc>
                <a:tc>
                  <a:txBody>
                    <a:bodyPr/>
                    <a:lstStyle/>
                    <a:p>
                      <a:pPr algn="ctr" indent="0" marL="0">
                        <a:buNone/>
                      </a:pPr>
                      <a:r>
                        <a:rPr lang="en-US" sz="1800" b="1" dirty="0">
                          <a:solidFill>
                            <a:srgbClr val="1D4E89"/>
                          </a:solidFill>
                          <a:latin typeface="Calibri" pitchFamily="34" charset="0"/>
                          <a:ea typeface="Calibri" pitchFamily="34" charset="-122"/>
                          <a:cs typeface="Calibri" pitchFamily="34" charset="-120"/>
                        </a:rPr>
                        <a:t>●</a:t>
                      </a:r>
                      <a:endParaRPr lang="en-US" sz="1800" dirty="0">
                        <a:latin typeface="Calibri" charset="0"/>
                        <a:ea typeface="Calibri" charset="0"/>
                        <a:cs typeface="Calibri" charset="0"/>
                      </a:endParaRPr>
                    </a:p>
                  </a:txBody>
                  <a:tcPr marL="73152" marR="73152" marT="27432" marB="27432"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solidFill>
                      <a:srgbClr val="ECE5F6"/>
                    </a:solidFill>
                  </a:tcPr>
                </a:tc>
                <a:tc>
                  <a:txBody>
                    <a:bodyPr/>
                    <a:lstStyle/>
                    <a:p>
                      <a:pPr algn="ctr" indent="0" marL="0">
                        <a:buNone/>
                      </a:pPr>
                      <a:r>
                        <a:rPr lang="en-US" sz="1800" b="1" dirty="0">
                          <a:solidFill>
                            <a:srgbClr val="B45A1C"/>
                          </a:solidFill>
                          <a:latin typeface="Calibri" pitchFamily="34" charset="0"/>
                          <a:ea typeface="Calibri" pitchFamily="34" charset="-122"/>
                          <a:cs typeface="Calibri" pitchFamily="34" charset="-120"/>
                        </a:rPr>
                        <a:t>●</a:t>
                      </a:r>
                      <a:endParaRPr lang="en-US" sz="1800" dirty="0">
                        <a:latin typeface="Calibri" charset="0"/>
                        <a:ea typeface="Calibri" charset="0"/>
                        <a:cs typeface="Calibri" charset="0"/>
                      </a:endParaRPr>
                    </a:p>
                  </a:txBody>
                  <a:tcPr marL="73152" marR="73152" marT="27432" marB="27432"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solidFill>
                      <a:srgbClr val="ECE5F6"/>
                    </a:solidFill>
                  </a:tcPr>
                </a:tc>
                <a:tc>
                  <a:txBody>
                    <a:bodyPr/>
                    <a:lstStyle/>
                    <a:p>
                      <a:pPr algn="ctr" indent="0" marL="0">
                        <a:buNone/>
                      </a:pPr>
                      <a:endParaRPr lang="en-US" sz="1800" dirty="0">
                        <a:latin typeface="Calibri" charset="0"/>
                        <a:ea typeface="Calibri" charset="0"/>
                        <a:cs typeface="Calibri" charset="0"/>
                      </a:endParaRPr>
                    </a:p>
                  </a:txBody>
                  <a:tcPr marL="73152" marR="73152" marT="27432" marB="27432"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solidFill>
                      <a:srgbClr val="ECE5F6"/>
                    </a:solidFill>
                  </a:tcPr>
                </a:tc>
                <a:tc>
                  <a:txBody>
                    <a:bodyPr/>
                    <a:lstStyle/>
                    <a:p>
                      <a:pPr algn="l" indent="0" marL="0">
                        <a:buNone/>
                      </a:pPr>
                      <a:r>
                        <a:rPr lang="en-US" sz="1400" dirty="0">
                          <a:solidFill>
                            <a:srgbClr val="1F2937"/>
                          </a:solidFill>
                          <a:latin typeface="Calibri" pitchFamily="34" charset="0"/>
                          <a:ea typeface="Calibri" pitchFamily="34" charset="-122"/>
                          <a:cs typeface="Calibri" pitchFamily="34" charset="-120"/>
                        </a:rPr>
                        <a:t>Does physiology add beyond movement?</a:t>
                      </a:r>
                      <a:endParaRPr lang="en-US" sz="1400" dirty="0">
                        <a:latin typeface="Calibri" charset="0"/>
                        <a:ea typeface="Calibri" charset="0"/>
                        <a:cs typeface="Calibri" charset="0"/>
                      </a:endParaRPr>
                    </a:p>
                  </a:txBody>
                  <a:tcPr marL="73152" marR="73152" marT="27432" marB="27432"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solidFill>
                      <a:srgbClr val="ECE5F6"/>
                    </a:solidFill>
                  </a:tcPr>
                </a:tc>
              </a:tr>
              <a:tr h="457200">
                <a:tc>
                  <a:txBody>
                    <a:bodyPr/>
                    <a:lstStyle/>
                    <a:p>
                      <a:pPr algn="l" indent="0" marL="0">
                        <a:buNone/>
                      </a:pPr>
                      <a:r>
                        <a:rPr lang="en-US" sz="1400" b="1" dirty="0">
                          <a:solidFill>
                            <a:srgbClr val="1F2937"/>
                          </a:solidFill>
                          <a:latin typeface="Calibri" pitchFamily="34" charset="0"/>
                          <a:ea typeface="Calibri" pitchFamily="34" charset="-122"/>
                          <a:cs typeface="Calibri" pitchFamily="34" charset="-120"/>
                        </a:rPr>
                        <a:t>Respiration + states</a:t>
                      </a:r>
                      <a:endParaRPr lang="en-US" sz="1400" dirty="0">
                        <a:latin typeface="Calibri" charset="0"/>
                        <a:ea typeface="Calibri" charset="0"/>
                        <a:cs typeface="Calibri" charset="0"/>
                      </a:endParaRPr>
                    </a:p>
                  </a:txBody>
                  <a:tcPr marL="73152" marR="73152" marT="27432" marB="27432"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solidFill>
                      <a:srgbClr val="ECE5F6"/>
                    </a:solidFill>
                  </a:tcPr>
                </a:tc>
                <a:tc>
                  <a:txBody>
                    <a:bodyPr/>
                    <a:lstStyle/>
                    <a:p>
                      <a:pPr algn="ctr" indent="0" marL="0">
                        <a:buNone/>
                      </a:pPr>
                      <a:r>
                        <a:rPr lang="en-US" sz="1800" b="1" dirty="0">
                          <a:solidFill>
                            <a:srgbClr val="1D4E89"/>
                          </a:solidFill>
                          <a:latin typeface="Calibri" pitchFamily="34" charset="0"/>
                          <a:ea typeface="Calibri" pitchFamily="34" charset="-122"/>
                          <a:cs typeface="Calibri" pitchFamily="34" charset="-120"/>
                        </a:rPr>
                        <a:t>●</a:t>
                      </a:r>
                      <a:endParaRPr lang="en-US" sz="1800" dirty="0">
                        <a:latin typeface="Calibri" charset="0"/>
                        <a:ea typeface="Calibri" charset="0"/>
                        <a:cs typeface="Calibri" charset="0"/>
                      </a:endParaRPr>
                    </a:p>
                  </a:txBody>
                  <a:tcPr marL="73152" marR="73152" marT="27432" marB="27432"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solidFill>
                      <a:srgbClr val="ECE5F6"/>
                    </a:solidFill>
                  </a:tcPr>
                </a:tc>
                <a:tc>
                  <a:txBody>
                    <a:bodyPr/>
                    <a:lstStyle/>
                    <a:p>
                      <a:pPr algn="ctr" indent="0" marL="0">
                        <a:buNone/>
                      </a:pPr>
                      <a:endParaRPr lang="en-US" sz="1800" dirty="0">
                        <a:latin typeface="Calibri" charset="0"/>
                        <a:ea typeface="Calibri" charset="0"/>
                        <a:cs typeface="Calibri" charset="0"/>
                      </a:endParaRPr>
                    </a:p>
                  </a:txBody>
                  <a:tcPr marL="73152" marR="73152" marT="27432" marB="27432"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solidFill>
                      <a:srgbClr val="ECE5F6"/>
                    </a:solidFill>
                  </a:tcPr>
                </a:tc>
                <a:tc>
                  <a:txBody>
                    <a:bodyPr/>
                    <a:lstStyle/>
                    <a:p>
                      <a:pPr algn="ctr" indent="0" marL="0">
                        <a:buNone/>
                      </a:pPr>
                      <a:r>
                        <a:rPr lang="en-US" sz="1800" b="1" dirty="0">
                          <a:solidFill>
                            <a:srgbClr val="8A5A2B"/>
                          </a:solidFill>
                          <a:latin typeface="Calibri" pitchFamily="34" charset="0"/>
                          <a:ea typeface="Calibri" pitchFamily="34" charset="-122"/>
                          <a:cs typeface="Calibri" pitchFamily="34" charset="-120"/>
                        </a:rPr>
                        <a:t>●</a:t>
                      </a:r>
                      <a:endParaRPr lang="en-US" sz="1800" dirty="0">
                        <a:latin typeface="Calibri" charset="0"/>
                        <a:ea typeface="Calibri" charset="0"/>
                        <a:cs typeface="Calibri" charset="0"/>
                      </a:endParaRPr>
                    </a:p>
                  </a:txBody>
                  <a:tcPr marL="73152" marR="73152" marT="27432" marB="27432"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solidFill>
                      <a:srgbClr val="ECE5F6"/>
                    </a:solidFill>
                  </a:tcPr>
                </a:tc>
                <a:tc>
                  <a:txBody>
                    <a:bodyPr/>
                    <a:lstStyle/>
                    <a:p>
                      <a:pPr algn="l" indent="0" marL="0">
                        <a:buNone/>
                      </a:pPr>
                      <a:r>
                        <a:rPr lang="en-US" sz="1400" dirty="0">
                          <a:solidFill>
                            <a:srgbClr val="1F2937"/>
                          </a:solidFill>
                          <a:latin typeface="Calibri" pitchFamily="34" charset="0"/>
                          <a:ea typeface="Calibri" pitchFamily="34" charset="-122"/>
                          <a:cs typeface="Calibri" pitchFamily="34" charset="-120"/>
                        </a:rPr>
                        <a:t>Does physiology add beyond behavior?</a:t>
                      </a:r>
                      <a:endParaRPr lang="en-US" sz="1400" dirty="0">
                        <a:latin typeface="Calibri" charset="0"/>
                        <a:ea typeface="Calibri" charset="0"/>
                        <a:cs typeface="Calibri" charset="0"/>
                      </a:endParaRPr>
                    </a:p>
                  </a:txBody>
                  <a:tcPr marL="73152" marR="73152" marT="27432" marB="27432"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solidFill>
                      <a:srgbClr val="ECE5F6"/>
                    </a:solidFill>
                  </a:tcPr>
                </a:tc>
              </a:tr>
              <a:tr h="457200">
                <a:tc>
                  <a:txBody>
                    <a:bodyPr/>
                    <a:lstStyle/>
                    <a:p>
                      <a:pPr algn="l" indent="0" marL="0">
                        <a:buNone/>
                      </a:pPr>
                      <a:r>
                        <a:rPr lang="en-US" sz="1400" b="1" dirty="0">
                          <a:solidFill>
                            <a:srgbClr val="1F2937"/>
                          </a:solidFill>
                          <a:latin typeface="Calibri" pitchFamily="34" charset="0"/>
                          <a:ea typeface="Calibri" pitchFamily="34" charset="-122"/>
                          <a:cs typeface="Calibri" pitchFamily="34" charset="-120"/>
                        </a:rPr>
                        <a:t>Pose + states</a:t>
                      </a:r>
                      <a:endParaRPr lang="en-US" sz="1400" dirty="0">
                        <a:latin typeface="Calibri" charset="0"/>
                        <a:ea typeface="Calibri" charset="0"/>
                        <a:cs typeface="Calibri" charset="0"/>
                      </a:endParaRPr>
                    </a:p>
                  </a:txBody>
                  <a:tcPr marL="73152" marR="73152" marT="27432" marB="27432"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tc>
                  <a:txBody>
                    <a:bodyPr/>
                    <a:lstStyle/>
                    <a:p>
                      <a:pPr algn="ctr" indent="0" marL="0">
                        <a:buNone/>
                      </a:pPr>
                      <a:endParaRPr lang="en-US" sz="1800" dirty="0">
                        <a:latin typeface="Calibri" charset="0"/>
                        <a:ea typeface="Calibri" charset="0"/>
                        <a:cs typeface="Calibri" charset="0"/>
                      </a:endParaRPr>
                    </a:p>
                  </a:txBody>
                  <a:tcPr marL="73152" marR="73152" marT="27432" marB="27432"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tc>
                  <a:txBody>
                    <a:bodyPr/>
                    <a:lstStyle/>
                    <a:p>
                      <a:pPr algn="ctr" indent="0" marL="0">
                        <a:buNone/>
                      </a:pPr>
                      <a:r>
                        <a:rPr lang="en-US" sz="1800" b="1" dirty="0">
                          <a:solidFill>
                            <a:srgbClr val="B45A1C"/>
                          </a:solidFill>
                          <a:latin typeface="Calibri" pitchFamily="34" charset="0"/>
                          <a:ea typeface="Calibri" pitchFamily="34" charset="-122"/>
                          <a:cs typeface="Calibri" pitchFamily="34" charset="-120"/>
                        </a:rPr>
                        <a:t>●</a:t>
                      </a:r>
                      <a:endParaRPr lang="en-US" sz="1800" dirty="0">
                        <a:latin typeface="Calibri" charset="0"/>
                        <a:ea typeface="Calibri" charset="0"/>
                        <a:cs typeface="Calibri" charset="0"/>
                      </a:endParaRPr>
                    </a:p>
                  </a:txBody>
                  <a:tcPr marL="73152" marR="73152" marT="27432" marB="27432"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tc>
                  <a:txBody>
                    <a:bodyPr/>
                    <a:lstStyle/>
                    <a:p>
                      <a:pPr algn="ctr" indent="0" marL="0">
                        <a:buNone/>
                      </a:pPr>
                      <a:r>
                        <a:rPr lang="en-US" sz="1800" b="1" dirty="0">
                          <a:solidFill>
                            <a:srgbClr val="8A5A2B"/>
                          </a:solidFill>
                          <a:latin typeface="Calibri" pitchFamily="34" charset="0"/>
                          <a:ea typeface="Calibri" pitchFamily="34" charset="-122"/>
                          <a:cs typeface="Calibri" pitchFamily="34" charset="-120"/>
                        </a:rPr>
                        <a:t>●</a:t>
                      </a:r>
                      <a:endParaRPr lang="en-US" sz="1800" dirty="0">
                        <a:latin typeface="Calibri" charset="0"/>
                        <a:ea typeface="Calibri" charset="0"/>
                        <a:cs typeface="Calibri" charset="0"/>
                      </a:endParaRPr>
                    </a:p>
                  </a:txBody>
                  <a:tcPr marL="73152" marR="73152" marT="27432" marB="27432"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tc>
                  <a:txBody>
                    <a:bodyPr/>
                    <a:lstStyle/>
                    <a:p>
                      <a:pPr algn="l" indent="0" marL="0">
                        <a:buNone/>
                      </a:pPr>
                      <a:r>
                        <a:rPr lang="en-US" sz="1400" dirty="0">
                          <a:solidFill>
                            <a:srgbClr val="1F2937"/>
                          </a:solidFill>
                          <a:latin typeface="Calibri" pitchFamily="34" charset="0"/>
                          <a:ea typeface="Calibri" pitchFamily="34" charset="-122"/>
                          <a:cs typeface="Calibri" pitchFamily="34" charset="-120"/>
                        </a:rPr>
                        <a:t>Behavior-only reference</a:t>
                      </a:r>
                      <a:endParaRPr lang="en-US" sz="1400" dirty="0">
                        <a:latin typeface="Calibri" charset="0"/>
                        <a:ea typeface="Calibri" charset="0"/>
                        <a:cs typeface="Calibri" charset="0"/>
                      </a:endParaRPr>
                    </a:p>
                  </a:txBody>
                  <a:tcPr marL="73152" marR="73152" marT="27432" marB="27432"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tr>
              <a:tr h="457200">
                <a:tc>
                  <a:txBody>
                    <a:bodyPr/>
                    <a:lstStyle/>
                    <a:p>
                      <a:pPr algn="l" indent="0" marL="0">
                        <a:buNone/>
                      </a:pPr>
                      <a:r>
                        <a:rPr lang="en-US" sz="1400" b="1" dirty="0">
                          <a:solidFill>
                            <a:srgbClr val="1F2937"/>
                          </a:solidFill>
                          <a:latin typeface="Calibri" pitchFamily="34" charset="0"/>
                          <a:ea typeface="Calibri" pitchFamily="34" charset="-122"/>
                          <a:cs typeface="Calibri" pitchFamily="34" charset="-120"/>
                        </a:rPr>
                        <a:t>All three</a:t>
                      </a:r>
                      <a:endParaRPr lang="en-US" sz="1400" dirty="0">
                        <a:latin typeface="Calibri" charset="0"/>
                        <a:ea typeface="Calibri" charset="0"/>
                        <a:cs typeface="Calibri" charset="0"/>
                      </a:endParaRPr>
                    </a:p>
                  </a:txBody>
                  <a:tcPr marL="73152" marR="73152" marT="27432" marB="27432"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tc>
                  <a:txBody>
                    <a:bodyPr/>
                    <a:lstStyle/>
                    <a:p>
                      <a:pPr algn="ctr" indent="0" marL="0">
                        <a:buNone/>
                      </a:pPr>
                      <a:r>
                        <a:rPr lang="en-US" sz="1800" b="1" dirty="0">
                          <a:solidFill>
                            <a:srgbClr val="1D4E89"/>
                          </a:solidFill>
                          <a:latin typeface="Calibri" pitchFamily="34" charset="0"/>
                          <a:ea typeface="Calibri" pitchFamily="34" charset="-122"/>
                          <a:cs typeface="Calibri" pitchFamily="34" charset="-120"/>
                        </a:rPr>
                        <a:t>●</a:t>
                      </a:r>
                      <a:endParaRPr lang="en-US" sz="1800" dirty="0">
                        <a:latin typeface="Calibri" charset="0"/>
                        <a:ea typeface="Calibri" charset="0"/>
                        <a:cs typeface="Calibri" charset="0"/>
                      </a:endParaRPr>
                    </a:p>
                  </a:txBody>
                  <a:tcPr marL="73152" marR="73152" marT="27432" marB="27432"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tc>
                  <a:txBody>
                    <a:bodyPr/>
                    <a:lstStyle/>
                    <a:p>
                      <a:pPr algn="ctr" indent="0" marL="0">
                        <a:buNone/>
                      </a:pPr>
                      <a:r>
                        <a:rPr lang="en-US" sz="1800" b="1" dirty="0">
                          <a:solidFill>
                            <a:srgbClr val="B45A1C"/>
                          </a:solidFill>
                          <a:latin typeface="Calibri" pitchFamily="34" charset="0"/>
                          <a:ea typeface="Calibri" pitchFamily="34" charset="-122"/>
                          <a:cs typeface="Calibri" pitchFamily="34" charset="-120"/>
                        </a:rPr>
                        <a:t>●</a:t>
                      </a:r>
                      <a:endParaRPr lang="en-US" sz="1800" dirty="0">
                        <a:latin typeface="Calibri" charset="0"/>
                        <a:ea typeface="Calibri" charset="0"/>
                        <a:cs typeface="Calibri" charset="0"/>
                      </a:endParaRPr>
                    </a:p>
                  </a:txBody>
                  <a:tcPr marL="73152" marR="73152" marT="27432" marB="27432"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tc>
                  <a:txBody>
                    <a:bodyPr/>
                    <a:lstStyle/>
                    <a:p>
                      <a:pPr algn="ctr" indent="0" marL="0">
                        <a:buNone/>
                      </a:pPr>
                      <a:r>
                        <a:rPr lang="en-US" sz="1800" b="1" dirty="0">
                          <a:solidFill>
                            <a:srgbClr val="8A5A2B"/>
                          </a:solidFill>
                          <a:latin typeface="Calibri" pitchFamily="34" charset="0"/>
                          <a:ea typeface="Calibri" pitchFamily="34" charset="-122"/>
                          <a:cs typeface="Calibri" pitchFamily="34" charset="-120"/>
                        </a:rPr>
                        <a:t>●</a:t>
                      </a:r>
                      <a:endParaRPr lang="en-US" sz="1800" dirty="0">
                        <a:latin typeface="Calibri" charset="0"/>
                        <a:ea typeface="Calibri" charset="0"/>
                        <a:cs typeface="Calibri" charset="0"/>
                      </a:endParaRPr>
                    </a:p>
                  </a:txBody>
                  <a:tcPr marL="73152" marR="73152" marT="27432" marB="27432"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tc>
                  <a:txBody>
                    <a:bodyPr/>
                    <a:lstStyle/>
                    <a:p>
                      <a:pPr algn="l" indent="0" marL="0">
                        <a:buNone/>
                      </a:pPr>
                      <a:r>
                        <a:rPr lang="en-US" sz="1400" dirty="0">
                          <a:solidFill>
                            <a:srgbClr val="1F2937"/>
                          </a:solidFill>
                          <a:latin typeface="Calibri" pitchFamily="34" charset="0"/>
                          <a:ea typeface="Calibri" pitchFamily="34" charset="-122"/>
                          <a:cs typeface="Calibri" pitchFamily="34" charset="-120"/>
                        </a:rPr>
                        <a:t>Maximum multimodal information</a:t>
                      </a:r>
                      <a:endParaRPr lang="en-US" sz="1400" dirty="0">
                        <a:latin typeface="Calibri" charset="0"/>
                        <a:ea typeface="Calibri" charset="0"/>
                        <a:cs typeface="Calibri" charset="0"/>
                      </a:endParaRPr>
                    </a:p>
                  </a:txBody>
                  <a:tcPr marL="73152" marR="73152" marT="27432" marB="27432"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tr>
            </a:tbl>
          </a:graphicData>
        </a:graphic>
      </p:graphicFrame>
      <p:sp>
        <p:nvSpPr>
          <p:cNvPr id="5" name="Text 2"/>
          <p:cNvSpPr txBox="1"/>
          <p:nvPr/>
        </p:nvSpPr>
        <p:spPr>
          <a:xfrm>
            <a:off x="457200" y="5166360"/>
            <a:ext cx="6766560" cy="320040"/>
          </a:xfrm>
          <a:prstGeom prst="rect">
            <a:avLst/>
          </a:prstGeom>
          <a:noFill/>
          <a:ln/>
        </p:spPr>
        <p:txBody>
          <a:bodyPr wrap="square" lIns="0" tIns="0" rIns="0" bIns="0" rtlCol="0" anchor="t"/>
          <a:lstStyle/>
          <a:p>
            <a:pPr indent="0" marL="0">
              <a:buNone/>
            </a:pPr>
            <a:r>
              <a:rPr lang="en-US" sz="1300" i="1" dirty="0">
                <a:solidFill>
                  <a:srgbClr val="6B4FA0"/>
                </a:solidFill>
                <a:latin typeface="Calibri" pitchFamily="34" charset="0"/>
                <a:ea typeface="Calibri" pitchFamily="34" charset="-122"/>
                <a:cs typeface="Calibri" pitchFamily="34" charset="-120"/>
              </a:rPr>
              <a:t>Highlighted rows give the key comparison →</a:t>
            </a:r>
            <a:endParaRPr lang="en-US" sz="1300" dirty="0"/>
          </a:p>
        </p:txBody>
      </p:sp>
      <p:sp>
        <p:nvSpPr>
          <p:cNvPr id="6" name="Shape 3"/>
          <p:cNvSpPr/>
          <p:nvPr/>
        </p:nvSpPr>
        <p:spPr>
          <a:xfrm>
            <a:off x="7543800" y="1463040"/>
            <a:ext cx="4206240" cy="1783080"/>
          </a:xfrm>
          <a:prstGeom prst="roundRect">
            <a:avLst>
              <a:gd name="adj" fmla="val 3590"/>
            </a:avLst>
          </a:prstGeom>
          <a:solidFill>
            <a:srgbClr val="ECE5F6"/>
          </a:solidFill>
          <a:ln w="19050">
            <a:solidFill>
              <a:srgbClr val="6B4FA0"/>
            </a:solidFill>
            <a:prstDash val="solid"/>
          </a:ln>
        </p:spPr>
      </p:sp>
      <p:sp>
        <p:nvSpPr>
          <p:cNvPr id="7" name="Text 4"/>
          <p:cNvSpPr txBox="1"/>
          <p:nvPr/>
        </p:nvSpPr>
        <p:spPr>
          <a:xfrm>
            <a:off x="7726680" y="1554480"/>
            <a:ext cx="3886200" cy="2011680"/>
          </a:xfrm>
          <a:prstGeom prst="rect">
            <a:avLst/>
          </a:prstGeom>
          <a:noFill/>
          <a:ln/>
        </p:spPr>
        <p:txBody>
          <a:bodyPr wrap="square" lIns="0" tIns="0" rIns="0" bIns="0" rtlCol="0" anchor="t"/>
          <a:lstStyle/>
          <a:p>
            <a:pPr indent="0" marL="0">
              <a:buNone/>
            </a:pPr>
            <a:r>
              <a:rPr lang="en-US" sz="1800" b="1" dirty="0">
                <a:solidFill>
                  <a:srgbClr val="6B4FA0"/>
                </a:solidFill>
                <a:latin typeface="Calibri" pitchFamily="34" charset="0"/>
                <a:ea typeface="Calibri" pitchFamily="34" charset="-122"/>
                <a:cs typeface="Calibri" pitchFamily="34" charset="-120"/>
              </a:rPr>
              <a:t>Δ respiration contribution</a:t>
            </a:r>
            <a:endParaRPr lang="en-US" sz="1500" dirty="0"/>
          </a:p>
          <a:p>
            <a:pPr indent="0" marL="0">
              <a:buNone/>
            </a:pPr>
            <a:r>
              <a:rPr lang="en-US" sz="1600" dirty="0">
                <a:solidFill>
                  <a:srgbClr val="1F2937"/>
                </a:solidFill>
                <a:latin typeface="Calibri" pitchFamily="34" charset="0"/>
                <a:ea typeface="Calibri" pitchFamily="34" charset="-122"/>
                <a:cs typeface="Calibri" pitchFamily="34" charset="-120"/>
              </a:rPr>
              <a:t>= Performance(Respiration + Behavior)</a:t>
            </a:r>
            <a:endParaRPr lang="en-US" sz="1500" dirty="0"/>
          </a:p>
          <a:p>
            <a:pPr indent="0" marL="0">
              <a:buNone/>
            </a:pPr>
            <a:r>
              <a:rPr lang="en-US" sz="1600" dirty="0">
                <a:solidFill>
                  <a:srgbClr val="1F2937"/>
                </a:solidFill>
                <a:latin typeface="Calibri" pitchFamily="34" charset="0"/>
                <a:ea typeface="Calibri" pitchFamily="34" charset="-122"/>
                <a:cs typeface="Calibri" pitchFamily="34" charset="-120"/>
              </a:rPr>
              <a:t>   − Performance(Behavior alone)</a:t>
            </a:r>
            <a:endParaRPr lang="en-US" sz="1500" dirty="0"/>
          </a:p>
          <a:p>
            <a:pPr indent="0" marL="0">
              <a:buNone/>
            </a:pPr>
            <a:r>
              <a:rPr lang="en-US" sz="1300" dirty="0">
                <a:solidFill>
                  <a:srgbClr val="4B5563"/>
                </a:solidFill>
                <a:latin typeface="Calibri" pitchFamily="34" charset="0"/>
                <a:ea typeface="Calibri" pitchFamily="34" charset="-122"/>
                <a:cs typeface="Calibri" pitchFamily="34" charset="-120"/>
              </a:rPr>
              <a:t>More informative than asking whether the full model predicts rank or valence: it isolates what respiration adds.</a:t>
            </a:r>
            <a:endParaRPr lang="en-US" sz="1500" dirty="0"/>
          </a:p>
        </p:txBody>
      </p:sp>
      <p:sp>
        <p:nvSpPr>
          <p:cNvPr id="8" name="Text 5"/>
          <p:cNvSpPr txBox="1"/>
          <p:nvPr/>
        </p:nvSpPr>
        <p:spPr>
          <a:xfrm>
            <a:off x="7543800" y="3474720"/>
            <a:ext cx="4206240" cy="320040"/>
          </a:xfrm>
          <a:prstGeom prst="rect">
            <a:avLst/>
          </a:prstGeom>
          <a:noFill/>
          <a:ln/>
        </p:spPr>
        <p:txBody>
          <a:bodyPr wrap="square" lIns="0" tIns="0" rIns="0" bIns="0" rtlCol="0" anchor="t"/>
          <a:lstStyle/>
          <a:p>
            <a:pPr indent="0" marL="0">
              <a:buNone/>
            </a:pPr>
            <a:r>
              <a:rPr lang="en-US" sz="1500" b="1" dirty="0">
                <a:solidFill>
                  <a:srgbClr val="4B5563"/>
                </a:solidFill>
                <a:latin typeface="Calibri" pitchFamily="34" charset="0"/>
                <a:ea typeface="Calibri" pitchFamily="34" charset="-122"/>
                <a:cs typeface="Calibri" pitchFamily="34" charset="-120"/>
              </a:rPr>
              <a:t>Biological targets (tested separately)</a:t>
            </a:r>
            <a:endParaRPr lang="en-US" sz="1500" dirty="0"/>
          </a:p>
        </p:txBody>
      </p:sp>
      <p:graphicFrame>
        <p:nvGraphicFramePr>
          <p:cNvPr id="23" name="Table 1"/>
          <p:cNvGraphicFramePr>
            <a:graphicFrameLocks noGrp="1"/>
          </p:cNvGraphicFramePr>
          <p:nvPr>
            <p:extLst>
              <p:ext uri="{D42A27DB-BD31-4B8C-83A1-F6EECF244321}">
                <p14:modId xmlns:p14="http://schemas.microsoft.com/office/powerpoint/2010/main" val="1579011935"/>
              </p:ext>
            </p:extLst>
          </p:nvPr>
        </p:nvGraphicFramePr>
        <p:xfrm>
          <a:off x="7543800" y="3840480"/>
          <a:ext cx="4206240" cy="914400"/>
        </p:xfrm>
        <a:graphic>
          <a:graphicData uri="http://schemas.openxmlformats.org/drawingml/2006/table">
            <a:tbl>
              <a:tblPr/>
              <a:tblGrid>
                <a:gridCol w="1051560"/>
                <a:gridCol w="3154680"/>
              </a:tblGrid>
              <a:tr h="384048">
                <a:tc>
                  <a:txBody>
                    <a:bodyPr/>
                    <a:lstStyle/>
                    <a:p>
                      <a:pPr indent="0" marL="0">
                        <a:buNone/>
                      </a:pPr>
                      <a:r>
                        <a:rPr lang="en-US" sz="1300" b="1" dirty="0">
                          <a:solidFill>
                            <a:srgbClr val="1F2937"/>
                          </a:solidFill>
                          <a:latin typeface="Calibri" pitchFamily="34" charset="0"/>
                          <a:ea typeface="Calibri" pitchFamily="34" charset="-122"/>
                          <a:cs typeface="Calibri" pitchFamily="34" charset="-120"/>
                        </a:rPr>
                        <a:t>Rank</a:t>
                      </a:r>
                      <a:endParaRPr lang="en-US" sz="1300" dirty="0">
                        <a:latin typeface="Calibri" charset="0"/>
                        <a:ea typeface="Calibri" charset="0"/>
                        <a:cs typeface="Calibri" charset="0"/>
                      </a:endParaRPr>
                    </a:p>
                  </a:txBody>
                  <a:tcPr marL="73152" marR="73152" marT="27432" marB="27432"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solidFill>
                      <a:srgbClr val="EEF0F3"/>
                    </a:solidFill>
                  </a:tcPr>
                </a:tc>
                <a:tc>
                  <a:txBody>
                    <a:bodyPr/>
                    <a:lstStyle/>
                    <a:p>
                      <a:pPr indent="0" marL="0">
                        <a:buNone/>
                      </a:pPr>
                      <a:r>
                        <a:rPr lang="en-US" sz="1300" dirty="0">
                          <a:solidFill>
                            <a:srgbClr val="1F2937"/>
                          </a:solidFill>
                          <a:latin typeface="Calibri" pitchFamily="34" charset="0"/>
                          <a:ea typeface="Calibri" pitchFamily="34" charset="-122"/>
                          <a:cs typeface="Calibri" pitchFamily="34" charset="-120"/>
                        </a:rPr>
                        <a:t>Dominant vs subordinate (per animal)</a:t>
                      </a:r>
                      <a:endParaRPr lang="en-US" sz="1300" dirty="0">
                        <a:latin typeface="Calibri" charset="0"/>
                        <a:ea typeface="Calibri" charset="0"/>
                        <a:cs typeface="Calibri" charset="0"/>
                      </a:endParaRPr>
                    </a:p>
                  </a:txBody>
                  <a:tcPr marL="73152" marR="73152" marT="27432" marB="27432"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solidFill>
                      <a:srgbClr val="EEF0F3"/>
                    </a:solidFill>
                  </a:tcPr>
                </a:tc>
              </a:tr>
              <a:tr h="384048">
                <a:tc>
                  <a:txBody>
                    <a:bodyPr/>
                    <a:lstStyle/>
                    <a:p>
                      <a:pPr indent="0" marL="0">
                        <a:buNone/>
                      </a:pPr>
                      <a:r>
                        <a:rPr lang="en-US" sz="1300" b="1" dirty="0">
                          <a:solidFill>
                            <a:srgbClr val="1F2937"/>
                          </a:solidFill>
                          <a:latin typeface="Calibri" pitchFamily="34" charset="0"/>
                          <a:ea typeface="Calibri" pitchFamily="34" charset="-122"/>
                          <a:cs typeface="Calibri" pitchFamily="34" charset="-120"/>
                        </a:rPr>
                        <a:t>Valence</a:t>
                      </a:r>
                      <a:endParaRPr lang="en-US" sz="1300" dirty="0">
                        <a:latin typeface="Calibri" charset="0"/>
                        <a:ea typeface="Calibri" charset="0"/>
                        <a:cs typeface="Calibri" charset="0"/>
                      </a:endParaRPr>
                    </a:p>
                  </a:txBody>
                  <a:tcPr marL="73152" marR="73152" marT="27432" marB="27432"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solidFill>
                      <a:srgbClr val="EEF0F3"/>
                    </a:solidFill>
                  </a:tcPr>
                </a:tc>
                <a:tc>
                  <a:txBody>
                    <a:bodyPr/>
                    <a:lstStyle/>
                    <a:p>
                      <a:pPr indent="0" marL="0">
                        <a:buNone/>
                      </a:pPr>
                      <a:r>
                        <a:rPr lang="en-US" sz="1300" dirty="0">
                          <a:solidFill>
                            <a:srgbClr val="1F2937"/>
                          </a:solidFill>
                          <a:latin typeface="Calibri" pitchFamily="34" charset="0"/>
                          <a:ea typeface="Calibri" pitchFamily="34" charset="-122"/>
                          <a:cs typeface="Calibri" pitchFamily="34" charset="-120"/>
                        </a:rPr>
                        <a:t>Positive vs negative (separate experiment)</a:t>
                      </a:r>
                      <a:endParaRPr lang="en-US" sz="1300" dirty="0">
                        <a:latin typeface="Calibri" charset="0"/>
                        <a:ea typeface="Calibri" charset="0"/>
                        <a:cs typeface="Calibri" charset="0"/>
                      </a:endParaRPr>
                    </a:p>
                  </a:txBody>
                  <a:tcPr marL="73152" marR="73152" marT="27432" marB="27432"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solidFill>
                      <a:srgbClr val="EEF0F3"/>
                    </a:solidFill>
                  </a:tcPr>
                </a:tc>
              </a:tr>
              <a:tr h="384048">
                <a:tc>
                  <a:txBody>
                    <a:bodyPr/>
                    <a:lstStyle/>
                    <a:p>
                      <a:pPr indent="0" marL="0">
                        <a:buNone/>
                      </a:pPr>
                      <a:r>
                        <a:rPr lang="en-US" sz="1300" b="1" dirty="0">
                          <a:solidFill>
                            <a:srgbClr val="1F2937"/>
                          </a:solidFill>
                          <a:latin typeface="Calibri" pitchFamily="34" charset="0"/>
                          <a:ea typeface="Calibri" pitchFamily="34" charset="-122"/>
                          <a:cs typeface="Calibri" pitchFamily="34" charset="-120"/>
                        </a:rPr>
                        <a:t>Cagemate</a:t>
                      </a:r>
                      <a:endParaRPr lang="en-US" sz="1300" dirty="0">
                        <a:latin typeface="Calibri" charset="0"/>
                        <a:ea typeface="Calibri" charset="0"/>
                        <a:cs typeface="Calibri" charset="0"/>
                      </a:endParaRPr>
                    </a:p>
                  </a:txBody>
                  <a:tcPr marL="73152" marR="73152" marT="27432" marB="27432"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solidFill>
                      <a:srgbClr val="EEF0F3"/>
                    </a:solidFill>
                  </a:tcPr>
                </a:tc>
                <a:tc>
                  <a:txBody>
                    <a:bodyPr/>
                    <a:lstStyle/>
                    <a:p>
                      <a:pPr indent="0" marL="0">
                        <a:buNone/>
                      </a:pPr>
                      <a:r>
                        <a:rPr lang="en-US" sz="1300" dirty="0">
                          <a:solidFill>
                            <a:srgbClr val="1F2937"/>
                          </a:solidFill>
                          <a:latin typeface="Calibri" pitchFamily="34" charset="0"/>
                          <a:ea typeface="Calibri" pitchFamily="34" charset="-122"/>
                          <a:cs typeface="Calibri" pitchFamily="34" charset="-120"/>
                        </a:rPr>
                        <a:t>Separate experiment / shared-behavior dataset</a:t>
                      </a:r>
                      <a:endParaRPr lang="en-US" sz="1300" dirty="0">
                        <a:latin typeface="Calibri" charset="0"/>
                        <a:ea typeface="Calibri" charset="0"/>
                        <a:cs typeface="Calibri" charset="0"/>
                      </a:endParaRPr>
                    </a:p>
                  </a:txBody>
                  <a:tcPr marL="73152" marR="73152" marT="27432" marB="27432"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solidFill>
                      <a:srgbClr val="EEF0F3"/>
                    </a:solidFill>
                  </a:tcPr>
                </a:tc>
              </a:tr>
            </a:tbl>
          </a:graphicData>
        </a:graphic>
      </p:graphicFrame>
      <p:sp>
        <p:nvSpPr>
          <p:cNvPr id="10" name="Shape 6"/>
          <p:cNvSpPr/>
          <p:nvPr/>
        </p:nvSpPr>
        <p:spPr>
          <a:xfrm>
            <a:off x="457200" y="5532120"/>
            <a:ext cx="11292840" cy="896112"/>
          </a:xfrm>
          <a:prstGeom prst="roundRect">
            <a:avLst>
              <a:gd name="adj" fmla="val 7143"/>
            </a:avLst>
          </a:prstGeom>
          <a:solidFill>
            <a:srgbClr val="FEF3C7"/>
          </a:solidFill>
          <a:ln w="15875">
            <a:solidFill>
              <a:srgbClr val="B45309"/>
            </a:solidFill>
            <a:prstDash val="dash"/>
          </a:ln>
        </p:spPr>
      </p:sp>
      <p:sp>
        <p:nvSpPr>
          <p:cNvPr id="11" name="Shape 7"/>
          <p:cNvSpPr/>
          <p:nvPr/>
        </p:nvSpPr>
        <p:spPr>
          <a:xfrm>
            <a:off x="594360" y="5623560"/>
            <a:ext cx="868680" cy="274320"/>
          </a:xfrm>
          <a:prstGeom prst="roundRect">
            <a:avLst>
              <a:gd name="adj" fmla="val 23333"/>
            </a:avLst>
          </a:prstGeom>
          <a:solidFill>
            <a:srgbClr val="FFFFFF"/>
          </a:solidFill>
          <a:ln w="12700">
            <a:solidFill>
              <a:srgbClr val="B45309"/>
            </a:solidFill>
            <a:prstDash val="solid"/>
          </a:ln>
        </p:spPr>
      </p:sp>
      <p:sp>
        <p:nvSpPr>
          <p:cNvPr id="12" name="Text 8"/>
          <p:cNvSpPr txBox="1"/>
          <p:nvPr/>
        </p:nvSpPr>
        <p:spPr>
          <a:xfrm>
            <a:off x="594360" y="5623560"/>
            <a:ext cx="868680" cy="274320"/>
          </a:xfrm>
          <a:prstGeom prst="rect">
            <a:avLst/>
          </a:prstGeom>
          <a:noFill/>
          <a:ln/>
        </p:spPr>
        <p:txBody>
          <a:bodyPr wrap="square" lIns="0" tIns="0" rIns="0" bIns="0" rtlCol="0" anchor="ctr"/>
          <a:lstStyle/>
          <a:p>
            <a:pPr algn="ctr" indent="0" marL="0">
              <a:buNone/>
            </a:pPr>
            <a:r>
              <a:rPr lang="en-US" sz="1100" b="1" dirty="0">
                <a:solidFill>
                  <a:srgbClr val="B45309"/>
                </a:solidFill>
                <a:latin typeface="Calibri" pitchFamily="34" charset="0"/>
                <a:ea typeface="Calibri" pitchFamily="34" charset="-122"/>
                <a:cs typeface="Calibri" pitchFamily="34" charset="-120"/>
              </a:rPr>
              <a:t>OPEN</a:t>
            </a:r>
            <a:endParaRPr lang="en-US" sz="1100" dirty="0"/>
          </a:p>
        </p:txBody>
      </p:sp>
      <p:sp>
        <p:nvSpPr>
          <p:cNvPr id="13" name="Text 9"/>
          <p:cNvSpPr txBox="1"/>
          <p:nvPr/>
        </p:nvSpPr>
        <p:spPr>
          <a:xfrm>
            <a:off x="1600200" y="5577840"/>
            <a:ext cx="10058400" cy="914400"/>
          </a:xfrm>
          <a:prstGeom prst="rect">
            <a:avLst/>
          </a:prstGeom>
          <a:noFill/>
          <a:ln/>
        </p:spPr>
        <p:txBody>
          <a:bodyPr wrap="square" lIns="0" tIns="0" rIns="0" bIns="0" rtlCol="0" anchor="t"/>
          <a:lstStyle/>
          <a:p>
            <a:pPr indent="0" marL="0">
              <a:buNone/>
            </a:pPr>
            <a:r>
              <a:rPr lang="en-US" sz="1300" b="1" dirty="0">
                <a:solidFill>
                  <a:srgbClr val="1F2937"/>
                </a:solidFill>
                <a:latin typeface="Calibri" pitchFamily="34" charset="0"/>
                <a:ea typeface="Calibri" pitchFamily="34" charset="-122"/>
                <a:cs typeface="Calibri" pitchFamily="34" charset="-120"/>
              </a:rPr>
              <a:t>Behavioral states are not yet labeled continuously. </a:t>
            </a:r>
            <a:pPr indent="0" marL="0">
              <a:buNone/>
            </a:pPr>
            <a:r>
              <a:rPr lang="en-US" sz="1300" dirty="0">
                <a:solidFill>
                  <a:srgbClr val="1F2937"/>
                </a:solidFill>
                <a:latin typeface="Calibri" pitchFamily="34" charset="0"/>
                <a:ea typeface="Calibri" pitchFamily="34" charset="-122"/>
                <a:cs typeface="Calibri" pitchFamily="34" charset="-120"/>
              </a:rPr>
              <a:t>BORIS marks social events (sniffing types, digging, self-grooming), not continuous states like approach or locomotion. We may hand-label a subset and/or try HMM / clustering to find candidate states, then check them against human labels; these methods are not guaranteed to recover meaningful states.</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11274552" cy="685800"/>
          </a:xfrm>
          <a:prstGeom prst="rect">
            <a:avLst/>
          </a:prstGeom>
          <a:noFill/>
          <a:ln/>
        </p:spPr>
        <p:txBody>
          <a:bodyPr wrap="square" lIns="0" tIns="0" rIns="0" bIns="0" rtlCol="0" anchor="ctr"/>
          <a:lstStyle/>
          <a:p>
            <a:pPr indent="0" marL="0">
              <a:buNone/>
            </a:pPr>
            <a:r>
              <a:rPr lang="en-US" sz="3200" b="1" dirty="0">
                <a:solidFill>
                  <a:srgbClr val="1F2937"/>
                </a:solidFill>
                <a:latin typeface="Calibri" pitchFamily="34" charset="0"/>
                <a:ea typeface="Calibri" pitchFamily="34" charset="-122"/>
                <a:cs typeface="Calibri" pitchFamily="34" charset="-120"/>
              </a:rPr>
              <a:t>From continuous recording to session-level prediction</a:t>
            </a:r>
            <a:endParaRPr lang="en-US" sz="3200" dirty="0"/>
          </a:p>
        </p:txBody>
      </p:sp>
      <p:sp>
        <p:nvSpPr>
          <p:cNvPr id="3" name="Text 1"/>
          <p:cNvSpPr txBox="1"/>
          <p:nvPr/>
        </p:nvSpPr>
        <p:spPr>
          <a:xfrm>
            <a:off x="457200" y="914400"/>
            <a:ext cx="11274552" cy="384048"/>
          </a:xfrm>
          <a:prstGeom prst="rect">
            <a:avLst/>
          </a:prstGeom>
          <a:noFill/>
          <a:ln/>
        </p:spPr>
        <p:txBody>
          <a:bodyPr wrap="square" lIns="0" tIns="0" rIns="0" bIns="0" rtlCol="0" anchor="ctr"/>
          <a:lstStyle/>
          <a:p>
            <a:pPr indent="0" marL="0">
              <a:buNone/>
            </a:pPr>
            <a:r>
              <a:rPr lang="en-US" sz="1700" dirty="0">
                <a:solidFill>
                  <a:srgbClr val="4B5563"/>
                </a:solidFill>
                <a:latin typeface="Calibri" pitchFamily="34" charset="0"/>
                <a:ea typeface="Calibri" pitchFamily="34" charset="-122"/>
                <a:cs typeface="Calibri" pitchFamily="34" charset="-120"/>
              </a:rPr>
              <a:t>Proposed training plan · window lengths and state labels still open</a:t>
            </a:r>
            <a:endParaRPr lang="en-US" sz="1700" dirty="0"/>
          </a:p>
        </p:txBody>
      </p:sp>
      <p:sp>
        <p:nvSpPr>
          <p:cNvPr id="4" name="Shape 2"/>
          <p:cNvSpPr/>
          <p:nvPr/>
        </p:nvSpPr>
        <p:spPr>
          <a:xfrm>
            <a:off x="457200" y="1463040"/>
            <a:ext cx="2103120" cy="502920"/>
          </a:xfrm>
          <a:prstGeom prst="rect">
            <a:avLst/>
          </a:prstGeom>
          <a:solidFill>
            <a:srgbClr val="E5E7EB"/>
          </a:solidFill>
          <a:ln w="25400">
            <a:solidFill>
              <a:srgbClr val="FFFFFF"/>
            </a:solidFill>
            <a:prstDash val="solid"/>
          </a:ln>
        </p:spPr>
      </p:sp>
      <p:sp>
        <p:nvSpPr>
          <p:cNvPr id="5" name="Text 3"/>
          <p:cNvSpPr txBox="1"/>
          <p:nvPr/>
        </p:nvSpPr>
        <p:spPr>
          <a:xfrm>
            <a:off x="457200" y="1463040"/>
            <a:ext cx="2103120" cy="502920"/>
          </a:xfrm>
          <a:prstGeom prst="rect">
            <a:avLst/>
          </a:prstGeom>
          <a:noFill/>
          <a:ln/>
        </p:spPr>
        <p:txBody>
          <a:bodyPr wrap="square" lIns="0" tIns="0" rIns="0" bIns="0" rtlCol="0" anchor="ctr"/>
          <a:lstStyle/>
          <a:p>
            <a:pPr algn="ctr" indent="0" marL="0">
              <a:buNone/>
            </a:pPr>
            <a:r>
              <a:rPr lang="en-US" sz="1400" b="1" dirty="0">
                <a:solidFill>
                  <a:srgbClr val="1F2937"/>
                </a:solidFill>
                <a:latin typeface="Calibri" pitchFamily="34" charset="0"/>
                <a:ea typeface="Calibri" pitchFamily="34" charset="-122"/>
                <a:cs typeface="Calibri" pitchFamily="34" charset="-120"/>
              </a:rPr>
              <a:t>Rest / exploration</a:t>
            </a:r>
            <a:endParaRPr lang="en-US" sz="1400" dirty="0"/>
          </a:p>
        </p:txBody>
      </p:sp>
      <p:sp>
        <p:nvSpPr>
          <p:cNvPr id="6" name="Shape 4"/>
          <p:cNvSpPr/>
          <p:nvPr/>
        </p:nvSpPr>
        <p:spPr>
          <a:xfrm>
            <a:off x="2560320" y="1463040"/>
            <a:ext cx="1463040" cy="502920"/>
          </a:xfrm>
          <a:prstGeom prst="rect">
            <a:avLst/>
          </a:prstGeom>
          <a:solidFill>
            <a:srgbClr val="FBE6D6"/>
          </a:solidFill>
          <a:ln w="25400">
            <a:solidFill>
              <a:srgbClr val="FFFFFF"/>
            </a:solidFill>
            <a:prstDash val="solid"/>
          </a:ln>
        </p:spPr>
      </p:sp>
      <p:sp>
        <p:nvSpPr>
          <p:cNvPr id="7" name="Text 5"/>
          <p:cNvSpPr txBox="1"/>
          <p:nvPr/>
        </p:nvSpPr>
        <p:spPr>
          <a:xfrm>
            <a:off x="2560320" y="1463040"/>
            <a:ext cx="1463040" cy="502920"/>
          </a:xfrm>
          <a:prstGeom prst="rect">
            <a:avLst/>
          </a:prstGeom>
          <a:noFill/>
          <a:ln/>
        </p:spPr>
        <p:txBody>
          <a:bodyPr wrap="square" lIns="0" tIns="0" rIns="0" bIns="0" rtlCol="0" anchor="ctr"/>
          <a:lstStyle/>
          <a:p>
            <a:pPr algn="ctr" indent="0" marL="0">
              <a:buNone/>
            </a:pPr>
            <a:r>
              <a:rPr lang="en-US" sz="1400" b="1" dirty="0">
                <a:solidFill>
                  <a:srgbClr val="1F2937"/>
                </a:solidFill>
                <a:latin typeface="Calibri" pitchFamily="34" charset="0"/>
                <a:ea typeface="Calibri" pitchFamily="34" charset="-122"/>
                <a:cs typeface="Calibri" pitchFamily="34" charset="-120"/>
              </a:rPr>
              <a:t>Approach</a:t>
            </a:r>
            <a:endParaRPr lang="en-US" sz="1400" dirty="0"/>
          </a:p>
        </p:txBody>
      </p:sp>
      <p:sp>
        <p:nvSpPr>
          <p:cNvPr id="8" name="Shape 6"/>
          <p:cNvSpPr/>
          <p:nvPr/>
        </p:nvSpPr>
        <p:spPr>
          <a:xfrm>
            <a:off x="4023360" y="1463040"/>
            <a:ext cx="2377440" cy="502920"/>
          </a:xfrm>
          <a:prstGeom prst="rect">
            <a:avLst/>
          </a:prstGeom>
          <a:solidFill>
            <a:srgbClr val="ECE5F6"/>
          </a:solidFill>
          <a:ln w="25400">
            <a:solidFill>
              <a:srgbClr val="FFFFFF"/>
            </a:solidFill>
            <a:prstDash val="solid"/>
          </a:ln>
        </p:spPr>
      </p:sp>
      <p:sp>
        <p:nvSpPr>
          <p:cNvPr id="9" name="Text 7"/>
          <p:cNvSpPr txBox="1"/>
          <p:nvPr/>
        </p:nvSpPr>
        <p:spPr>
          <a:xfrm>
            <a:off x="4023360" y="1463040"/>
            <a:ext cx="2377440" cy="502920"/>
          </a:xfrm>
          <a:prstGeom prst="rect">
            <a:avLst/>
          </a:prstGeom>
          <a:noFill/>
          <a:ln/>
        </p:spPr>
        <p:txBody>
          <a:bodyPr wrap="square" lIns="0" tIns="0" rIns="0" bIns="0" rtlCol="0" anchor="ctr"/>
          <a:lstStyle/>
          <a:p>
            <a:pPr algn="ctr" indent="0" marL="0">
              <a:buNone/>
            </a:pPr>
            <a:r>
              <a:rPr lang="en-US" sz="1400" b="1" dirty="0">
                <a:solidFill>
                  <a:srgbClr val="1F2937"/>
                </a:solidFill>
                <a:latin typeface="Calibri" pitchFamily="34" charset="0"/>
                <a:ea typeface="Calibri" pitchFamily="34" charset="-122"/>
                <a:cs typeface="Calibri" pitchFamily="34" charset="-120"/>
              </a:rPr>
              <a:t>Social interaction</a:t>
            </a:r>
            <a:endParaRPr lang="en-US" sz="1400" dirty="0"/>
          </a:p>
        </p:txBody>
      </p:sp>
      <p:sp>
        <p:nvSpPr>
          <p:cNvPr id="10" name="Shape 8"/>
          <p:cNvSpPr/>
          <p:nvPr/>
        </p:nvSpPr>
        <p:spPr>
          <a:xfrm>
            <a:off x="6400800" y="1463040"/>
            <a:ext cx="1463040" cy="502920"/>
          </a:xfrm>
          <a:prstGeom prst="rect">
            <a:avLst/>
          </a:prstGeom>
          <a:solidFill>
            <a:srgbClr val="FBE6D6"/>
          </a:solidFill>
          <a:ln w="25400">
            <a:solidFill>
              <a:srgbClr val="FFFFFF"/>
            </a:solidFill>
            <a:prstDash val="solid"/>
          </a:ln>
        </p:spPr>
      </p:sp>
      <p:sp>
        <p:nvSpPr>
          <p:cNvPr id="11" name="Text 9"/>
          <p:cNvSpPr txBox="1"/>
          <p:nvPr/>
        </p:nvSpPr>
        <p:spPr>
          <a:xfrm>
            <a:off x="6400800" y="1463040"/>
            <a:ext cx="1463040" cy="502920"/>
          </a:xfrm>
          <a:prstGeom prst="rect">
            <a:avLst/>
          </a:prstGeom>
          <a:noFill/>
          <a:ln/>
        </p:spPr>
        <p:txBody>
          <a:bodyPr wrap="square" lIns="0" tIns="0" rIns="0" bIns="0" rtlCol="0" anchor="ctr"/>
          <a:lstStyle/>
          <a:p>
            <a:pPr algn="ctr" indent="0" marL="0">
              <a:buNone/>
            </a:pPr>
            <a:r>
              <a:rPr lang="en-US" sz="1400" b="1" dirty="0">
                <a:solidFill>
                  <a:srgbClr val="1F2937"/>
                </a:solidFill>
                <a:latin typeface="Calibri" pitchFamily="34" charset="0"/>
                <a:ea typeface="Calibri" pitchFamily="34" charset="-122"/>
                <a:cs typeface="Calibri" pitchFamily="34" charset="-120"/>
              </a:rPr>
              <a:t>Withdrawal</a:t>
            </a:r>
            <a:endParaRPr lang="en-US" sz="1400" dirty="0"/>
          </a:p>
        </p:txBody>
      </p:sp>
      <p:sp>
        <p:nvSpPr>
          <p:cNvPr id="12" name="Shape 10"/>
          <p:cNvSpPr/>
          <p:nvPr/>
        </p:nvSpPr>
        <p:spPr>
          <a:xfrm>
            <a:off x="7863840" y="1463040"/>
            <a:ext cx="2377440" cy="502920"/>
          </a:xfrm>
          <a:prstGeom prst="rect">
            <a:avLst/>
          </a:prstGeom>
          <a:solidFill>
            <a:srgbClr val="E5E7EB"/>
          </a:solidFill>
          <a:ln w="25400">
            <a:solidFill>
              <a:srgbClr val="FFFFFF"/>
            </a:solidFill>
            <a:prstDash val="solid"/>
          </a:ln>
        </p:spPr>
      </p:sp>
      <p:sp>
        <p:nvSpPr>
          <p:cNvPr id="13" name="Text 11"/>
          <p:cNvSpPr txBox="1"/>
          <p:nvPr/>
        </p:nvSpPr>
        <p:spPr>
          <a:xfrm>
            <a:off x="7863840" y="1463040"/>
            <a:ext cx="2377440" cy="502920"/>
          </a:xfrm>
          <a:prstGeom prst="rect">
            <a:avLst/>
          </a:prstGeom>
          <a:noFill/>
          <a:ln/>
        </p:spPr>
        <p:txBody>
          <a:bodyPr wrap="square" lIns="0" tIns="0" rIns="0" bIns="0" rtlCol="0" anchor="ctr"/>
          <a:lstStyle/>
          <a:p>
            <a:pPr algn="ctr" indent="0" marL="0">
              <a:buNone/>
            </a:pPr>
            <a:r>
              <a:rPr lang="en-US" sz="1400" b="1" dirty="0">
                <a:solidFill>
                  <a:srgbClr val="1F2937"/>
                </a:solidFill>
                <a:latin typeface="Calibri" pitchFamily="34" charset="0"/>
                <a:ea typeface="Calibri" pitchFamily="34" charset="-122"/>
                <a:cs typeface="Calibri" pitchFamily="34" charset="-120"/>
              </a:rPr>
              <a:t>Non-social period</a:t>
            </a:r>
            <a:endParaRPr lang="en-US" sz="1400" dirty="0"/>
          </a:p>
        </p:txBody>
      </p:sp>
      <p:sp>
        <p:nvSpPr>
          <p:cNvPr id="14" name="Text 12"/>
          <p:cNvSpPr txBox="1"/>
          <p:nvPr/>
        </p:nvSpPr>
        <p:spPr>
          <a:xfrm>
            <a:off x="10332720" y="1481328"/>
            <a:ext cx="1417320" cy="502920"/>
          </a:xfrm>
          <a:prstGeom prst="rect">
            <a:avLst/>
          </a:prstGeom>
          <a:noFill/>
          <a:ln/>
        </p:spPr>
        <p:txBody>
          <a:bodyPr wrap="square" lIns="0" tIns="0" rIns="0" bIns="0" rtlCol="0" anchor="ctr"/>
          <a:lstStyle/>
          <a:p>
            <a:pPr indent="0" marL="0">
              <a:buNone/>
            </a:pPr>
            <a:r>
              <a:rPr lang="en-US" sz="1100" i="1" dirty="0">
                <a:solidFill>
                  <a:srgbClr val="4B5563"/>
                </a:solidFill>
                <a:latin typeface="Calibri" pitchFamily="34" charset="0"/>
                <a:ea typeface="Calibri" pitchFamily="34" charset="-122"/>
                <a:cs typeface="Calibri" pitchFamily="34" charset="-120"/>
              </a:rPr>
              <a:t>schematic: these states are not yet labeled</a:t>
            </a:r>
            <a:endParaRPr lang="en-US" sz="1100" dirty="0"/>
          </a:p>
        </p:txBody>
      </p:sp>
      <p:sp>
        <p:nvSpPr>
          <p:cNvPr id="15" name="Shape 13"/>
          <p:cNvSpPr/>
          <p:nvPr/>
        </p:nvSpPr>
        <p:spPr>
          <a:xfrm>
            <a:off x="457200" y="2286000"/>
            <a:ext cx="2011680" cy="777240"/>
          </a:xfrm>
          <a:prstGeom prst="roundRect">
            <a:avLst>
              <a:gd name="adj" fmla="val 8235"/>
            </a:avLst>
          </a:prstGeom>
          <a:solidFill>
            <a:srgbClr val="F3F4F6"/>
          </a:solidFill>
          <a:ln w="12700">
            <a:solidFill>
              <a:srgbClr val="C9D1DB"/>
            </a:solidFill>
            <a:prstDash val="solid"/>
          </a:ln>
        </p:spPr>
      </p:sp>
      <p:sp>
        <p:nvSpPr>
          <p:cNvPr id="16" name="Text 14"/>
          <p:cNvSpPr txBox="1"/>
          <p:nvPr/>
        </p:nvSpPr>
        <p:spPr>
          <a:xfrm>
            <a:off x="548640" y="2286000"/>
            <a:ext cx="1828800" cy="777240"/>
          </a:xfrm>
          <a:prstGeom prst="rect">
            <a:avLst/>
          </a:prstGeom>
          <a:noFill/>
          <a:ln/>
        </p:spPr>
        <p:txBody>
          <a:bodyPr wrap="square" lIns="0" tIns="0" rIns="0" bIns="0" rtlCol="0" anchor="ctr"/>
          <a:lstStyle/>
          <a:p>
            <a:pPr algn="ctr" indent="0" marL="0">
              <a:buNone/>
            </a:pPr>
            <a:r>
              <a:rPr lang="en-US" sz="1400" b="1" dirty="0">
                <a:solidFill>
                  <a:srgbClr val="1F2937"/>
                </a:solidFill>
                <a:latin typeface="Calibri" pitchFamily="34" charset="0"/>
                <a:ea typeface="Calibri" pitchFamily="34" charset="-122"/>
                <a:cs typeface="Calibri" pitchFamily="34" charset="-120"/>
              </a:rPr>
              <a:t>Continuous recording</a:t>
            </a:r>
            <a:endParaRPr lang="en-US" sz="1500" dirty="0"/>
          </a:p>
        </p:txBody>
      </p:sp>
      <p:sp>
        <p:nvSpPr>
          <p:cNvPr id="17" name="Shape 15"/>
          <p:cNvSpPr/>
          <p:nvPr/>
        </p:nvSpPr>
        <p:spPr>
          <a:xfrm>
            <a:off x="2496312" y="2670048"/>
            <a:ext cx="246888" cy="0"/>
          </a:xfrm>
          <a:prstGeom prst="line">
            <a:avLst/>
          </a:prstGeom>
          <a:noFill/>
          <a:ln w="25400">
            <a:solidFill>
              <a:srgbClr val="1F2937"/>
            </a:solidFill>
            <a:prstDash val="solid"/>
            <a:tailEnd type="triangle"/>
          </a:ln>
        </p:spPr>
      </p:sp>
      <p:sp>
        <p:nvSpPr>
          <p:cNvPr id="18" name="Shape 16"/>
          <p:cNvSpPr/>
          <p:nvPr/>
        </p:nvSpPr>
        <p:spPr>
          <a:xfrm>
            <a:off x="2770632" y="2286000"/>
            <a:ext cx="2011680" cy="777240"/>
          </a:xfrm>
          <a:prstGeom prst="roundRect">
            <a:avLst>
              <a:gd name="adj" fmla="val 8235"/>
            </a:avLst>
          </a:prstGeom>
          <a:solidFill>
            <a:srgbClr val="F3F4F6"/>
          </a:solidFill>
          <a:ln w="12700">
            <a:solidFill>
              <a:srgbClr val="C9D1DB"/>
            </a:solidFill>
            <a:prstDash val="solid"/>
          </a:ln>
        </p:spPr>
      </p:sp>
      <p:sp>
        <p:nvSpPr>
          <p:cNvPr id="19" name="Text 17"/>
          <p:cNvSpPr txBox="1"/>
          <p:nvPr/>
        </p:nvSpPr>
        <p:spPr>
          <a:xfrm>
            <a:off x="2862072" y="2286000"/>
            <a:ext cx="1828800" cy="777240"/>
          </a:xfrm>
          <a:prstGeom prst="rect">
            <a:avLst/>
          </a:prstGeom>
          <a:noFill/>
          <a:ln/>
        </p:spPr>
        <p:txBody>
          <a:bodyPr wrap="square" lIns="0" tIns="0" rIns="0" bIns="0" rtlCol="0" anchor="ctr"/>
          <a:lstStyle/>
          <a:p>
            <a:pPr algn="ctr" indent="0" marL="0">
              <a:buNone/>
            </a:pPr>
            <a:r>
              <a:rPr lang="en-US" sz="1400" b="1" dirty="0">
                <a:solidFill>
                  <a:srgbClr val="1F2937"/>
                </a:solidFill>
                <a:latin typeface="Calibri" pitchFamily="34" charset="0"/>
                <a:ea typeface="Calibri" pitchFamily="34" charset="-122"/>
                <a:cs typeface="Calibri" pitchFamily="34" charset="-120"/>
              </a:rPr>
              <a:t>Fixed-length multimodal windows</a:t>
            </a:r>
            <a:endParaRPr lang="en-US" sz="1500" dirty="0"/>
          </a:p>
        </p:txBody>
      </p:sp>
      <p:sp>
        <p:nvSpPr>
          <p:cNvPr id="20" name="Shape 18"/>
          <p:cNvSpPr/>
          <p:nvPr/>
        </p:nvSpPr>
        <p:spPr>
          <a:xfrm>
            <a:off x="4809744" y="2670048"/>
            <a:ext cx="246888" cy="0"/>
          </a:xfrm>
          <a:prstGeom prst="line">
            <a:avLst/>
          </a:prstGeom>
          <a:noFill/>
          <a:ln w="25400">
            <a:solidFill>
              <a:srgbClr val="1F2937"/>
            </a:solidFill>
            <a:prstDash val="solid"/>
            <a:tailEnd type="triangle"/>
          </a:ln>
        </p:spPr>
      </p:sp>
      <p:sp>
        <p:nvSpPr>
          <p:cNvPr id="21" name="Shape 19"/>
          <p:cNvSpPr/>
          <p:nvPr/>
        </p:nvSpPr>
        <p:spPr>
          <a:xfrm>
            <a:off x="5084064" y="2286000"/>
            <a:ext cx="2011680" cy="777240"/>
          </a:xfrm>
          <a:prstGeom prst="roundRect">
            <a:avLst>
              <a:gd name="adj" fmla="val 8235"/>
            </a:avLst>
          </a:prstGeom>
          <a:solidFill>
            <a:srgbClr val="ECE5F6"/>
          </a:solidFill>
          <a:ln w="12700">
            <a:solidFill>
              <a:srgbClr val="C9D1DB"/>
            </a:solidFill>
            <a:prstDash val="solid"/>
          </a:ln>
        </p:spPr>
      </p:sp>
      <p:sp>
        <p:nvSpPr>
          <p:cNvPr id="22" name="Text 20"/>
          <p:cNvSpPr txBox="1"/>
          <p:nvPr/>
        </p:nvSpPr>
        <p:spPr>
          <a:xfrm>
            <a:off x="5175504" y="2286000"/>
            <a:ext cx="1828800" cy="777240"/>
          </a:xfrm>
          <a:prstGeom prst="rect">
            <a:avLst/>
          </a:prstGeom>
          <a:noFill/>
          <a:ln/>
        </p:spPr>
        <p:txBody>
          <a:bodyPr wrap="square" lIns="0" tIns="0" rIns="0" bIns="0" rtlCol="0" anchor="ctr"/>
          <a:lstStyle/>
          <a:p>
            <a:pPr algn="ctr" indent="0" marL="0">
              <a:buNone/>
            </a:pPr>
            <a:r>
              <a:rPr lang="en-US" sz="1400" b="1" dirty="0">
                <a:solidFill>
                  <a:srgbClr val="6B4FA0"/>
                </a:solidFill>
                <a:latin typeface="Calibri" pitchFamily="34" charset="0"/>
                <a:ea typeface="Calibri" pitchFamily="34" charset="-122"/>
                <a:cs typeface="Calibri" pitchFamily="34" charset="-120"/>
              </a:rPr>
              <a:t>SSLD</a:t>
            </a:r>
            <a:endParaRPr lang="en-US" sz="1500" dirty="0"/>
          </a:p>
        </p:txBody>
      </p:sp>
      <p:sp>
        <p:nvSpPr>
          <p:cNvPr id="23" name="Shape 21"/>
          <p:cNvSpPr/>
          <p:nvPr/>
        </p:nvSpPr>
        <p:spPr>
          <a:xfrm>
            <a:off x="7123176" y="2670048"/>
            <a:ext cx="246888" cy="0"/>
          </a:xfrm>
          <a:prstGeom prst="line">
            <a:avLst/>
          </a:prstGeom>
          <a:noFill/>
          <a:ln w="25400">
            <a:solidFill>
              <a:srgbClr val="1F2937"/>
            </a:solidFill>
            <a:prstDash val="solid"/>
            <a:tailEnd type="triangle"/>
          </a:ln>
        </p:spPr>
      </p:sp>
      <p:sp>
        <p:nvSpPr>
          <p:cNvPr id="24" name="Shape 22"/>
          <p:cNvSpPr/>
          <p:nvPr/>
        </p:nvSpPr>
        <p:spPr>
          <a:xfrm>
            <a:off x="7397496" y="2286000"/>
            <a:ext cx="2011680" cy="777240"/>
          </a:xfrm>
          <a:prstGeom prst="roundRect">
            <a:avLst>
              <a:gd name="adj" fmla="val 8235"/>
            </a:avLst>
          </a:prstGeom>
          <a:solidFill>
            <a:srgbClr val="F3F4F6"/>
          </a:solidFill>
          <a:ln w="12700">
            <a:solidFill>
              <a:srgbClr val="C9D1DB"/>
            </a:solidFill>
            <a:prstDash val="solid"/>
          </a:ln>
        </p:spPr>
      </p:sp>
      <p:sp>
        <p:nvSpPr>
          <p:cNvPr id="25" name="Text 23"/>
          <p:cNvSpPr txBox="1"/>
          <p:nvPr/>
        </p:nvSpPr>
        <p:spPr>
          <a:xfrm>
            <a:off x="7488936" y="2286000"/>
            <a:ext cx="1828800" cy="777240"/>
          </a:xfrm>
          <a:prstGeom prst="rect">
            <a:avLst/>
          </a:prstGeom>
          <a:noFill/>
          <a:ln/>
        </p:spPr>
        <p:txBody>
          <a:bodyPr wrap="square" lIns="0" tIns="0" rIns="0" bIns="0" rtlCol="0" anchor="ctr"/>
          <a:lstStyle/>
          <a:p>
            <a:pPr algn="ctr" indent="0" marL="0">
              <a:buNone/>
            </a:pPr>
            <a:r>
              <a:rPr lang="en-US" sz="1400" b="1" dirty="0">
                <a:solidFill>
                  <a:srgbClr val="1F2937"/>
                </a:solidFill>
                <a:latin typeface="Calibri" pitchFamily="34" charset="0"/>
                <a:ea typeface="Calibri" pitchFamily="34" charset="-122"/>
                <a:cs typeface="Calibri" pitchFamily="34" charset="-120"/>
              </a:rPr>
              <a:t>Window / event summaries</a:t>
            </a:r>
            <a:endParaRPr lang="en-US" sz="1500" dirty="0"/>
          </a:p>
        </p:txBody>
      </p:sp>
      <p:sp>
        <p:nvSpPr>
          <p:cNvPr id="26" name="Shape 24"/>
          <p:cNvSpPr/>
          <p:nvPr/>
        </p:nvSpPr>
        <p:spPr>
          <a:xfrm>
            <a:off x="9436608" y="2670048"/>
            <a:ext cx="246888" cy="0"/>
          </a:xfrm>
          <a:prstGeom prst="line">
            <a:avLst/>
          </a:prstGeom>
          <a:noFill/>
          <a:ln w="25400">
            <a:solidFill>
              <a:srgbClr val="1F2937"/>
            </a:solidFill>
            <a:prstDash val="solid"/>
            <a:tailEnd type="triangle"/>
          </a:ln>
        </p:spPr>
      </p:sp>
      <p:sp>
        <p:nvSpPr>
          <p:cNvPr id="27" name="Shape 25"/>
          <p:cNvSpPr/>
          <p:nvPr/>
        </p:nvSpPr>
        <p:spPr>
          <a:xfrm>
            <a:off x="9710928" y="2286000"/>
            <a:ext cx="2011680" cy="777240"/>
          </a:xfrm>
          <a:prstGeom prst="roundRect">
            <a:avLst>
              <a:gd name="adj" fmla="val 8235"/>
            </a:avLst>
          </a:prstGeom>
          <a:solidFill>
            <a:srgbClr val="EEF0F3"/>
          </a:solidFill>
          <a:ln w="12700">
            <a:solidFill>
              <a:srgbClr val="C9D1DB"/>
            </a:solidFill>
            <a:prstDash val="solid"/>
          </a:ln>
        </p:spPr>
      </p:sp>
      <p:sp>
        <p:nvSpPr>
          <p:cNvPr id="28" name="Text 26"/>
          <p:cNvSpPr txBox="1"/>
          <p:nvPr/>
        </p:nvSpPr>
        <p:spPr>
          <a:xfrm>
            <a:off x="9802368" y="2286000"/>
            <a:ext cx="1828800" cy="777240"/>
          </a:xfrm>
          <a:prstGeom prst="rect">
            <a:avLst/>
          </a:prstGeom>
          <a:noFill/>
          <a:ln/>
        </p:spPr>
        <p:txBody>
          <a:bodyPr wrap="square" lIns="0" tIns="0" rIns="0" bIns="0" rtlCol="0" anchor="ctr"/>
          <a:lstStyle/>
          <a:p>
            <a:pPr algn="ctr" indent="0" marL="0">
              <a:buNone/>
            </a:pPr>
            <a:r>
              <a:rPr lang="en-US" sz="1400" b="1" dirty="0">
                <a:solidFill>
                  <a:srgbClr val="1F2937"/>
                </a:solidFill>
                <a:latin typeface="Calibri" pitchFamily="34" charset="0"/>
                <a:ea typeface="Calibri" pitchFamily="34" charset="-122"/>
                <a:cs typeface="Calibri" pitchFamily="34" charset="-120"/>
              </a:rPr>
              <a:t>Rank or valence prediction</a:t>
            </a:r>
            <a:endParaRPr lang="en-US" sz="1500" dirty="0"/>
          </a:p>
        </p:txBody>
      </p:sp>
      <p:sp>
        <p:nvSpPr>
          <p:cNvPr id="29" name="Text 27"/>
          <p:cNvSpPr txBox="1"/>
          <p:nvPr/>
        </p:nvSpPr>
        <p:spPr>
          <a:xfrm>
            <a:off x="457200" y="3108960"/>
            <a:ext cx="11292840" cy="320040"/>
          </a:xfrm>
          <a:prstGeom prst="rect">
            <a:avLst/>
          </a:prstGeom>
          <a:noFill/>
          <a:ln/>
        </p:spPr>
        <p:txBody>
          <a:bodyPr wrap="square" lIns="0" tIns="0" rIns="0" bIns="0" rtlCol="0" anchor="t"/>
          <a:lstStyle/>
          <a:p>
            <a:pPr indent="0" marL="0">
              <a:buNone/>
            </a:pPr>
            <a:r>
              <a:rPr lang="en-US" sz="1300" i="1" dirty="0">
                <a:solidFill>
                  <a:srgbClr val="4B5563"/>
                </a:solidFill>
                <a:latin typeface="Calibri" pitchFamily="34" charset="0"/>
                <a:ea typeface="Calibri" pitchFamily="34" charset="-122"/>
                <a:cs typeface="Calibri" pitchFamily="34" charset="-120"/>
              </a:rPr>
              <a:t>many windows from one mouse → state occupancy, transitions, latent summaries, respiration response → one prediction per mouse/session</a:t>
            </a:r>
            <a:endParaRPr lang="en-US" sz="1300" dirty="0"/>
          </a:p>
        </p:txBody>
      </p:sp>
      <p:sp>
        <p:nvSpPr>
          <p:cNvPr id="30" name="Text 28"/>
          <p:cNvSpPr txBox="1"/>
          <p:nvPr/>
        </p:nvSpPr>
        <p:spPr>
          <a:xfrm>
            <a:off x="457200" y="3611880"/>
            <a:ext cx="6035040" cy="320040"/>
          </a:xfrm>
          <a:prstGeom prst="rect">
            <a:avLst/>
          </a:prstGeom>
          <a:noFill/>
          <a:ln/>
        </p:spPr>
        <p:txBody>
          <a:bodyPr wrap="square" lIns="0" tIns="0" rIns="0" bIns="0" rtlCol="0" anchor="t"/>
          <a:lstStyle/>
          <a:p>
            <a:pPr indent="0" marL="0">
              <a:buNone/>
            </a:pPr>
            <a:r>
              <a:rPr lang="en-US" sz="1500" b="1" dirty="0">
                <a:solidFill>
                  <a:srgbClr val="1D4E89"/>
                </a:solidFill>
                <a:latin typeface="Calibri" pitchFamily="34" charset="0"/>
                <a:ea typeface="Calibri" pitchFamily="34" charset="-122"/>
                <a:cs typeface="Calibri" pitchFamily="34" charset="-120"/>
              </a:rPr>
              <a:t>Event-centered window (fixed length, ~20 s to start)</a:t>
            </a:r>
            <a:endParaRPr lang="en-US" sz="1500" dirty="0"/>
          </a:p>
        </p:txBody>
      </p:sp>
      <p:sp>
        <p:nvSpPr>
          <p:cNvPr id="31" name="Shape 29"/>
          <p:cNvSpPr/>
          <p:nvPr/>
        </p:nvSpPr>
        <p:spPr>
          <a:xfrm>
            <a:off x="457200" y="4023360"/>
            <a:ext cx="1371600" cy="548640"/>
          </a:xfrm>
          <a:prstGeom prst="rect">
            <a:avLst/>
          </a:prstGeom>
          <a:solidFill>
            <a:srgbClr val="E5E7EB"/>
          </a:solidFill>
          <a:ln w="25400">
            <a:solidFill>
              <a:srgbClr val="FFFFFF"/>
            </a:solidFill>
            <a:prstDash val="solid"/>
          </a:ln>
        </p:spPr>
      </p:sp>
      <p:sp>
        <p:nvSpPr>
          <p:cNvPr id="32" name="Shape 30"/>
          <p:cNvSpPr/>
          <p:nvPr/>
        </p:nvSpPr>
        <p:spPr>
          <a:xfrm>
            <a:off x="1828800" y="4023360"/>
            <a:ext cx="2286000" cy="548640"/>
          </a:xfrm>
          <a:prstGeom prst="rect">
            <a:avLst/>
          </a:prstGeom>
          <a:solidFill>
            <a:srgbClr val="ECE5F6"/>
          </a:solidFill>
          <a:ln w="25400">
            <a:solidFill>
              <a:srgbClr val="FFFFFF"/>
            </a:solidFill>
            <a:prstDash val="solid"/>
          </a:ln>
        </p:spPr>
      </p:sp>
      <p:sp>
        <p:nvSpPr>
          <p:cNvPr id="33" name="Shape 31"/>
          <p:cNvSpPr/>
          <p:nvPr/>
        </p:nvSpPr>
        <p:spPr>
          <a:xfrm>
            <a:off x="4114800" y="4023360"/>
            <a:ext cx="2377440" cy="548640"/>
          </a:xfrm>
          <a:prstGeom prst="rect">
            <a:avLst/>
          </a:prstGeom>
          <a:solidFill>
            <a:srgbClr val="E5E7EB"/>
          </a:solidFill>
          <a:ln w="25400">
            <a:solidFill>
              <a:srgbClr val="FFFFFF"/>
            </a:solidFill>
            <a:prstDash val="solid"/>
          </a:ln>
        </p:spPr>
      </p:sp>
      <p:sp>
        <p:nvSpPr>
          <p:cNvPr id="34" name="Text 32"/>
          <p:cNvSpPr txBox="1"/>
          <p:nvPr/>
        </p:nvSpPr>
        <p:spPr>
          <a:xfrm>
            <a:off x="457200" y="4023360"/>
            <a:ext cx="1371600" cy="548640"/>
          </a:xfrm>
          <a:prstGeom prst="rect">
            <a:avLst/>
          </a:prstGeom>
          <a:noFill/>
          <a:ln/>
        </p:spPr>
        <p:txBody>
          <a:bodyPr wrap="square" lIns="0" tIns="0" rIns="0" bIns="0" rtlCol="0" anchor="ctr"/>
          <a:lstStyle/>
          <a:p>
            <a:pPr algn="ctr" indent="0" marL="0">
              <a:buNone/>
            </a:pPr>
            <a:r>
              <a:rPr lang="en-US" sz="1300" dirty="0">
                <a:solidFill>
                  <a:srgbClr val="1F2937"/>
                </a:solidFill>
                <a:latin typeface="Calibri" pitchFamily="34" charset="0"/>
                <a:ea typeface="Calibri" pitchFamily="34" charset="-122"/>
                <a:cs typeface="Calibri" pitchFamily="34" charset="-120"/>
              </a:rPr>
              <a:t>5 s pre-event</a:t>
            </a:r>
            <a:endParaRPr lang="en-US" sz="1300" dirty="0"/>
          </a:p>
        </p:txBody>
      </p:sp>
      <p:sp>
        <p:nvSpPr>
          <p:cNvPr id="35" name="Text 33"/>
          <p:cNvSpPr txBox="1"/>
          <p:nvPr/>
        </p:nvSpPr>
        <p:spPr>
          <a:xfrm>
            <a:off x="1828800" y="4023360"/>
            <a:ext cx="2286000" cy="548640"/>
          </a:xfrm>
          <a:prstGeom prst="rect">
            <a:avLst/>
          </a:prstGeom>
          <a:noFill/>
          <a:ln/>
        </p:spPr>
        <p:txBody>
          <a:bodyPr wrap="square" lIns="0" tIns="0" rIns="0" bIns="0" rtlCol="0" anchor="ctr"/>
          <a:lstStyle/>
          <a:p>
            <a:pPr algn="ctr" indent="0" marL="0">
              <a:buNone/>
            </a:pPr>
            <a:r>
              <a:rPr lang="en-US" sz="1300" b="1" dirty="0">
                <a:solidFill>
                  <a:srgbClr val="1F2937"/>
                </a:solidFill>
                <a:latin typeface="Calibri" pitchFamily="34" charset="0"/>
                <a:ea typeface="Calibri" pitchFamily="34" charset="-122"/>
                <a:cs typeface="Calibri" pitchFamily="34" charset="-120"/>
              </a:rPr>
              <a:t>interaction (variable)</a:t>
            </a:r>
            <a:endParaRPr lang="en-US" sz="1300" dirty="0"/>
          </a:p>
        </p:txBody>
      </p:sp>
      <p:sp>
        <p:nvSpPr>
          <p:cNvPr id="36" name="Text 34"/>
          <p:cNvSpPr txBox="1"/>
          <p:nvPr/>
        </p:nvSpPr>
        <p:spPr>
          <a:xfrm>
            <a:off x="4114800" y="4023360"/>
            <a:ext cx="2377440" cy="548640"/>
          </a:xfrm>
          <a:prstGeom prst="rect">
            <a:avLst/>
          </a:prstGeom>
          <a:noFill/>
          <a:ln/>
        </p:spPr>
        <p:txBody>
          <a:bodyPr wrap="square" lIns="0" tIns="0" rIns="0" bIns="0" rtlCol="0" anchor="ctr"/>
          <a:lstStyle/>
          <a:p>
            <a:pPr algn="ctr" indent="0" marL="0">
              <a:buNone/>
            </a:pPr>
            <a:r>
              <a:rPr lang="en-US" sz="1300" dirty="0">
                <a:solidFill>
                  <a:srgbClr val="1F2937"/>
                </a:solidFill>
                <a:latin typeface="Calibri" pitchFamily="34" charset="0"/>
                <a:ea typeface="Calibri" pitchFamily="34" charset="-122"/>
                <a:cs typeface="Calibri" pitchFamily="34" charset="-120"/>
              </a:rPr>
              <a:t>post-event context</a:t>
            </a:r>
            <a:endParaRPr lang="en-US" sz="1300" dirty="0"/>
          </a:p>
        </p:txBody>
      </p:sp>
      <p:sp>
        <p:nvSpPr>
          <p:cNvPr id="37" name="Text 35"/>
          <p:cNvSpPr txBox="1"/>
          <p:nvPr/>
        </p:nvSpPr>
        <p:spPr>
          <a:xfrm>
            <a:off x="1481328" y="4590288"/>
            <a:ext cx="1097280" cy="274320"/>
          </a:xfrm>
          <a:prstGeom prst="rect">
            <a:avLst/>
          </a:prstGeom>
          <a:noFill/>
          <a:ln/>
        </p:spPr>
        <p:txBody>
          <a:bodyPr wrap="square" lIns="0" tIns="0" rIns="0" bIns="0" rtlCol="0" anchor="t"/>
          <a:lstStyle/>
          <a:p>
            <a:pPr indent="0" marL="0">
              <a:buNone/>
            </a:pPr>
            <a:r>
              <a:rPr lang="en-US" sz="1100" dirty="0">
                <a:solidFill>
                  <a:srgbClr val="6B4FA0"/>
                </a:solidFill>
                <a:latin typeface="Calibri" pitchFamily="34" charset="0"/>
                <a:ea typeface="Calibri" pitchFamily="34" charset="-122"/>
                <a:cs typeface="Calibri" pitchFamily="34" charset="-120"/>
              </a:rPr>
              <a:t>▲ true onset</a:t>
            </a:r>
            <a:endParaRPr lang="en-US" sz="1100" dirty="0"/>
          </a:p>
        </p:txBody>
      </p:sp>
      <p:sp>
        <p:nvSpPr>
          <p:cNvPr id="38" name="Text 36"/>
          <p:cNvSpPr txBox="1"/>
          <p:nvPr/>
        </p:nvSpPr>
        <p:spPr>
          <a:xfrm>
            <a:off x="3767328" y="4590288"/>
            <a:ext cx="1097280" cy="274320"/>
          </a:xfrm>
          <a:prstGeom prst="rect">
            <a:avLst/>
          </a:prstGeom>
          <a:noFill/>
          <a:ln/>
        </p:spPr>
        <p:txBody>
          <a:bodyPr wrap="square" lIns="0" tIns="0" rIns="0" bIns="0" rtlCol="0" anchor="t"/>
          <a:lstStyle/>
          <a:p>
            <a:pPr indent="0" marL="0">
              <a:buNone/>
            </a:pPr>
            <a:r>
              <a:rPr lang="en-US" sz="1100" dirty="0">
                <a:solidFill>
                  <a:srgbClr val="6B4FA0"/>
                </a:solidFill>
                <a:latin typeface="Calibri" pitchFamily="34" charset="0"/>
                <a:ea typeface="Calibri" pitchFamily="34" charset="-122"/>
                <a:cs typeface="Calibri" pitchFamily="34" charset="-120"/>
              </a:rPr>
              <a:t>▲ true offset</a:t>
            </a:r>
            <a:endParaRPr lang="en-US" sz="1100" dirty="0"/>
          </a:p>
        </p:txBody>
      </p:sp>
      <p:sp>
        <p:nvSpPr>
          <p:cNvPr id="39" name="Text 37"/>
          <p:cNvSpPr txBox="1"/>
          <p:nvPr/>
        </p:nvSpPr>
        <p:spPr>
          <a:xfrm>
            <a:off x="457200" y="4937760"/>
            <a:ext cx="6035040" cy="1645920"/>
          </a:xfrm>
          <a:prstGeom prst="rect">
            <a:avLst/>
          </a:prstGeom>
          <a:noFill/>
          <a:ln/>
        </p:spPr>
        <p:txBody>
          <a:bodyPr wrap="square" lIns="0" tIns="0" rIns="0" bIns="0" rtlCol="0" anchor="t"/>
          <a:lstStyle/>
          <a:p>
            <a:pPr marL="342900" indent="-342900">
              <a:buSzPct val="100000"/>
              <a:buChar char="•"/>
            </a:pPr>
            <a:r>
              <a:rPr lang="en-US" sz="1300" dirty="0">
                <a:solidFill>
                  <a:srgbClr val="1F2937"/>
                </a:solidFill>
                <a:latin typeface="Calibri" pitchFamily="34" charset="0"/>
                <a:ea typeface="Calibri" pitchFamily="34" charset="-122"/>
                <a:cs typeface="Calibri" pitchFamily="34" charset="-120"/>
              </a:rPr>
              <a:t>Same model also sees windows sampled from non-social periods.</a:t>
            </a:r>
            <a:endParaRPr lang="en-US" sz="1300" dirty="0"/>
          </a:p>
          <a:p>
            <a:pPr marL="342900" indent="-342900">
              <a:buSzPct val="100000"/>
              <a:buChar char="•"/>
            </a:pPr>
            <a:r>
              <a:rPr lang="en-US" sz="1300" dirty="0">
                <a:solidFill>
                  <a:srgbClr val="1F2937"/>
                </a:solidFill>
                <a:latin typeface="Calibri" pitchFamily="34" charset="0"/>
                <a:ea typeface="Calibri" pitchFamily="34" charset="-122"/>
                <a:cs typeface="Calibri" pitchFamily="34" charset="-120"/>
              </a:rPr>
              <a:t>Whole 5–10 min recordings at 50 Hz are needlessly long; fixed windows ease sync and training.</a:t>
            </a:r>
            <a:endParaRPr lang="en-US" sz="1300" dirty="0"/>
          </a:p>
          <a:p>
            <a:pPr marL="342900" indent="-342900">
              <a:buSzPct val="100000"/>
              <a:buChar char="•"/>
            </a:pPr>
            <a:r>
              <a:rPr lang="en-US" sz="1300" dirty="0">
                <a:solidFill>
                  <a:srgbClr val="1F2937"/>
                </a:solidFill>
                <a:latin typeface="Calibri" pitchFamily="34" charset="0"/>
                <a:ea typeface="Calibri" pitchFamily="34" charset="-122"/>
                <a:cs typeface="Calibri" pitchFamily="34" charset="-120"/>
              </a:rPr>
              <a:t>Interactions are sparse, so non-social windows still carry information.</a:t>
            </a:r>
            <a:endParaRPr lang="en-US" sz="1300" dirty="0"/>
          </a:p>
          <a:p>
            <a:pPr marL="342900" indent="-342900">
              <a:buSzPct val="100000"/>
              <a:buChar char="•"/>
            </a:pPr>
            <a:r>
              <a:rPr lang="en-US" sz="1300" dirty="0">
                <a:solidFill>
                  <a:srgbClr val="1F2937"/>
                </a:solidFill>
                <a:latin typeface="Calibri" pitchFamily="34" charset="0"/>
                <a:ea typeface="Calibri" pitchFamily="34" charset="-122"/>
                <a:cs typeface="Calibri" pitchFamily="34" charset="-120"/>
              </a:rPr>
              <a:t>Event-centered windows show transitions before, during and after contact.</a:t>
            </a:r>
            <a:endParaRPr lang="en-US" sz="1300" dirty="0"/>
          </a:p>
        </p:txBody>
      </p:sp>
      <p:sp>
        <p:nvSpPr>
          <p:cNvPr id="40" name="Shape 38"/>
          <p:cNvSpPr/>
          <p:nvPr/>
        </p:nvSpPr>
        <p:spPr>
          <a:xfrm>
            <a:off x="6812280" y="3611880"/>
            <a:ext cx="4937760" cy="2423160"/>
          </a:xfrm>
          <a:prstGeom prst="roundRect">
            <a:avLst>
              <a:gd name="adj" fmla="val 2642"/>
            </a:avLst>
          </a:prstGeom>
          <a:solidFill>
            <a:srgbClr val="FEF3C7"/>
          </a:solidFill>
          <a:ln w="15875">
            <a:solidFill>
              <a:srgbClr val="B45309"/>
            </a:solidFill>
            <a:prstDash val="dash"/>
          </a:ln>
        </p:spPr>
      </p:sp>
      <p:sp>
        <p:nvSpPr>
          <p:cNvPr id="41" name="Shape 39"/>
          <p:cNvSpPr/>
          <p:nvPr/>
        </p:nvSpPr>
        <p:spPr>
          <a:xfrm>
            <a:off x="6949440" y="3721608"/>
            <a:ext cx="868680" cy="274320"/>
          </a:xfrm>
          <a:prstGeom prst="roundRect">
            <a:avLst>
              <a:gd name="adj" fmla="val 23333"/>
            </a:avLst>
          </a:prstGeom>
          <a:solidFill>
            <a:srgbClr val="FFFFFF"/>
          </a:solidFill>
          <a:ln w="12700">
            <a:solidFill>
              <a:srgbClr val="B45309"/>
            </a:solidFill>
            <a:prstDash val="solid"/>
          </a:ln>
        </p:spPr>
      </p:sp>
      <p:sp>
        <p:nvSpPr>
          <p:cNvPr id="42" name="Text 40"/>
          <p:cNvSpPr txBox="1"/>
          <p:nvPr/>
        </p:nvSpPr>
        <p:spPr>
          <a:xfrm>
            <a:off x="6949440" y="3721608"/>
            <a:ext cx="868680" cy="274320"/>
          </a:xfrm>
          <a:prstGeom prst="rect">
            <a:avLst/>
          </a:prstGeom>
          <a:noFill/>
          <a:ln/>
        </p:spPr>
        <p:txBody>
          <a:bodyPr wrap="square" lIns="0" tIns="0" rIns="0" bIns="0" rtlCol="0" anchor="ctr"/>
          <a:lstStyle/>
          <a:p>
            <a:pPr algn="ctr" indent="0" marL="0">
              <a:buNone/>
            </a:pPr>
            <a:r>
              <a:rPr lang="en-US" sz="1100" b="1" dirty="0">
                <a:solidFill>
                  <a:srgbClr val="B45309"/>
                </a:solidFill>
                <a:latin typeface="Calibri" pitchFamily="34" charset="0"/>
                <a:ea typeface="Calibri" pitchFamily="34" charset="-122"/>
                <a:cs typeface="Calibri" pitchFamily="34" charset="-120"/>
              </a:rPr>
              <a:t>OPEN</a:t>
            </a:r>
            <a:endParaRPr lang="en-US" sz="1100" dirty="0"/>
          </a:p>
        </p:txBody>
      </p:sp>
      <p:sp>
        <p:nvSpPr>
          <p:cNvPr id="43" name="Text 41"/>
          <p:cNvSpPr txBox="1"/>
          <p:nvPr/>
        </p:nvSpPr>
        <p:spPr>
          <a:xfrm>
            <a:off x="7909560" y="3703320"/>
            <a:ext cx="3749040" cy="320040"/>
          </a:xfrm>
          <a:prstGeom prst="rect">
            <a:avLst/>
          </a:prstGeom>
          <a:noFill/>
          <a:ln/>
        </p:spPr>
        <p:txBody>
          <a:bodyPr wrap="square" lIns="0" tIns="0" rIns="0" bIns="0" rtlCol="0" anchor="t"/>
          <a:lstStyle/>
          <a:p>
            <a:pPr indent="0" marL="0">
              <a:buNone/>
            </a:pPr>
            <a:r>
              <a:rPr lang="en-US" sz="1500" b="1" dirty="0">
                <a:solidFill>
                  <a:srgbClr val="B45309"/>
                </a:solidFill>
                <a:latin typeface="Calibri" pitchFamily="34" charset="0"/>
                <a:ea typeface="Calibri" pitchFamily="34" charset="-122"/>
                <a:cs typeface="Calibri" pitchFamily="34" charset="-120"/>
              </a:rPr>
              <a:t>Open questions before finalizing</a:t>
            </a:r>
            <a:endParaRPr lang="en-US" sz="1500" dirty="0"/>
          </a:p>
        </p:txBody>
      </p:sp>
      <p:sp>
        <p:nvSpPr>
          <p:cNvPr id="44" name="Text 42"/>
          <p:cNvSpPr txBox="1"/>
          <p:nvPr/>
        </p:nvSpPr>
        <p:spPr>
          <a:xfrm>
            <a:off x="6995160" y="4114800"/>
            <a:ext cx="4617720" cy="2331720"/>
          </a:xfrm>
          <a:prstGeom prst="rect">
            <a:avLst/>
          </a:prstGeom>
          <a:noFill/>
          <a:ln/>
        </p:spPr>
        <p:txBody>
          <a:bodyPr wrap="square" lIns="0" tIns="0" rIns="0" bIns="0" rtlCol="0" anchor="t"/>
          <a:lstStyle/>
          <a:p>
            <a:pPr marL="342900" indent="-342900">
              <a:spcBef>
                <a:spcPts val="600"/>
              </a:spcBef>
              <a:buSzPct val="100000"/>
              <a:buChar char="•"/>
            </a:pPr>
            <a:r>
              <a:rPr lang="en-US" sz="1400" dirty="0">
                <a:solidFill>
                  <a:srgbClr val="1F2937"/>
                </a:solidFill>
                <a:latin typeface="Calibri" pitchFamily="34" charset="0"/>
                <a:ea typeface="Calibri" pitchFamily="34" charset="-122"/>
                <a:cs typeface="Calibri" pitchFamily="34" charset="-120"/>
              </a:rPr>
              <a:t>Physical states: hand-labeled, automatically discovered, or both?</a:t>
            </a:r>
            <a:endParaRPr lang="en-US" sz="1400" dirty="0"/>
          </a:p>
          <a:p>
            <a:pPr marL="342900" indent="-342900">
              <a:spcBef>
                <a:spcPts val="600"/>
              </a:spcBef>
              <a:buSzPct val="100000"/>
              <a:buChar char="•"/>
            </a:pPr>
            <a:r>
              <a:rPr lang="en-US" sz="1400" dirty="0">
                <a:solidFill>
                  <a:srgbClr val="1F2937"/>
                </a:solidFill>
                <a:latin typeface="Calibri" pitchFamily="34" charset="0"/>
                <a:ea typeface="Calibri" pitchFamily="34" charset="-122"/>
                <a:cs typeface="Calibri" pitchFamily="34" charset="-120"/>
              </a:rPr>
              <a:t>Best window length (testing ~10–30 s)?</a:t>
            </a:r>
            <a:endParaRPr lang="en-US" sz="1400" dirty="0"/>
          </a:p>
          <a:p>
            <a:pPr marL="342900" indent="-342900">
              <a:spcBef>
                <a:spcPts val="600"/>
              </a:spcBef>
              <a:buSzPct val="100000"/>
              <a:buChar char="•"/>
            </a:pPr>
            <a:r>
              <a:rPr lang="en-US" sz="1400" dirty="0">
                <a:solidFill>
                  <a:srgbClr val="1F2937"/>
                </a:solidFill>
                <a:latin typeface="Calibri" pitchFamily="34" charset="0"/>
                <a:ea typeface="Calibri" pitchFamily="34" charset="-122"/>
                <a:cs typeface="Calibri" pitchFamily="34" charset="-120"/>
              </a:rPr>
              <a:t>How to use the differing baseline structures?</a:t>
            </a:r>
            <a:endParaRPr lang="en-US" sz="1400" dirty="0"/>
          </a:p>
          <a:p>
            <a:pPr marL="342900" indent="-342900">
              <a:spcBef>
                <a:spcPts val="600"/>
              </a:spcBef>
              <a:buSzPct val="100000"/>
              <a:buChar char="•"/>
            </a:pPr>
            <a:r>
              <a:rPr lang="en-US" sz="1400" dirty="0">
                <a:solidFill>
                  <a:srgbClr val="1F2937"/>
                </a:solidFill>
                <a:latin typeface="Calibri" pitchFamily="34" charset="0"/>
                <a:ea typeface="Calibri" pitchFamily="34" charset="-122"/>
                <a:cs typeface="Calibri" pitchFamily="34" charset="-120"/>
              </a:rPr>
              <a:t>Balance or weight social vs non-social windows in training?</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Cohort 2 cagemate dataset</dc:title>
  <dc:subject>PptxGenJS Presentation</dc:subject>
  <dc:creator>PptxGenJS</dc:creator>
  <cp:lastModifiedBy>PptxGenJS</cp:lastModifiedBy>
  <cp:revision>1</cp:revision>
  <dcterms:created xsi:type="dcterms:W3CDTF">2026-10-02T13:48:02Z</dcterms:created>
  <dcterms:modified xsi:type="dcterms:W3CDTF">2026-10-02T13:48:02Z</dcterms:modified>
</cp:coreProperties>
</file>