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77" r:id="rId3"/>
    <p:sldId id="493" r:id="rId4"/>
    <p:sldId id="279" r:id="rId5"/>
    <p:sldId id="280" r:id="rId6"/>
    <p:sldId id="282" r:id="rId7"/>
    <p:sldId id="283" r:id="rId8"/>
    <p:sldId id="478" r:id="rId9"/>
    <p:sldId id="488" r:id="rId10"/>
    <p:sldId id="490" r:id="rId11"/>
    <p:sldId id="495" r:id="rId12"/>
    <p:sldId id="494" r:id="rId13"/>
    <p:sldId id="496" r:id="rId14"/>
    <p:sldId id="485" r:id="rId15"/>
    <p:sldId id="483" r:id="rId16"/>
    <p:sldId id="491" r:id="rId17"/>
    <p:sldId id="482" r:id="rId18"/>
    <p:sldId id="484" r:id="rId19"/>
    <p:sldId id="487" r:id="rId20"/>
    <p:sldId id="292" r:id="rId21"/>
    <p:sldId id="291" r:id="rId22"/>
    <p:sldId id="294" r:id="rId23"/>
    <p:sldId id="492" r:id="rId24"/>
    <p:sldId id="48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4D407A-9D1D-49B4-A152-A28AECD732C1}" v="1" dt="2026-01-26T12:05:10.727"/>
    <p1510:client id="{E8988F66-9714-498F-9669-B8ABD7D5034C}" v="8" dt="2025-12-06T21:13:09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73898" autoAdjust="0"/>
  </p:normalViewPr>
  <p:slideViewPr>
    <p:cSldViewPr snapToGrid="0">
      <p:cViewPr varScale="1">
        <p:scale>
          <a:sx n="95" d="100"/>
          <a:sy n="95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18486-63A1-462A-82BA-F5DE85598AE7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508C1-8BFF-4912-942A-5013F55A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99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AB66-1EB8-E977-C42D-113B89D5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6C17C-DB68-D015-40E1-F7F590583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74D9D-5CEA-70AC-A17A-182DD95B9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Studies have shown that respiration patterns are tightly linked to both behavior and social context.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example, Dr. Wesson found that subordinate rats reduce sniffing when approached by dominant rats.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Importantly, these changes persist even in the absence of olfactory input. </a:t>
            </a:r>
            <a:r>
              <a:rPr lang="en-US" altLang="en-US" dirty="0"/>
              <a:t>Only tested during short encounters (30 min), not long-term stable hierarchies.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More recently, machine learning approaches have demonstrated that different behaviors — like grooming, freezing, or odor investigation — can be classified directly from respiratory patterns.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90B1-CADA-CB0D-2760-EA7E3B255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1B582-FDD5-49D8-A032-4E20E7C36E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88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FC3F-3614-EE4F-AB0C-63C5B717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733B2-4DD6-8B5E-C93D-307AEB816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100B2-58EA-E6D3-2AF7-2EBB542DD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CB61E-9956-CE63-73BE-F45BD90D9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5732D-D971-42FD-8114-CB8C291E76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14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98F62-F87A-5961-59B2-A86C4DF6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C6286-AEE1-6569-ADAB-FB610DC6C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B8AB5-F109-5807-8E04-4BF0BA904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Valence assignment is accompanied by observable changes in behavior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F1C32-F0F6-060B-50F0-3C5B6CDAF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1B582-FDD5-49D8-A032-4E20E7C36E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95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DE9AA-0E7F-D4D4-DC52-9B9BD615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ED9C7-D714-1219-7663-D15BB6106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DC96D-DFA5-D301-F11E-31A74A90D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A3A09-7FB6-0568-D707-7F9DBB1E4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1B582-FDD5-49D8-A032-4E20E7C36E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66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E69DF-B1CE-A318-5967-BCE4C748F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06FEC-EE49-C843-5152-ABB53F6FF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CA39B-6EC2-5489-DAEA-5A90ACEEF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AC567-48F7-D93D-DC99-B2DAE75DF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5732D-D971-42FD-8114-CB8C291E76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18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Breathing isn’t just a reflex—it is continuously shaped by our emotional and cognitive state.</a:t>
            </a:r>
            <a:br>
              <a:rPr lang="en-US" dirty="0"/>
            </a:br>
            <a:r>
              <a:rPr lang="en-US" dirty="0"/>
              <a:t>On the left, you can see how many higher-order brain regions project into the breathing rhythm generator: the PFC, amygdala, hippocampus, and olfactory areas all send top-down signals to the </a:t>
            </a:r>
            <a:r>
              <a:rPr lang="en-US" dirty="0" err="1"/>
              <a:t>preBötzinger</a:t>
            </a:r>
            <a:r>
              <a:rPr lang="en-US" dirty="0"/>
              <a:t> complex. This means changes in social context, threat, or motivation can directly alter respiratory dynamics.</a:t>
            </a:r>
          </a:p>
          <a:p>
            <a:r>
              <a:rPr lang="en-US" dirty="0"/>
              <a:t>On the right, we see how rapidly breathing shifts with internal state.</a:t>
            </a:r>
            <a:br>
              <a:rPr lang="en-US" dirty="0"/>
            </a:br>
            <a:r>
              <a:rPr lang="en-US" dirty="0"/>
              <a:t>Cycle-by-cycle, fear and surprise immediately change inhalation and exhalation patterns, and neural activity in regions like the cortex, hippocampus, BLA, and NAc phase-locks to the breath.</a:t>
            </a:r>
          </a:p>
          <a:p>
            <a:r>
              <a:rPr lang="en-US" dirty="0"/>
              <a:t>Over longer time scales, breathing also reflects broader emotional states—like anxiety, calmness, sleep, or panic.</a:t>
            </a:r>
          </a:p>
          <a:p>
            <a:r>
              <a:rPr lang="en-US" dirty="0"/>
              <a:t>So respiration becomes a window into internal state.</a:t>
            </a:r>
            <a:br>
              <a:rPr lang="en-US" dirty="0"/>
            </a:br>
            <a:r>
              <a:rPr lang="en-US" dirty="0"/>
              <a:t>And in social behavior, where emotional valence and familiarity shift moment-to-moment, respiratory patterns can reveal how the brain is interpreting and responding to the social environment.</a:t>
            </a:r>
          </a:p>
          <a:p>
            <a:r>
              <a:rPr lang="en-US" dirty="0"/>
              <a:t>This is the motivation for using respiration as a physiological readout in my valence and </a:t>
            </a:r>
            <a:r>
              <a:rPr lang="en-US" dirty="0" err="1"/>
              <a:t>cagemate</a:t>
            </a:r>
            <a:r>
              <a:rPr lang="en-US" dirty="0"/>
              <a:t> experiments.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 the left, you can see that forebrain regions like the prefrontal cortex, amygdala, and hippocampus don’t just influence behavior — they’re also modulated by the act of breathing itself. Signals from olfaction, the </a:t>
            </a:r>
            <a:r>
              <a:rPr lang="en-US" dirty="0" err="1"/>
              <a:t>vagus</a:t>
            </a:r>
            <a:r>
              <a:rPr lang="en-US" dirty="0"/>
              <a:t> nerve, and brainstem respiratory centers project back up to these higher-order areas. So breathing is constantly feeding information into circuits that regulate affect and decision-making.</a:t>
            </a:r>
          </a:p>
          <a:p>
            <a:r>
              <a:rPr lang="en-US" dirty="0"/>
              <a:t>On the right, the authors show two timescales.</a:t>
            </a:r>
            <a:br>
              <a:rPr lang="en-US" dirty="0"/>
            </a:br>
            <a:r>
              <a:rPr lang="en-US" b="1" dirty="0"/>
              <a:t>Cycle by cycle</a:t>
            </a:r>
            <a:r>
              <a:rPr lang="en-US" dirty="0"/>
              <a:t>, every single breath can entrain neural activity across many regions — including cortex, hippocampus, the BLA, thalamus, and nucleus accumbens. This means that the timing of inhalation and exhalation shapes local field potentials and even spike density in these circuits.</a:t>
            </a:r>
            <a:br>
              <a:rPr lang="en-US" dirty="0"/>
            </a:br>
            <a:r>
              <a:rPr lang="en-US" b="1" dirty="0"/>
              <a:t>Over longer timescales</a:t>
            </a:r>
            <a:r>
              <a:rPr lang="en-US" dirty="0"/>
              <a:t>, breathing patterns can influence emotional states such as anxiety, calmness, or panic, and even affect plasticity through breathing practices.</a:t>
            </a:r>
          </a:p>
          <a:p>
            <a:r>
              <a:rPr lang="en-US" dirty="0"/>
              <a:t>Together, this figure makes the point that breathing isn’t just a downstream readout — it is an active rhythm that coordinates multiple brain networks involved in emotion, cognition, and social behavior.</a:t>
            </a:r>
          </a:p>
          <a:p>
            <a:r>
              <a:rPr lang="en-US" dirty="0"/>
              <a:t>And this is why respiration is such a powerful window into internal state in my social interaction experiments.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508C1-8BFF-4912-942A-5013F55A7F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81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4B7B0-7155-40A3-9017-C9819B1DC3A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29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4B7B0-7155-40A3-9017-C9819B1DC3A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Crea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65013-CCA1-A8C9-82AC-221DB370A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709739"/>
            <a:ext cx="11049000" cy="1719262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5DA54-3649-6780-EACA-63C77D813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716627"/>
            <a:ext cx="5410200" cy="1125536"/>
          </a:xfr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3C3D4-2173-995D-D140-7047447C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1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5B55-DA8B-57ED-2123-16BF417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0F4C-0757-25DA-A8EB-BD4C339E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CB17E4-F6BD-DECA-D4CC-A9B7B927E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52577"/>
            <a:ext cx="11049000" cy="39610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128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8D5DF9-69B1-325F-6CE7-84DE00994386}"/>
              </a:ext>
            </a:extLst>
          </p:cNvPr>
          <p:cNvSpPr/>
          <p:nvPr userDrawn="1"/>
        </p:nvSpPr>
        <p:spPr>
          <a:xfrm>
            <a:off x="0" y="3637280"/>
            <a:ext cx="12192000" cy="3220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47AC3-565D-92F8-AC2B-E261E1EB59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500" y="1588650"/>
            <a:ext cx="11049000" cy="1357746"/>
          </a:xfrm>
        </p:spPr>
        <p:txBody>
          <a:bodyPr anchor="ctr">
            <a:noAutofit/>
          </a:bodyPr>
          <a:lstStyle>
            <a:lvl1pPr algn="l"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D63FE-81D5-C883-4722-113EFFD74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4115720"/>
            <a:ext cx="8229600" cy="858983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BD8340-562A-3A36-D14C-5151C93BF8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5320145"/>
            <a:ext cx="1631373" cy="408710"/>
          </a:xfrm>
          <a:solidFill>
            <a:schemeClr val="accent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5" name="Picture 4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9FF9DE96-8EEC-4773-0CEB-3DB390B3FB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3126" y="322652"/>
            <a:ext cx="3771994" cy="68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7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5B55-DA8B-57ED-2123-16BF417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0F4C-0757-25DA-A8EB-BD4C339E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6ADF54E-7D4D-B4EF-27D1-A6616F88D0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0" y="1714500"/>
            <a:ext cx="11049000" cy="4000500"/>
          </a:xfrm>
          <a:pattFill prst="pct25">
            <a:fgClr>
              <a:schemeClr val="accent3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60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0B7F-BC27-EB48-A7AA-9919C2CAB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89C8F-9D5B-D658-92FA-0ACE6A99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01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63F2B6-A5B4-EF09-17F0-A74C3DA2ADB8}"/>
              </a:ext>
            </a:extLst>
          </p:cNvPr>
          <p:cNvSpPr/>
          <p:nvPr userDrawn="1"/>
        </p:nvSpPr>
        <p:spPr>
          <a:xfrm>
            <a:off x="0" y="6074936"/>
            <a:ext cx="12192000" cy="7438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DB80B5-3EA4-3805-1406-EE10B67D1D12}"/>
              </a:ext>
            </a:extLst>
          </p:cNvPr>
          <p:cNvSpPr/>
          <p:nvPr userDrawn="1"/>
        </p:nvSpPr>
        <p:spPr>
          <a:xfrm>
            <a:off x="0" y="6114197"/>
            <a:ext cx="12192000" cy="7438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184CF-D7A8-120B-1384-94622204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65126"/>
            <a:ext cx="11049000" cy="10815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1F912-F8CD-9785-B77B-AB465731E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752577"/>
            <a:ext cx="11049000" cy="39610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CD7FC-0A59-B98D-CFD2-A58221313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77300" y="6374463"/>
            <a:ext cx="2743200" cy="23682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52B4AE5B-D3CB-A448-9254-653B76E7A03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0B67BE-E730-A26D-A626-AB9D2D74C5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b="22277"/>
          <a:stretch/>
        </p:blipFill>
        <p:spPr>
          <a:xfrm>
            <a:off x="303828" y="6224357"/>
            <a:ext cx="535344" cy="44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650" r:id="rId2"/>
    <p:sldLayoutId id="2147483649" r:id="rId3"/>
    <p:sldLayoutId id="2147483651" r:id="rId4"/>
    <p:sldLayoutId id="2147483764" r:id="rId5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kern="1200" spc="-1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1828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60" userDrawn="1">
          <p15:clr>
            <a:srgbClr val="F26B43"/>
          </p15:clr>
        </p15:guide>
        <p15:guide id="4" pos="1992" userDrawn="1">
          <p15:clr>
            <a:srgbClr val="F26B43"/>
          </p15:clr>
        </p15:guide>
        <p15:guide id="5" pos="2136" userDrawn="1">
          <p15:clr>
            <a:srgbClr val="F26B43"/>
          </p15:clr>
        </p15:guide>
        <p15:guide id="6" pos="3768" userDrawn="1">
          <p15:clr>
            <a:srgbClr val="F26B43"/>
          </p15:clr>
        </p15:guide>
        <p15:guide id="7" pos="3912" userDrawn="1">
          <p15:clr>
            <a:srgbClr val="F26B43"/>
          </p15:clr>
        </p15:guide>
        <p15:guide id="8" pos="5544" userDrawn="1">
          <p15:clr>
            <a:srgbClr val="F26B43"/>
          </p15:clr>
        </p15:guide>
        <p15:guide id="9" pos="5688" userDrawn="1">
          <p15:clr>
            <a:srgbClr val="F26B43"/>
          </p15:clr>
        </p15:guide>
        <p15:guide id="10" pos="7320" userDrawn="1">
          <p15:clr>
            <a:srgbClr val="F26B43"/>
          </p15:clr>
        </p15:guide>
        <p15:guide id="11" orient="horz" pos="3600" userDrawn="1">
          <p15:clr>
            <a:srgbClr val="F26B43"/>
          </p15:clr>
        </p15:guide>
        <p15:guide id="12" orient="horz" pos="1080" userDrawn="1">
          <p15:clr>
            <a:srgbClr val="F26B43"/>
          </p15:clr>
        </p15:guide>
        <p15:guide id="13" orient="horz" pos="216" userDrawn="1">
          <p15:clr>
            <a:srgbClr val="F26B43"/>
          </p15:clr>
        </p15:guide>
        <p15:guide id="14" orient="horz" pos="4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501898-1CB1-9751-22DD-DF1EFF654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1588650"/>
            <a:ext cx="11049000" cy="1357746"/>
          </a:xfrm>
        </p:spPr>
        <p:txBody>
          <a:bodyPr/>
          <a:lstStyle/>
          <a:p>
            <a:r>
              <a:rPr lang="en-US" dirty="0"/>
              <a:t>From valence and rank codes to circuit mechanisms - data update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9842FDC-8A8C-DF45-8F2D-C64EEA776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4115720"/>
            <a:ext cx="8229600" cy="858983"/>
          </a:xfrm>
        </p:spPr>
        <p:txBody>
          <a:bodyPr/>
          <a:lstStyle/>
          <a:p>
            <a:r>
              <a:rPr lang="en-US" dirty="0"/>
              <a:t>Sequioa Smith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738419-F10E-24CB-0C2F-EEC893A7D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5320145"/>
            <a:ext cx="1631373" cy="408710"/>
          </a:xfrm>
        </p:spPr>
        <p:txBody>
          <a:bodyPr/>
          <a:lstStyle/>
          <a:p>
            <a:r>
              <a:rPr lang="en-US" dirty="0"/>
              <a:t>12/5/2025</a:t>
            </a:r>
          </a:p>
        </p:txBody>
      </p:sp>
    </p:spTree>
    <p:extLst>
      <p:ext uri="{BB962C8B-B14F-4D97-AF65-F5344CB8AC3E}">
        <p14:creationId xmlns:p14="http://schemas.microsoft.com/office/powerpoint/2010/main" val="394682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11A7-2BDC-59B1-269F-39F17597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DE4F866-B51A-6057-556A-9F76A6FA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Respiration reflects internal and behavioral states</a:t>
            </a:r>
            <a:br>
              <a:rPr lang="en-US" sz="4000"/>
            </a:br>
            <a:endParaRPr lang="en-US" sz="4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ECB002-60FB-19A3-2551-6F0C9D7A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EF011-481A-F0D3-2169-490D6BF1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995" y="1704592"/>
            <a:ext cx="3727601" cy="15505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3B1490-3383-DF65-A2EC-30E01025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06" y="1635424"/>
            <a:ext cx="3897261" cy="1399777"/>
          </a:xfrm>
          <a:prstGeom prst="rect">
            <a:avLst/>
          </a:prstGeom>
        </p:spPr>
      </p:pic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2FDD2AAE-5623-1684-F8C5-20ADD6A10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157405" y="1049925"/>
            <a:ext cx="4664687" cy="3035809"/>
          </a:xfr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A573B4DB-F958-2A54-9299-7B3B30D9E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2" b="67072"/>
          <a:stretch>
            <a:fillRect/>
          </a:stretch>
        </p:blipFill>
        <p:spPr bwMode="auto">
          <a:xfrm>
            <a:off x="5893883" y="1673801"/>
            <a:ext cx="4846639" cy="166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1DEF4C9-1398-200D-7AD9-F69B1A6C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79" y="4012334"/>
            <a:ext cx="989745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/>
              <a:t>Sniffing reflects social interactions and rank in rats (dominant vs subordinate).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/>
              <a:t>Subordinates suppress sniffing when approached by dominants.</a:t>
            </a:r>
          </a:p>
          <a:p>
            <a:pPr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/>
              <a:t>Persists without olfaction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/>
              <a:t>Gap:</a:t>
            </a:r>
            <a:r>
              <a:rPr lang="en-US" altLang="en-US" sz="2000"/>
              <a:t> Only tested during short encounters (30 min), not long-term stable hierarchies.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6549A77-6E48-30FD-FCD3-5753BFA9C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79" y="4201094"/>
            <a:ext cx="1036154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/>
              <a:t>Machine learning classified behaviors from respiratory patterns.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/>
              <a:t>Respiration closely tracks behavioral states across tasks.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b="1"/>
              <a:t>Gap: </a:t>
            </a:r>
            <a:r>
              <a:rPr lang="en-US" altLang="en-US" sz="2000"/>
              <a:t>Focused on odor-driven and stress contexts, not considering social interactions.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796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9CD8-646D-0424-2D2A-B58EB5FE0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F7EC3-D230-AE5C-5BA3-C32FC50BE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166" y="2592677"/>
            <a:ext cx="10084734" cy="1125536"/>
          </a:xfrm>
        </p:spPr>
        <p:txBody>
          <a:bodyPr/>
          <a:lstStyle/>
          <a:p>
            <a:r>
              <a:rPr lang="en-US" sz="3200" b="1" dirty="0">
                <a:solidFill>
                  <a:schemeClr val="accent2"/>
                </a:solidFill>
              </a:rPr>
              <a:t>Can respiration and behavioral patterns predict social valence and social rank?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714B0-7C35-181D-2FD3-241C45BC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8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5F4BE-9A9B-ADB0-E178-64AD659F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747DC-C68B-0A17-0126-C546309C3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365126"/>
            <a:ext cx="11225864" cy="1081538"/>
          </a:xfrm>
        </p:spPr>
        <p:txBody>
          <a:bodyPr/>
          <a:lstStyle/>
          <a:p>
            <a:r>
              <a:rPr lang="en-US" sz="3200" dirty="0"/>
              <a:t>Subject mice socialize less in response to negative social agents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0680B-2891-B9E8-4F07-D9A0B162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B4DF72-AC1D-5EDE-4863-6D005A650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8031" r="46002" b="30105"/>
          <a:stretch>
            <a:fillRect/>
          </a:stretch>
        </p:blipFill>
        <p:spPr>
          <a:xfrm>
            <a:off x="394636" y="2736770"/>
            <a:ext cx="4470619" cy="101818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AAB2A7-3036-C3DC-D8AD-98EA6430080C}"/>
              </a:ext>
            </a:extLst>
          </p:cNvPr>
          <p:cNvSpPr txBox="1">
            <a:spLocks/>
          </p:cNvSpPr>
          <p:nvPr/>
        </p:nvSpPr>
        <p:spPr>
          <a:xfrm>
            <a:off x="394636" y="317220"/>
            <a:ext cx="11225864" cy="10815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 spc="-1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How does social valence affect behavior and is that dependent on rank?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C3099374-A7E6-1289-3E44-943743BD23A6}"/>
              </a:ext>
            </a:extLst>
          </p:cNvPr>
          <p:cNvSpPr txBox="1">
            <a:spLocks/>
          </p:cNvSpPr>
          <p:nvPr/>
        </p:nvSpPr>
        <p:spPr>
          <a:xfrm>
            <a:off x="1924986" y="2251058"/>
            <a:ext cx="8609664" cy="10815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 spc="-1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Do mice prefer juvenile or retired breeder after resident intruder assay?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84D6E-7F45-395F-604D-7FF5A624CF15}"/>
              </a:ext>
            </a:extLst>
          </p:cNvPr>
          <p:cNvSpPr txBox="1"/>
          <p:nvPr/>
        </p:nvSpPr>
        <p:spPr>
          <a:xfrm>
            <a:off x="-13855" y="5430057"/>
            <a:ext cx="1816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n=4 Dominant</a:t>
            </a:r>
          </a:p>
          <a:p>
            <a:r>
              <a:rPr lang="en-US" dirty="0"/>
              <a:t>n=4 Subordinate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7484B36D-D77D-FB5A-99BD-5B9205E3FA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768" y="768701"/>
            <a:ext cx="8008232" cy="560576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44D9BE3-753D-C553-36FE-F34E5A785589}"/>
              </a:ext>
            </a:extLst>
          </p:cNvPr>
          <p:cNvSpPr txBox="1">
            <a:spLocks/>
          </p:cNvSpPr>
          <p:nvPr/>
        </p:nvSpPr>
        <p:spPr>
          <a:xfrm>
            <a:off x="571500" y="365126"/>
            <a:ext cx="11049000" cy="10815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 spc="-1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Mice increase investigation with a juvenile</a:t>
            </a:r>
            <a:br>
              <a:rPr lang="en-US"/>
            </a:b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7F3700-C1E1-920B-5ACD-5FCC30310279}"/>
              </a:ext>
            </a:extLst>
          </p:cNvPr>
          <p:cNvSpPr txBox="1"/>
          <p:nvPr/>
        </p:nvSpPr>
        <p:spPr>
          <a:xfrm>
            <a:off x="9271930" y="5614723"/>
            <a:ext cx="6094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Juvenile condition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=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0.004</a:t>
            </a: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= 8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Retired Breeder condition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0.05, n = 8</a:t>
            </a:r>
          </a:p>
        </p:txBody>
      </p:sp>
      <p:pic>
        <p:nvPicPr>
          <p:cNvPr id="14" name="Picture 1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4F6AEC3-2E0A-2DAA-E1EB-8DCC1BC7BB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112" y="1580597"/>
            <a:ext cx="2712258" cy="3273050"/>
          </a:xfrm>
          <a:prstGeom prst="rect">
            <a:avLst/>
          </a:prstGeom>
        </p:spPr>
      </p:pic>
      <p:pic>
        <p:nvPicPr>
          <p:cNvPr id="16" name="Picture 1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DC07506-74BA-69EA-465E-76B722F3B3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5" r="24650"/>
          <a:stretch>
            <a:fillRect/>
          </a:stretch>
        </p:blipFill>
        <p:spPr>
          <a:xfrm>
            <a:off x="6229818" y="1292989"/>
            <a:ext cx="4243387" cy="4081482"/>
          </a:xfrm>
          <a:prstGeom prst="rect">
            <a:avLst/>
          </a:prstGeom>
        </p:spPr>
      </p:pic>
      <p:pic>
        <p:nvPicPr>
          <p:cNvPr id="17" name="Picture 16" descr="A computer screen with a black background&#10;&#10;AI-generated content may be incorrect.">
            <a:extLst>
              <a:ext uri="{FF2B5EF4-FFF2-40B4-BE49-F238E27FC236}">
                <a16:creationId xmlns:a16="http://schemas.microsoft.com/office/drawing/2014/main" id="{305D4639-29E0-642F-65B1-90ABA01E6F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0" t="21427" r="42227" b="63929"/>
          <a:stretch>
            <a:fillRect/>
          </a:stretch>
        </p:blipFill>
        <p:spPr>
          <a:xfrm>
            <a:off x="7243762" y="2432918"/>
            <a:ext cx="2789183" cy="36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9" grpId="0"/>
      <p:bldP spid="9" grpId="1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CEDF-145A-5699-B23D-F25963089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FE56AA0-63EA-B3DC-62D2-FF331E82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85135"/>
            <a:ext cx="11049000" cy="1081538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Does respiration frequency signal valence of social context and does this align with rank?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F771B-C7EF-5557-0C1C-DA738D45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7300" y="6374463"/>
            <a:ext cx="2743200" cy="23682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2B4AE5B-D3CB-A448-9254-653B76E7A039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35D614-11A6-3766-AB19-472DA8DB9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8031" r="46002" b="30105"/>
          <a:stretch>
            <a:fillRect/>
          </a:stretch>
        </p:blipFill>
        <p:spPr>
          <a:xfrm>
            <a:off x="242205" y="2982536"/>
            <a:ext cx="5295589" cy="120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72AB1F15-C5CC-51ED-3F45-851EF24F0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42" b="21652"/>
          <a:stretch>
            <a:fillRect/>
          </a:stretch>
        </p:blipFill>
        <p:spPr>
          <a:xfrm>
            <a:off x="5948362" y="1256148"/>
            <a:ext cx="5857876" cy="465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47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226568-F218-37FA-040E-CE94159E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Dominants have more investigation time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28251-55A2-CB29-58E0-F1F5EBD0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6</a:t>
            </a:fld>
            <a:endParaRPr lang="en-US"/>
          </a:p>
        </p:txBody>
      </p:sp>
      <p:pic>
        <p:nvPicPr>
          <p:cNvPr id="11" name="Content Placeholder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5F7F2D2-0F0D-D84F-4BF5-40A8D197D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88" y="2299963"/>
            <a:ext cx="5492935" cy="2258073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4004CE-97C2-BC53-BA9D-ABC8C127D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1353" b="45089"/>
          <a:stretch>
            <a:fillRect/>
          </a:stretch>
        </p:blipFill>
        <p:spPr>
          <a:xfrm>
            <a:off x="6096000" y="1258869"/>
            <a:ext cx="5492936" cy="43402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CD3ACC-6CE2-60EB-269D-0E490098F2A1}"/>
              </a:ext>
            </a:extLst>
          </p:cNvPr>
          <p:cNvSpPr txBox="1"/>
          <p:nvPr/>
        </p:nvSpPr>
        <p:spPr>
          <a:xfrm>
            <a:off x="11344623" y="246380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1B119-7822-098C-F673-B09A7B10C832}"/>
              </a:ext>
            </a:extLst>
          </p:cNvPr>
          <p:cNvSpPr txBox="1"/>
          <p:nvPr/>
        </p:nvSpPr>
        <p:spPr>
          <a:xfrm>
            <a:off x="11466780" y="2833132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n=4</a:t>
            </a:r>
          </a:p>
        </p:txBody>
      </p:sp>
    </p:spTree>
    <p:extLst>
      <p:ext uri="{BB962C8B-B14F-4D97-AF65-F5344CB8AC3E}">
        <p14:creationId xmlns:p14="http://schemas.microsoft.com/office/powerpoint/2010/main" val="30495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B4BB-4C7D-5890-7D2E-11F0A901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8B10D1-5921-D845-8493-088B5DDE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Dominant mice have more variability in respiration rate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BAE1F-0BAB-AB86-18C7-58567790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7</a:t>
            </a:fld>
            <a:endParaRPr lang="en-US"/>
          </a:p>
        </p:txBody>
      </p:sp>
      <p:pic>
        <p:nvPicPr>
          <p:cNvPr id="2" name="Content Placeholder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6390DCA-B28E-EA6A-7850-6AC8F94FB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46" y="2299963"/>
            <a:ext cx="5492935" cy="2258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0DEED2-B121-5717-17CB-11489B987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570" y="1092162"/>
            <a:ext cx="5161100" cy="50921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6B5720-2733-E2D0-51A5-EEFF0173CD90}"/>
              </a:ext>
            </a:extLst>
          </p:cNvPr>
          <p:cNvSpPr txBox="1"/>
          <p:nvPr/>
        </p:nvSpPr>
        <p:spPr>
          <a:xfrm>
            <a:off x="11064513" y="572540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E2DFE-FE67-0CEB-2228-2EEF52A49A2A}"/>
              </a:ext>
            </a:extLst>
          </p:cNvPr>
          <p:cNvSpPr txBox="1"/>
          <p:nvPr/>
        </p:nvSpPr>
        <p:spPr>
          <a:xfrm>
            <a:off x="8877300" y="572540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n=4</a:t>
            </a:r>
          </a:p>
        </p:txBody>
      </p:sp>
    </p:spTree>
    <p:extLst>
      <p:ext uri="{BB962C8B-B14F-4D97-AF65-F5344CB8AC3E}">
        <p14:creationId xmlns:p14="http://schemas.microsoft.com/office/powerpoint/2010/main" val="374504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DB20-F966-80CA-A7A2-DC7CB270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increases respiration rate replot with new color gray/yellow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5BF18-6053-9522-9B68-8065A4CBD7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363"/>
          <a:stretch>
            <a:fillRect/>
          </a:stretch>
        </p:blipFill>
        <p:spPr>
          <a:xfrm>
            <a:off x="571500" y="1334279"/>
            <a:ext cx="4866184" cy="45221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46CADE-9BAA-87B4-F4FD-095786A7E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16" y="1505085"/>
            <a:ext cx="5836261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02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3B00-023C-4329-2DA9-81357529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rates across trial types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43082-39CF-3C73-AC17-2B4D277F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9FF46-D18C-E120-1CF0-48FB2A557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EA23DA-9E29-D782-B238-6A763D89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332103"/>
            <a:ext cx="5334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2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BFE8-D473-430C-F7C6-C4F9E2467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D72D-5C1F-8E2B-A3B9-58AF301FE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model trained on valence trials doesn’t generalize to rank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295B06-3D92-51E2-F8F5-02714A01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10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96D8D4F-1402-3A27-A209-9CAA9DE62DCA}"/>
              </a:ext>
            </a:extLst>
          </p:cNvPr>
          <p:cNvGrpSpPr/>
          <p:nvPr/>
        </p:nvGrpSpPr>
        <p:grpSpPr>
          <a:xfrm>
            <a:off x="5791199" y="1741714"/>
            <a:ext cx="5259261" cy="3828692"/>
            <a:chOff x="5791199" y="1741714"/>
            <a:chExt cx="5259261" cy="38286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9368F2B-0B96-0E0E-D207-B6D0991B2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997"/>
            <a:stretch>
              <a:fillRect/>
            </a:stretch>
          </p:blipFill>
          <p:spPr>
            <a:xfrm>
              <a:off x="5791199" y="1741714"/>
              <a:ext cx="5259261" cy="382869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37158F-E81C-FE08-268A-C33624C07AD5}"/>
                </a:ext>
              </a:extLst>
            </p:cNvPr>
            <p:cNvSpPr/>
            <p:nvPr/>
          </p:nvSpPr>
          <p:spPr>
            <a:xfrm>
              <a:off x="9960429" y="2209800"/>
              <a:ext cx="718457" cy="3156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236DCF-BDC4-64B7-19CD-1C762B107A11}"/>
                </a:ext>
              </a:extLst>
            </p:cNvPr>
            <p:cNvSpPr/>
            <p:nvPr/>
          </p:nvSpPr>
          <p:spPr>
            <a:xfrm>
              <a:off x="8377286" y="3831772"/>
              <a:ext cx="718457" cy="3156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56E1F952-16F1-66B4-5B79-319F11713CE8}"/>
              </a:ext>
            </a:extLst>
          </p:cNvPr>
          <p:cNvSpPr txBox="1">
            <a:spLocks/>
          </p:cNvSpPr>
          <p:nvPr/>
        </p:nvSpPr>
        <p:spPr>
          <a:xfrm>
            <a:off x="571500" y="2209800"/>
            <a:ext cx="4642757" cy="10815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 spc="-1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 train a separate model to classify rank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E2200-6D78-1C37-9D47-5196898A6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657" y="1287594"/>
            <a:ext cx="2738774" cy="44973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3F95CC-8C6B-0A07-DE95-A65DFBE4B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431" y="1341450"/>
            <a:ext cx="3012609" cy="4309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4686E6-B9A5-13BF-2B10-EDE727633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040" y="1346102"/>
            <a:ext cx="2397383" cy="417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02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B03AB-691F-4FE9-5CE7-4CEA6D48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D77CF-08FC-14E2-5128-0179AD7E1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model trained on valence trials doesn’t generalize to rank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562FE-A6A2-18C2-4492-978075FF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11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E7FB12-6EDF-BF25-1383-3454DBB3031D}"/>
              </a:ext>
            </a:extLst>
          </p:cNvPr>
          <p:cNvGrpSpPr/>
          <p:nvPr/>
        </p:nvGrpSpPr>
        <p:grpSpPr>
          <a:xfrm>
            <a:off x="5791199" y="1741714"/>
            <a:ext cx="5259261" cy="3828692"/>
            <a:chOff x="5791199" y="1741714"/>
            <a:chExt cx="5259261" cy="38286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77899B-D4E1-BE48-D734-9919670FC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997"/>
            <a:stretch>
              <a:fillRect/>
            </a:stretch>
          </p:blipFill>
          <p:spPr>
            <a:xfrm>
              <a:off x="5791199" y="1741714"/>
              <a:ext cx="5259261" cy="382869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047CD1-9738-1DC1-842E-BDC833C20701}"/>
                </a:ext>
              </a:extLst>
            </p:cNvPr>
            <p:cNvSpPr/>
            <p:nvPr/>
          </p:nvSpPr>
          <p:spPr>
            <a:xfrm>
              <a:off x="9960429" y="2209800"/>
              <a:ext cx="718457" cy="3156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3469C6-FF07-68DF-D52F-2B73F249EAF1}"/>
                </a:ext>
              </a:extLst>
            </p:cNvPr>
            <p:cNvSpPr/>
            <p:nvPr/>
          </p:nvSpPr>
          <p:spPr>
            <a:xfrm>
              <a:off x="8377286" y="3831772"/>
              <a:ext cx="718457" cy="3156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2176AE4-2A5B-EFC5-554C-EE1A708AF048}"/>
              </a:ext>
            </a:extLst>
          </p:cNvPr>
          <p:cNvSpPr/>
          <p:nvPr/>
        </p:nvSpPr>
        <p:spPr>
          <a:xfrm>
            <a:off x="9741088" y="2086977"/>
            <a:ext cx="1556657" cy="34834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22C897D-ECE1-DF42-1F44-9AC844606A94}"/>
              </a:ext>
            </a:extLst>
          </p:cNvPr>
          <p:cNvSpPr txBox="1">
            <a:spLocks/>
          </p:cNvSpPr>
          <p:nvPr/>
        </p:nvSpPr>
        <p:spPr>
          <a:xfrm>
            <a:off x="242637" y="1785830"/>
            <a:ext cx="5091363" cy="10815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 spc="-1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 dirty="0"/>
              <a:t>Aggregated to 38 session-level entries. Conditions: {'BL': 8, 'CM': 8, 'RI1': 8, 'BLRI': 7, 'RI2': 7} Ranks: {'Dominant': 19, 'Subordinate': 19} 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764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B899-930E-BF53-65A3-155F808B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4D8B3A-9EA6-F334-88C9-1861D2C3F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7608361-024F-0D1A-AD17-CE29B6E1C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3" y="1054761"/>
            <a:ext cx="9944120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7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748A-55DB-F57B-CD20-12954650A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84324E-6CDF-A0C4-AAA5-C991962E5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13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F42C177-7C32-3AD7-B5B5-78917B912C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6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8E26-02DE-63F9-6A77-C02D9E69B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4D9E3-C998-0920-DE1B-F161E2E05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166" y="2592677"/>
            <a:ext cx="10084734" cy="1125536"/>
          </a:xfrm>
        </p:spPr>
        <p:txBody>
          <a:bodyPr/>
          <a:lstStyle/>
          <a:p>
            <a:r>
              <a:rPr lang="en-US" sz="3200" b="1" dirty="0">
                <a:solidFill>
                  <a:schemeClr val="accent2"/>
                </a:solidFill>
              </a:rPr>
              <a:t>What circuits drive these behavioral and physiological signatures?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8C86E-CFCE-B2E7-A8E8-5C04289E9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3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817C-09A9-0AE8-4A99-8AAE545F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BLA→mPFC</a:t>
            </a:r>
            <a:r>
              <a:rPr lang="en-US" dirty="0"/>
              <a:t> circuit regulates social &amp; anxiety behavior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516EE-FD38-1B34-8144-F07C1F69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329" y="2054406"/>
            <a:ext cx="7999516" cy="274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6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8C9E-13BB-FD64-1E2B-A722611D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Our emotional and cognitive states affect breathing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24F0F9-3ECB-800B-A73D-95987F25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16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46A0A-B989-E1AA-8149-05F9AA263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6129D6-F211-A2F2-60B9-BC438E88C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3" y="1552044"/>
            <a:ext cx="11419114" cy="441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863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BC4C-61CC-1B9B-9142-322816FD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158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 err="1"/>
              <a:t>BLA→mPFC</a:t>
            </a:r>
            <a:r>
              <a:rPr lang="en-US" sz="3600" dirty="0"/>
              <a:t> activation increases avoidance and freezing behaviors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66C6F-AA6F-210E-6D02-51D6DE7C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564" y="915939"/>
            <a:ext cx="3884236" cy="495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773649-7E66-BC9B-182B-FFA771045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07" y="2394320"/>
            <a:ext cx="5196779" cy="20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83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1806-2808-87E6-3454-F31F0D02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Does activation of </a:t>
            </a:r>
            <a:r>
              <a:rPr lang="en-US" sz="2800" dirty="0" err="1"/>
              <a:t>BLA→mPFC</a:t>
            </a:r>
            <a:r>
              <a:rPr lang="en-US" sz="2800" dirty="0"/>
              <a:t> terminals alter respiration dynamics during juvenile affiliative interactions in the resident–intruder assay?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6196-82B5-5F29-95BC-8506327F2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1" dirty="0"/>
              <a:t>Hypothesis: </a:t>
            </a:r>
            <a:r>
              <a:rPr lang="en-US" dirty="0"/>
              <a:t>Activation </a:t>
            </a:r>
            <a:r>
              <a:rPr lang="en-US" dirty="0" err="1"/>
              <a:t>BLA→mPFC</a:t>
            </a:r>
            <a:r>
              <a:rPr lang="en-US" dirty="0"/>
              <a:t> input during juvenile intruder interactions will: </a:t>
            </a:r>
          </a:p>
          <a:p>
            <a:r>
              <a:rPr lang="en-US" dirty="0"/>
              <a:t>1. Decrease the respiration rate </a:t>
            </a:r>
          </a:p>
          <a:p>
            <a:r>
              <a:rPr lang="en-US" dirty="0"/>
              <a:t>2. Decrease affiliative investigation (social interaction time)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63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2F10D-B00C-3F35-D722-31FECCD7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D68B8-9EF8-AE9E-D83F-9308865F6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19</a:t>
            </a:fld>
            <a:endParaRPr lang="en-US"/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1A9F811-2664-A9BD-74D1-E9751FC16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486" y="2584221"/>
            <a:ext cx="5600711" cy="230581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F177ED-E1DD-5BAB-506B-A53B78263D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70"/>
          <a:stretch>
            <a:fillRect/>
          </a:stretch>
        </p:blipFill>
        <p:spPr>
          <a:xfrm>
            <a:off x="8313564" y="552009"/>
            <a:ext cx="2147821" cy="20004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4CEEBF-7B9B-9A1B-E753-4F2D6B473FC5}"/>
              </a:ext>
            </a:extLst>
          </p:cNvPr>
          <p:cNvSpPr/>
          <p:nvPr/>
        </p:nvSpPr>
        <p:spPr>
          <a:xfrm>
            <a:off x="2460171" y="2340429"/>
            <a:ext cx="337458" cy="163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collage of images of a cat's mouth&#10;&#10;AI-generated content may be incorrect.">
            <a:extLst>
              <a:ext uri="{FF2B5EF4-FFF2-40B4-BE49-F238E27FC236}">
                <a16:creationId xmlns:a16="http://schemas.microsoft.com/office/drawing/2014/main" id="{B09CA27E-C337-823E-80BD-3EF0F8B89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190236"/>
            <a:ext cx="1992279" cy="29150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5FCD42-1961-B185-5073-1B3AD17ADB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670"/>
          <a:stretch>
            <a:fillRect/>
          </a:stretch>
        </p:blipFill>
        <p:spPr>
          <a:xfrm>
            <a:off x="2753166" y="2340429"/>
            <a:ext cx="2147821" cy="2000434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70AC0C6B-8EFB-D042-5FF3-CFE4FD80637E}"/>
              </a:ext>
            </a:extLst>
          </p:cNvPr>
          <p:cNvSpPr/>
          <p:nvPr/>
        </p:nvSpPr>
        <p:spPr>
          <a:xfrm>
            <a:off x="5090374" y="3241034"/>
            <a:ext cx="1248112" cy="40673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532A6A-39D9-71B7-4D67-C3ABE9D15F35}"/>
              </a:ext>
            </a:extLst>
          </p:cNvPr>
          <p:cNvSpPr txBox="1"/>
          <p:nvPr/>
        </p:nvSpPr>
        <p:spPr>
          <a:xfrm>
            <a:off x="5045912" y="2971314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~3 weeks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7FA3B1-24D4-E0DC-8299-09FD914EC9DC}"/>
              </a:ext>
            </a:extLst>
          </p:cNvPr>
          <p:cNvSpPr txBox="1"/>
          <p:nvPr/>
        </p:nvSpPr>
        <p:spPr>
          <a:xfrm>
            <a:off x="6338486" y="259564"/>
            <a:ext cx="609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Deliver 5-ms pulses 5 </a:t>
            </a:r>
            <a:r>
              <a:rPr lang="en-US" dirty="0" err="1"/>
              <a:t>mW</a:t>
            </a:r>
            <a:r>
              <a:rPr lang="en-US" dirty="0"/>
              <a:t> at a frequency of 20 Hz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408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66482D-4F66-FADC-A530-F8EDBBDE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F7B310-B345-841B-A07D-9DCD8FADF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14508"/>
            <a:ext cx="11049000" cy="1081538"/>
          </a:xfrm>
        </p:spPr>
        <p:txBody>
          <a:bodyPr/>
          <a:lstStyle/>
          <a:p>
            <a:r>
              <a:rPr lang="en-US" dirty="0"/>
              <a:t>MOE Ablation</a:t>
            </a:r>
          </a:p>
        </p:txBody>
      </p:sp>
      <p:pic>
        <p:nvPicPr>
          <p:cNvPr id="3074" name="Picture 2" descr="A &#10;B &#10;Before 1x Methimazole &#10;48h after 1x Methimazole &#10;OSNm- &#10;OSNi- &#10;GBC &#10;HBC- &#10;6d after 1x Methimazole &#10;2w after 1x Methimazole &#10;4w after 1x Methimazole &#10;3w after 3x Methimazole &#10;Secretory respiratory &#10;Ciliated respiratory &#10;metaplasia &#10;metaplasia ">
            <a:extLst>
              <a:ext uri="{FF2B5EF4-FFF2-40B4-BE49-F238E27FC236}">
                <a16:creationId xmlns:a16="http://schemas.microsoft.com/office/drawing/2014/main" id="{F18A902A-BE2D-CD75-39E0-8212F4A07B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43" t="2500" r="2554" b="65071"/>
          <a:stretch/>
        </p:blipFill>
        <p:spPr bwMode="auto">
          <a:xfrm>
            <a:off x="6248402" y="3309989"/>
            <a:ext cx="5717059" cy="248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800E84-94E2-9D6A-7791-DED629B3598D}"/>
              </a:ext>
            </a:extLst>
          </p:cNvPr>
          <p:cNvSpPr txBox="1"/>
          <p:nvPr/>
        </p:nvSpPr>
        <p:spPr>
          <a:xfrm>
            <a:off x="826333" y="2739242"/>
            <a:ext cx="53721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 olfactory epithelium critical for smell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Methimazole selectively ablates the olfactory sensory neurons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076" name="Picture 4" descr="Mouse Olfactory Epithelium | BioRender Science Templates">
            <a:extLst>
              <a:ext uri="{FF2B5EF4-FFF2-40B4-BE49-F238E27FC236}">
                <a16:creationId xmlns:a16="http://schemas.microsoft.com/office/drawing/2014/main" id="{EEC9A999-BC10-AFE2-FF58-B17639995D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75"/>
          <a:stretch/>
        </p:blipFill>
        <p:spPr bwMode="auto">
          <a:xfrm>
            <a:off x="6617379" y="274703"/>
            <a:ext cx="4748288" cy="284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411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B8992-A45C-1EB5-FA3D-AE25FB51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86FE6-EF32-EA74-9AC9-634CDC702956}"/>
              </a:ext>
            </a:extLst>
          </p:cNvPr>
          <p:cNvSpPr txBox="1"/>
          <p:nvPr/>
        </p:nvSpPr>
        <p:spPr>
          <a:xfrm>
            <a:off x="132736" y="221286"/>
            <a:ext cx="2418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/>
              <a:t>Sociability Phase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519F5F5-D33F-09D6-EE80-D187B31CF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155" y="99724"/>
            <a:ext cx="7446321" cy="6004194"/>
          </a:xfrm>
          <a:prstGeom prst="rect">
            <a:avLst/>
          </a:prstGeom>
        </p:spPr>
      </p:pic>
      <p:pic>
        <p:nvPicPr>
          <p:cNvPr id="8" name="Picture 7" descr="A mouse in a square&#10;&#10;Description automatically generated">
            <a:extLst>
              <a:ext uri="{FF2B5EF4-FFF2-40B4-BE49-F238E27FC236}">
                <a16:creationId xmlns:a16="http://schemas.microsoft.com/office/drawing/2014/main" id="{F060CE89-C507-BEF3-49CD-B33EDE2779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7" r="31577"/>
          <a:stretch/>
        </p:blipFill>
        <p:spPr>
          <a:xfrm>
            <a:off x="21848" y="2668924"/>
            <a:ext cx="2640510" cy="127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00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B8992-A45C-1EB5-FA3D-AE25FB51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22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CFF7A8E-303B-E689-CF92-416483A1A7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04"/>
          <a:stretch/>
        </p:blipFill>
        <p:spPr bwMode="auto">
          <a:xfrm>
            <a:off x="2840902" y="0"/>
            <a:ext cx="3530401" cy="611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723846-D034-A1A3-47A5-DED068AE6BB0}"/>
              </a:ext>
            </a:extLst>
          </p:cNvPr>
          <p:cNvSpPr txBox="1"/>
          <p:nvPr/>
        </p:nvSpPr>
        <p:spPr>
          <a:xfrm>
            <a:off x="132736" y="221286"/>
            <a:ext cx="2418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/>
              <a:t>Recognition Phase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D148818-A6F6-CB6F-5122-2E12F30BE7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34"/>
          <a:stretch/>
        </p:blipFill>
        <p:spPr bwMode="auto">
          <a:xfrm>
            <a:off x="6371303" y="1"/>
            <a:ext cx="3943075" cy="611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mouse in a cage&#10;&#10;Description automatically generated">
            <a:extLst>
              <a:ext uri="{FF2B5EF4-FFF2-40B4-BE49-F238E27FC236}">
                <a16:creationId xmlns:a16="http://schemas.microsoft.com/office/drawing/2014/main" id="{1D868C11-2D2B-A06B-45D2-D6C3793547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5" y="2668874"/>
            <a:ext cx="2418735" cy="126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14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3C48-6A0E-5CE1-4763-07F88DF2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BA1349-EBE0-6809-C0EE-0F568249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44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261B-07BD-A465-2940-A99BBF24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27B666-AF54-37D9-217B-45299C59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AE5B-D3CB-A448-9254-653B76E7A039}" type="slidenum">
              <a:rPr lang="en-US" smtClean="0"/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2DF01-C349-0757-01B9-B91C5A44B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5749"/>
      </p:ext>
    </p:extLst>
  </p:cSld>
  <p:clrMapOvr>
    <a:masterClrMapping/>
  </p:clrMapOvr>
</p:sld>
</file>

<file path=ppt/theme/theme1.xml><?xml version="1.0" encoding="utf-8"?>
<a:theme xmlns:a="http://schemas.openxmlformats.org/drawingml/2006/main" name="Padilla Coreano Lab">
  <a:themeElements>
    <a:clrScheme name="Padilla Coreano Lab">
      <a:dk1>
        <a:srgbClr val="000000"/>
      </a:dk1>
      <a:lt1>
        <a:srgbClr val="FFFFFF"/>
      </a:lt1>
      <a:dk2>
        <a:srgbClr val="001423"/>
      </a:dk2>
      <a:lt2>
        <a:srgbClr val="E8E8E8"/>
      </a:lt2>
      <a:accent1>
        <a:srgbClr val="001424"/>
      </a:accent1>
      <a:accent2>
        <a:srgbClr val="15616F"/>
      </a:accent2>
      <a:accent3>
        <a:srgbClr val="FFAF00"/>
      </a:accent3>
      <a:accent4>
        <a:srgbClr val="FFF7EC"/>
      </a:accent4>
      <a:accent5>
        <a:srgbClr val="792810"/>
      </a:accent5>
      <a:accent6>
        <a:srgbClr val="93C3D2"/>
      </a:accent6>
      <a:hlink>
        <a:srgbClr val="14616E"/>
      </a:hlink>
      <a:folHlink>
        <a:srgbClr val="792811"/>
      </a:folHlink>
    </a:clrScheme>
    <a:fontScheme name="Office">
      <a:majorFont>
        <a:latin typeface="Tenorite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enorite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5554</TotalTime>
  <Words>955</Words>
  <Application>Microsoft Office PowerPoint</Application>
  <PresentationFormat>Widescreen</PresentationFormat>
  <Paragraphs>110</Paragraphs>
  <Slides>24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Tenorite</vt:lpstr>
      <vt:lpstr>Tenorite Bold</vt:lpstr>
      <vt:lpstr>Padilla Coreano Lab</vt:lpstr>
      <vt:lpstr>From valence and rank codes to circuit mechanisms - data update </vt:lpstr>
      <vt:lpstr>Respiration reflects internal and behavioral states </vt:lpstr>
      <vt:lpstr>PowerPoint Presentation</vt:lpstr>
      <vt:lpstr>Subject mice socialize less in response to negative social agents</vt:lpstr>
      <vt:lpstr>Does respiration frequency signal valence of social context and does this align with rank?</vt:lpstr>
      <vt:lpstr>Dominants have more investigation time </vt:lpstr>
      <vt:lpstr>Dominant mice have more variability in respiration rate </vt:lpstr>
      <vt:lpstr>Isolation increases respiration rate replot with new color gray/yellow</vt:lpstr>
      <vt:lpstr>Session rates across trial types </vt:lpstr>
      <vt:lpstr>A model trained on valence trials doesn’t generalize to rank</vt:lpstr>
      <vt:lpstr>A model trained on valence trials doesn’t generalize to rank</vt:lpstr>
      <vt:lpstr>PowerPoint Presentation</vt:lpstr>
      <vt:lpstr>PowerPoint Presentation</vt:lpstr>
      <vt:lpstr>PowerPoint Presentation</vt:lpstr>
      <vt:lpstr>BLA→mPFC circuit regulates social &amp; anxiety behavior </vt:lpstr>
      <vt:lpstr>Our emotional and cognitive states affect breathing</vt:lpstr>
      <vt:lpstr>BLA→mPFC activation increases avoidance and freezing behaviors </vt:lpstr>
      <vt:lpstr>Does activation of BLA→mPFC terminals alter respiration dynamics during juvenile affiliative interactions in the resident–intruder assay? </vt:lpstr>
      <vt:lpstr>Experimental Design</vt:lpstr>
      <vt:lpstr>MOE Ablation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Sequioa</dc:creator>
  <cp:lastModifiedBy>Smith, Sequioa</cp:lastModifiedBy>
  <cp:revision>2</cp:revision>
  <dcterms:created xsi:type="dcterms:W3CDTF">2025-12-02T16:44:04Z</dcterms:created>
  <dcterms:modified xsi:type="dcterms:W3CDTF">2026-01-26T12:08:32Z</dcterms:modified>
</cp:coreProperties>
</file>